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aa69c449edc4540" /><Relationship Type="http://schemas.openxmlformats.org/officeDocument/2006/relationships/extended-properties" Target="/docProps/app.xml" Id="Rf3058d05dbf6446f" /><Relationship Type="http://schemas.openxmlformats.org/officeDocument/2006/relationships/officeDocument" Target="/ppt/presentation.xml" Id="R984471f5eadf4147" /></Relationships>
</file>

<file path=ppt/presentation.xml><?xml version="1.0" encoding="utf-8"?>
<p:presentation xmlns:p="http://schemas.openxmlformats.org/presentationml/2006/main">
  <p:sldMasterIdLst>
    <p:sldMasterId xmlns:r="http://schemas.openxmlformats.org/officeDocument/2006/relationships" id="2147483648" r:id="R41228f5de5ef4d47"/>
  </p:sldMasterIdLst>
  <p:notesMasterIdLst>
    <p:notesMasterId xmlns:r="http://schemas.openxmlformats.org/officeDocument/2006/relationships" r:id="R7fd312b982f84339"/>
  </p:notesMasterIdLst>
  <p:sldIdLst>
    <p:sldId xmlns:r="http://schemas.openxmlformats.org/officeDocument/2006/relationships" id="256" r:id="R0b39119514984ea2"/>
    <p:sldId xmlns:r="http://schemas.openxmlformats.org/officeDocument/2006/relationships" id="257" r:id="R424b8a2459ea4d71"/>
    <p:sldId xmlns:r="http://schemas.openxmlformats.org/officeDocument/2006/relationships" id="258" r:id="R473ab78db1b346dc"/>
    <p:sldId xmlns:r="http://schemas.openxmlformats.org/officeDocument/2006/relationships" id="259" r:id="R30a7744d0f7c45e4"/>
    <p:sldId xmlns:r="http://schemas.openxmlformats.org/officeDocument/2006/relationships" id="260" r:id="R2bb9773a87bd4e0a"/>
    <p:sldId xmlns:r="http://schemas.openxmlformats.org/officeDocument/2006/relationships" id="261" r:id="R9108a577bf084b40"/>
    <p:sldId xmlns:r="http://schemas.openxmlformats.org/officeDocument/2006/relationships" id="262" r:id="Redff0276ff1345e9"/>
    <p:sldId xmlns:r="http://schemas.openxmlformats.org/officeDocument/2006/relationships" id="263" r:id="R7aa6d206a5304537"/>
    <p:sldId xmlns:r="http://schemas.openxmlformats.org/officeDocument/2006/relationships" id="264" r:id="Rf7fb54f291364967"/>
    <p:sldId xmlns:r="http://schemas.openxmlformats.org/officeDocument/2006/relationships" id="265" r:id="R6e60025830f64194"/>
    <p:sldId xmlns:r="http://schemas.openxmlformats.org/officeDocument/2006/relationships" id="266" r:id="R5c0aa9bf7a8345e3"/>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41228f5de5ef4d47" /><Relationship Type="http://schemas.openxmlformats.org/officeDocument/2006/relationships/theme" Target="/ppt/theme/theme1.xml" Id="Rc3044fc01f144baf" /><Relationship Type="http://schemas.openxmlformats.org/officeDocument/2006/relationships/notesMaster" Target="/ppt/notesMasters/notesMaster1.xml" Id="R7fd312b982f84339" /><Relationship Type="http://schemas.openxmlformats.org/officeDocument/2006/relationships/presProps" Target="/ppt/presProps.xml" Id="Rf8ed587091764a22" /><Relationship Type="http://schemas.openxmlformats.org/officeDocument/2006/relationships/viewProps" Target="/ppt/viewProps.xml" Id="Ra7e6604a20424938" /><Relationship Type="http://schemas.openxmlformats.org/officeDocument/2006/relationships/tableStyles" Target="/ppt/tableStyles.xml" Id="R2e8d8514623b4ddf" /><Relationship Type="http://schemas.openxmlformats.org/officeDocument/2006/relationships/slide" Target="/ppt/slides/slide1.xml" Id="R0b39119514984ea2" /><Relationship Type="http://schemas.openxmlformats.org/officeDocument/2006/relationships/slide" Target="/ppt/slides/slide2.xml" Id="R424b8a2459ea4d71" /><Relationship Type="http://schemas.openxmlformats.org/officeDocument/2006/relationships/slide" Target="/ppt/slides/slide3.xml" Id="R473ab78db1b346dc" /><Relationship Type="http://schemas.openxmlformats.org/officeDocument/2006/relationships/slide" Target="/ppt/slides/slide4.xml" Id="R30a7744d0f7c45e4" /><Relationship Type="http://schemas.openxmlformats.org/officeDocument/2006/relationships/slide" Target="/ppt/slides/slide5.xml" Id="R2bb9773a87bd4e0a" /><Relationship Type="http://schemas.openxmlformats.org/officeDocument/2006/relationships/slide" Target="/ppt/slides/slide6.xml" Id="R9108a577bf084b40" /><Relationship Type="http://schemas.openxmlformats.org/officeDocument/2006/relationships/slide" Target="/ppt/slides/slide7.xml" Id="Redff0276ff1345e9" /><Relationship Type="http://schemas.openxmlformats.org/officeDocument/2006/relationships/slide" Target="/ppt/slides/slide8.xml" Id="R7aa6d206a5304537" /><Relationship Type="http://schemas.openxmlformats.org/officeDocument/2006/relationships/slide" Target="/ppt/slides/slide9.xml" Id="Rf7fb54f291364967" /><Relationship Type="http://schemas.openxmlformats.org/officeDocument/2006/relationships/slide" Target="/ppt/slides/slide10.xml" Id="R6e60025830f64194" /><Relationship Type="http://schemas.openxmlformats.org/officeDocument/2006/relationships/slide" Target="/ppt/slides/slide11.xml" Id="R5c0aa9bf7a8345e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361418dfd4f4463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fe6457fcae54831" /><Relationship Type="http://schemas.openxmlformats.org/officeDocument/2006/relationships/notesMaster" Target="/ppt/notesMasters/notesMaster1.xml" Id="Re328144db817457a" /></Relationships>
</file>

<file path=ppt/notesSlides/_rels/notesSlide2.xml.rels>&#65279;<?xml version="1.0" encoding="utf-8"?><Relationships xmlns="http://schemas.openxmlformats.org/package/2006/relationships"><Relationship Type="http://schemas.openxmlformats.org/officeDocument/2006/relationships/slide" Target="/ppt/slides/slide2.xml" Id="Rf81bb3ed44654f36" /><Relationship Type="http://schemas.openxmlformats.org/officeDocument/2006/relationships/notesMaster" Target="/ppt/notesMasters/notesMaster1.xml" Id="Rffcea777ad614bcd" /></Relationships>
</file>

<file path=ppt/notesSlides/_rels/notesSlide3.xml.rels>&#65279;<?xml version="1.0" encoding="utf-8"?><Relationships xmlns="http://schemas.openxmlformats.org/package/2006/relationships"><Relationship Type="http://schemas.openxmlformats.org/officeDocument/2006/relationships/slide" Target="/ppt/slides/slide3.xml" Id="R5fe5a13c45424d63" /><Relationship Type="http://schemas.openxmlformats.org/officeDocument/2006/relationships/notesMaster" Target="/ppt/notesMasters/notesMaster1.xml" Id="Rf2a72f4b3221436c" /></Relationships>
</file>

<file path=ppt/notesSlides/_rels/notesSlide4.xml.rels>&#65279;<?xml version="1.0" encoding="utf-8"?><Relationships xmlns="http://schemas.openxmlformats.org/package/2006/relationships"><Relationship Type="http://schemas.openxmlformats.org/officeDocument/2006/relationships/slide" Target="/ppt/slides/slide4.xml" Id="Ra462ec10ec444eaf" /><Relationship Type="http://schemas.openxmlformats.org/officeDocument/2006/relationships/notesMaster" Target="/ppt/notesMasters/notesMaster1.xml" Id="R05a53ea2f6fd47dd" /></Relationships>
</file>

<file path=ppt/notesSlides/_rels/notesSlide5.xml.rels>&#65279;<?xml version="1.0" encoding="utf-8"?><Relationships xmlns="http://schemas.openxmlformats.org/package/2006/relationships"><Relationship Type="http://schemas.openxmlformats.org/officeDocument/2006/relationships/slide" Target="/ppt/slides/slide5.xml" Id="R1e5502a7801b4aae" /><Relationship Type="http://schemas.openxmlformats.org/officeDocument/2006/relationships/notesMaster" Target="/ppt/notesMasters/notesMaster1.xml" Id="Rc381b5054b27472e" /></Relationships>
</file>

<file path=ppt/notesSlides/_rels/notesSlide6.xml.rels>&#65279;<?xml version="1.0" encoding="utf-8"?><Relationships xmlns="http://schemas.openxmlformats.org/package/2006/relationships"><Relationship Type="http://schemas.openxmlformats.org/officeDocument/2006/relationships/slide" Target="/ppt/slides/slide6.xml" Id="R120608b04a5b4acf" /><Relationship Type="http://schemas.openxmlformats.org/officeDocument/2006/relationships/notesMaster" Target="/ppt/notesMasters/notesMaster1.xml" Id="R31f962c10c1a4658" /></Relationships>
</file>

<file path=ppt/notesSlides/_rels/notesSlide7.xml.rels>&#65279;<?xml version="1.0" encoding="utf-8"?><Relationships xmlns="http://schemas.openxmlformats.org/package/2006/relationships"><Relationship Type="http://schemas.openxmlformats.org/officeDocument/2006/relationships/slide" Target="/ppt/slides/slide7.xml" Id="Rf0455345863140a5" /><Relationship Type="http://schemas.openxmlformats.org/officeDocument/2006/relationships/notesMaster" Target="/ppt/notesMasters/notesMaster1.xml" Id="R81d9eff5d5a94a8d" /></Relationships>
</file>

<file path=ppt/notesSlides/_rels/notesSlide8.xml.rels>&#65279;<?xml version="1.0" encoding="utf-8"?><Relationships xmlns="http://schemas.openxmlformats.org/package/2006/relationships"><Relationship Type="http://schemas.openxmlformats.org/officeDocument/2006/relationships/slide" Target="/ppt/slides/slide8.xml" Id="R1beb3dc03f1e402c" /><Relationship Type="http://schemas.openxmlformats.org/officeDocument/2006/relationships/notesMaster" Target="/ppt/notesMasters/notesMaster1.xml" Id="Re74e1f53c36c44ed" /></Relationships>
</file>

<file path=ppt/notesSlides/_rels/notesSlide9.xml.rels>&#65279;<?xml version="1.0" encoding="utf-8"?><Relationships xmlns="http://schemas.openxmlformats.org/package/2006/relationships"><Relationship Type="http://schemas.openxmlformats.org/officeDocument/2006/relationships/slide" Target="/ppt/slides/slide9.xml" Id="Rcaa97459048f4461" /><Relationship Type="http://schemas.openxmlformats.org/officeDocument/2006/relationships/notesMaster" Target="/ppt/notesMasters/notesMaster1.xml" Id="R8377b866f609441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15915a2cd2149a4" /><Relationship Type="http://schemas.openxmlformats.org/officeDocument/2006/relationships/notesMaster" Target="/ppt/notesMasters/notesMaster1.xml" Id="Rd86e70746597471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3829cd88ec64d51" /><Relationship Type="http://schemas.openxmlformats.org/officeDocument/2006/relationships/notesMaster" Target="/ppt/notesMasters/notesMaster1.xml" Id="Rb1339302b0a14f6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35 seconds.</a:t>
            </a:r>
          </a:p>
          <a:p xmlns:a="http://schemas.openxmlformats.org/drawingml/2006/main">
            <a:r>
              <a:t/>
            </a:r>
          </a:p>
          <a:p xmlns:a="http://schemas.openxmlformats.org/drawingml/2006/main">
            <a:r>
              <a:t>Open by naming the project and the one-sentence idea: inbound email becomes stored, reviewable security evidence. Mention that the deck follows the paper, so it will stay close to implemented architecture and checked evidence. Leave the author, coordinator, and affiliation placeholders as TODO until the final submission metadata is known.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55 seconds.</a:t>
            </a:r>
          </a:p>
          <a:p xmlns:a="http://schemas.openxmlformats.org/drawingml/2006/main">
            <a:r>
              <a:t/>
            </a:r>
          </a:p>
          <a:p xmlns:a="http://schemas.openxmlformats.org/drawingml/2006/main">
            <a:r>
              <a:t>Frame the problem around evidence, not just detection. Email contains several kinds of evidence, and each detector only sees part of it. The project is useful because it keeps those pieces traceable and makes them available to the right reviewer.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55 seconds.</a:t>
            </a:r>
          </a:p>
          <a:p xmlns:a="http://schemas.openxmlformats.org/drawingml/2006/main">
            <a:r>
              <a:t/>
            </a:r>
          </a:p>
          <a:p xmlns:a="http://schemas.openxmlformats.org/drawingml/2006/main">
            <a:r>
              <a:t>Explain the design in one pass. The system receives mail through AWS, preserves the original MIME object, transforms it into structured evidence, and exposes the result for review. The key boundary is MailReceived: downstream stages rely on a stable event contract instead of depending on SMTP receipt details.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70 seconds.</a:t>
            </a:r>
          </a:p>
          <a:p xmlns:a="http://schemas.openxmlformats.org/drawingml/2006/main">
            <a:r>
              <a:t/>
            </a:r>
          </a:p>
          <a:p xmlns:a="http://schemas.openxmlformats.org/drawingml/2006/main">
            <a:r>
              <a:t>Walk from left to right across the two lanes. The top lane is mail ingress and the canonical event boundary. The lower lane is analysis, persistence, and review. Stress that the architecture is AWS-oriented and that the normalized event keeps downstream stages independent from mail-receipt mechanics.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70 seconds.</a:t>
            </a:r>
          </a:p>
          <a:p xmlns:a="http://schemas.openxmlformats.org/drawingml/2006/main">
            <a:r>
              <a:t/>
            </a:r>
          </a:p>
          <a:p xmlns:a="http://schemas.openxmlformats.org/drawingml/2006/main">
            <a:r>
              <a:t>Use the pipeline to explain observability. The workflow is staged: ledger initialization, recipient resolution, parsing, ML classification, attachment scanning, and aggregation. The stages update deterministic records, which is useful for retries, review, and auditability.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60 seconds.</a:t>
            </a:r>
          </a:p>
          <a:p xmlns:a="http://schemas.openxmlformats.org/drawingml/2006/main">
            <a:r>
              <a:t/>
            </a:r>
          </a:p>
          <a:p xmlns:a="http://schemas.openxmlformats.org/drawingml/2006/main">
            <a:r>
              <a:t>Keep this slide practical. The system is not one monolithic detector. It is a set of bounded responsibilities: AWS ingress and orchestration, specific analysis stages, and an authenticated review layer. Mention that the API, not the frontend, enforces access.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60 seconds.</a:t>
            </a:r>
          </a:p>
          <a:p xmlns:a="http://schemas.openxmlformats.org/drawingml/2006/main">
            <a:r>
              <a:t/>
            </a:r>
          </a:p>
          <a:p xmlns:a="http://schemas.openxmlformats.org/drawingml/2006/main">
            <a:r>
              <a:t>The data model supports the security story. S3 stores large and semi-structured artifacts. DynamoDB stores compact, queryable state. The dashboard can show message-level summaries while still preserving file-level evidence and audit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80 seconds.</a:t>
            </a:r>
          </a:p>
          <a:p xmlns:a="http://schemas.openxmlformats.org/drawingml/2006/main">
            <a:r>
              <a:t/>
            </a:r>
          </a:p>
          <a:p xmlns:a="http://schemas.openxmlformats.org/drawingml/2006/main">
            <a:r>
              <a:t>State the scope carefully. The graph and numbers come from checked-in ML evaluation artifacts. The strongest point is that the packaged model has quantitative support in its training bundle. Avoid presenting these values as production traffic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40 seconds, then transition to the demo video or live walkthrough.</a:t>
            </a:r>
          </a:p>
          <a:p xmlns:a="http://schemas.openxmlformats.org/drawingml/2006/main">
            <a:r>
              <a:t/>
            </a:r>
          </a:p>
          <a:p xmlns:a="http://schemas.openxmlformats.org/drawingml/2006/main">
            <a:r>
              <a:t>Do not explain every implementation detail here. Say what the audience is about to see: an inbound message, the processing lifecycle, the final dashboard verdict, and the evidence that supports the decision. Keep the demo under three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60 seconds.</a:t>
            </a:r>
          </a:p>
          <a:p xmlns:a="http://schemas.openxmlformats.org/drawingml/2006/main">
            <a:r>
              <a:t/>
            </a:r>
          </a:p>
          <a:p xmlns:a="http://schemas.openxmlformats.org/drawingml/2006/main">
            <a:r>
              <a:t>Keep the tone honest without weakening the project. The architecture already has places where new evidence sources can be added. Next steps are mostly about stronger detectors, managed identity, scanner lifecycle, and richer analyst workflow.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25 seconds.</a:t>
            </a:r>
          </a:p>
          <a:p xmlns:a="http://schemas.openxmlformats.org/drawingml/2006/main">
            <a:r>
              <a:t/>
            </a:r>
          </a:p>
          <a:p xmlns:a="http://schemas.openxmlformats.org/drawingml/2006/main">
            <a:r>
              <a:t>Close with the main contribution in one sentence. Then invite questions. If time remains, point back to the architecture and evaluation slides because those are the strongest anchors for discussion.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c7de67f3b2442ef" /></Relationships>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8412342043b34052" /><Relationship Type="http://schemas.openxmlformats.org/officeDocument/2006/relationships/slideLayout" Target="/ppt/slideLayouts/slideLayout2.xml" Id="Rac9fb25704ca456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c9fb25704ca456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b23e849d95d64a7b" /><Relationship Type="http://schemas.openxmlformats.org/officeDocument/2006/relationships/notesSlide" Target="/ppt/notesSlides/notesSlide1.xml" Id="R296b23dcb6544977"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0bd8219152e347d3" /><Relationship Type="http://schemas.openxmlformats.org/officeDocument/2006/relationships/image" Target="/ppt/media/image.png" Id="R46c5c96ca93f4417" /><Relationship Type="http://schemas.openxmlformats.org/officeDocument/2006/relationships/image" Target="/ppt/media/image.svg" Id="Rd51f6460aa324705" /><Relationship Type="http://schemas.openxmlformats.org/officeDocument/2006/relationships/image" Target="/ppt/media/image2.png" Id="Rf5d05032eb844c90" /><Relationship Type="http://schemas.openxmlformats.org/officeDocument/2006/relationships/image" Target="/ppt/media/image2.svg" Id="R5f6568cc98d84c16" /><Relationship Type="http://schemas.openxmlformats.org/officeDocument/2006/relationships/image" Target="/ppt/media/image3.png" Id="R8426a2974f044e62" /><Relationship Type="http://schemas.openxmlformats.org/officeDocument/2006/relationships/image" Target="/ppt/media/image3.svg" Id="R7a7bdb0c1faa4d9d" /><Relationship Type="http://schemas.openxmlformats.org/officeDocument/2006/relationships/notesSlide" Target="/ppt/notesSlides/notesSlide2.xml" Id="Rc6b0340de77b4266"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62b48a225b44420e" /><Relationship Type="http://schemas.openxmlformats.org/officeDocument/2006/relationships/notesSlide" Target="/ppt/notesSlides/notesSlide3.xml" Id="R3dc01d22dc2348b6"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4e909893b3a54941" /><Relationship Type="http://schemas.openxmlformats.org/officeDocument/2006/relationships/notesSlide" Target="/ppt/notesSlides/notesSlide4.xml" Id="R66dcfe99f79a411d"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187bdbdbd8854e77" /><Relationship Type="http://schemas.openxmlformats.org/officeDocument/2006/relationships/notesSlide" Target="/ppt/notesSlides/notesSlide5.xml" Id="R9d90c0ba295f46bc"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fd6cb8b8b3af4c37" /><Relationship Type="http://schemas.openxmlformats.org/officeDocument/2006/relationships/notesSlide" Target="/ppt/notesSlides/notesSlide6.xml" Id="Rf9783829a272407f"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40f0b793843845d9" /><Relationship Type="http://schemas.openxmlformats.org/officeDocument/2006/relationships/notesSlide" Target="/ppt/notesSlides/notesSlide7.xml" Id="R4b35dd22dd41407e"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e049bb40cf134c8a" /><Relationship Type="http://schemas.openxmlformats.org/officeDocument/2006/relationships/notesSlide" Target="/ppt/notesSlides/notesSlide8.xml" Id="R1cebe88d57704778"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03304cc876ab41e2" /><Relationship Type="http://schemas.openxmlformats.org/officeDocument/2006/relationships/notesSlide" Target="/ppt/notesSlides/notesSlide9.xml" Id="R3d4bbcc21505459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078260161f394b8d" /><Relationship Type="http://schemas.openxmlformats.org/officeDocument/2006/relationships/notesSlide" Target="/ppt/notesSlides/notesSlide10.xml" Id="R7c79497a8985460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5191a94168d24c1c" /><Relationship Type="http://schemas.openxmlformats.org/officeDocument/2006/relationships/notesSlide" Target="/ppt/notesSlides/notesSlide11.xml" Id="Rfa6beb7281894ebb"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6B2E6AE-A5A3-402B-AAD4-56CF6BD6124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4EE"/>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4625F7C9-88EC-4660-91F7-C804504C15F5}"/>
              </a:ext>
            </a:extLst>
          </p:cNvPr>
          <p:cNvSpPr>
            <a:spLocks xmlns:a="http://schemas.openxmlformats.org/drawingml/2006/main" noGrp="1"/>
          </p:cNvSpPr>
          <p:nvPr/>
        </p:nvSpPr>
        <p:spPr>
          <a:xfrm xmlns:a="http://schemas.openxmlformats.org/drawingml/2006/main">
            <a:off x="609600" y="781050"/>
            <a:ext cx="85725" cy="914400"/>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EEB3081C-7C2B-479A-B938-395BEB2A6DFC}"/>
              </a:ext>
            </a:extLst>
          </p:cNvPr>
          <p:cNvSpPr>
            <a:spLocks xmlns:a="http://schemas.openxmlformats.org/drawingml/2006/main" noGrp="1"/>
          </p:cNvSpPr>
          <p:nvPr/>
        </p:nvSpPr>
        <p:spPr>
          <a:xfrm xmlns:a="http://schemas.openxmlformats.org/drawingml/2006/main">
            <a:off x="876300" y="723900"/>
            <a:ext cx="8953500" cy="590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4050" b="1">
                <a:solidFill>
                  <a:srgbClr val="11243D"/>
                </a:solidFill>
                <a:latin typeface="Aptos Display"/>
                <a:ea typeface="Aptos Display"/>
                <a:cs typeface="Aptos Display"/>
              </a:defRPr>
            </a:pPr>
            <a:r>
              <a:rPr sz="4050" b="1">
                <a:solidFill>
                  <a:srgbClr val="11243D"/>
                </a:solidFill>
                <a:latin typeface="Aptos Display"/>
                <a:ea typeface="Aptos Display"/>
                <a:cs typeface="Aptos Display"/>
              </a:rPr>
              <a:t>Cloud Email Analyzer</a:t>
            </a:r>
          </a:p>
        </p:txBody>
      </p:sp>
      <p:sp>
        <p:nvSpPr>
          <p:cNvPr id="4" name="">
            <a:extLst xmlns:a="http://schemas.openxmlformats.org/drawingml/2006/main">
              <a:ext uri="{FF2B5EF4-FFF2-40B4-BE49-F238E27FC236}">
                <a16:creationId xmlns:a16="http://schemas.microsoft.com/office/drawing/2014/main" id="{61DBA2DF-B059-4FA3-B4C1-ED475D409DCF}"/>
              </a:ext>
            </a:extLst>
          </p:cNvPr>
          <p:cNvSpPr>
            <a:spLocks xmlns:a="http://schemas.openxmlformats.org/drawingml/2006/main" noGrp="1"/>
          </p:cNvSpPr>
          <p:nvPr/>
        </p:nvSpPr>
        <p:spPr>
          <a:xfrm xmlns:a="http://schemas.openxmlformats.org/drawingml/2006/main">
            <a:off x="876300" y="1409700"/>
            <a:ext cx="87630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325" b="0">
                <a:solidFill>
                  <a:srgbClr val="2C3A4D"/>
                </a:solidFill>
                <a:latin typeface="Aptos"/>
                <a:ea typeface="Aptos"/>
                <a:cs typeface="Aptos"/>
              </a:defRPr>
            </a:pPr>
            <a:r>
              <a:rPr sz="2325" b="0">
                <a:solidFill>
                  <a:srgbClr val="2C3A4D"/>
                </a:solidFill>
                <a:latin typeface="Aptos"/>
                <a:ea typeface="Aptos"/>
                <a:cs typeface="Aptos"/>
              </a:rPr>
              <a:t>Event-driven email threat triage with ML-assisted classification and attachment scanning</a:t>
            </a:r>
          </a:p>
        </p:txBody>
      </p:sp>
      <p:sp>
        <p:nvSpPr>
          <p:cNvPr id="5" name="">
            <a:extLst xmlns:a="http://schemas.openxmlformats.org/drawingml/2006/main">
              <a:ext uri="{FF2B5EF4-FFF2-40B4-BE49-F238E27FC236}">
                <a16:creationId xmlns:a16="http://schemas.microsoft.com/office/drawing/2014/main" id="{898351DB-98CF-4768-9EC9-48F3FA88B5CE}"/>
              </a:ext>
            </a:extLst>
          </p:cNvPr>
          <p:cNvSpPr>
            <a:spLocks xmlns:a="http://schemas.openxmlformats.org/drawingml/2006/main" noGrp="1"/>
          </p:cNvSpPr>
          <p:nvPr/>
        </p:nvSpPr>
        <p:spPr>
          <a:xfrm xmlns:a="http://schemas.openxmlformats.org/drawingml/2006/main">
            <a:off x="876300" y="2762250"/>
            <a:ext cx="47625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950" b="1">
                <a:solidFill>
                  <a:srgbClr val="11243D"/>
                </a:solidFill>
                <a:latin typeface="Aptos"/>
                <a:ea typeface="Aptos"/>
                <a:cs typeface="Aptos"/>
              </a:defRPr>
            </a:pPr>
            <a:r>
              <a:rPr sz="1950" b="1">
                <a:solidFill>
                  <a:srgbClr val="11243D"/>
                </a:solidFill>
                <a:latin typeface="Aptos"/>
                <a:ea typeface="Aptos"/>
                <a:cs typeface="Aptos"/>
              </a:rPr>
              <a:t>TODO: Author/team</a:t>
            </a:r>
          </a:p>
        </p:txBody>
      </p:sp>
      <p:sp>
        <p:nvSpPr>
          <p:cNvPr id="6" name="">
            <a:extLst xmlns:a="http://schemas.openxmlformats.org/drawingml/2006/main">
              <a:ext uri="{FF2B5EF4-FFF2-40B4-BE49-F238E27FC236}">
                <a16:creationId xmlns:a16="http://schemas.microsoft.com/office/drawing/2014/main" id="{489F725E-B679-400B-8DDF-14A3A750D098}"/>
              </a:ext>
            </a:extLst>
          </p:cNvPr>
          <p:cNvSpPr>
            <a:spLocks xmlns:a="http://schemas.openxmlformats.org/drawingml/2006/main" noGrp="1"/>
          </p:cNvSpPr>
          <p:nvPr/>
        </p:nvSpPr>
        <p:spPr>
          <a:xfrm xmlns:a="http://schemas.openxmlformats.org/drawingml/2006/main">
            <a:off x="876300" y="3143250"/>
            <a:ext cx="53340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800" b="0">
                <a:solidFill>
                  <a:srgbClr val="11243D"/>
                </a:solidFill>
                <a:latin typeface="Aptos"/>
                <a:ea typeface="Aptos"/>
                <a:cs typeface="Aptos"/>
              </a:defRPr>
            </a:pPr>
            <a:r>
              <a:rPr sz="1800" b="0">
                <a:solidFill>
                  <a:srgbClr val="11243D"/>
                </a:solidFill>
                <a:latin typeface="Aptos"/>
                <a:ea typeface="Aptos"/>
                <a:cs typeface="Aptos"/>
              </a:rPr>
              <a:t>TODO: Scientific coordinator</a:t>
            </a:r>
          </a:p>
        </p:txBody>
      </p:sp>
      <p:sp>
        <p:nvSpPr>
          <p:cNvPr id="7" name="">
            <a:extLst xmlns:a="http://schemas.openxmlformats.org/drawingml/2006/main">
              <a:ext uri="{FF2B5EF4-FFF2-40B4-BE49-F238E27FC236}">
                <a16:creationId xmlns:a16="http://schemas.microsoft.com/office/drawing/2014/main" id="{D2043258-EFD4-4413-8C07-5A64C67E2A6B}"/>
              </a:ext>
            </a:extLst>
          </p:cNvPr>
          <p:cNvSpPr>
            <a:spLocks xmlns:a="http://schemas.openxmlformats.org/drawingml/2006/main" noGrp="1"/>
          </p:cNvSpPr>
          <p:nvPr/>
        </p:nvSpPr>
        <p:spPr>
          <a:xfrm xmlns:a="http://schemas.openxmlformats.org/drawingml/2006/main">
            <a:off x="876300" y="3486150"/>
            <a:ext cx="60960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800" b="0">
                <a:solidFill>
                  <a:srgbClr val="11243D"/>
                </a:solidFill>
                <a:latin typeface="Aptos"/>
                <a:ea typeface="Aptos"/>
                <a:cs typeface="Aptos"/>
              </a:defRPr>
            </a:pPr>
            <a:r>
              <a:rPr sz="1800" b="0">
                <a:solidFill>
                  <a:srgbClr val="11243D"/>
                </a:solidFill>
                <a:latin typeface="Aptos"/>
                <a:ea typeface="Aptos"/>
                <a:cs typeface="Aptos"/>
              </a:rPr>
              <a:t>TODO: University / faculty / group</a:t>
            </a:r>
          </a:p>
        </p:txBody>
      </p:sp>
      <p:sp>
        <p:nvSpPr>
          <p:cNvPr id="8" name="">
            <a:extLst xmlns:a="http://schemas.openxmlformats.org/drawingml/2006/main">
              <a:ext uri="{FF2B5EF4-FFF2-40B4-BE49-F238E27FC236}">
                <a16:creationId xmlns:a16="http://schemas.microsoft.com/office/drawing/2014/main" id="{2E1419EB-2BDF-4902-B67A-DA656EBA8C9F}"/>
              </a:ext>
            </a:extLst>
          </p:cNvPr>
          <p:cNvSpPr>
            <a:spLocks xmlns:a="http://schemas.openxmlformats.org/drawingml/2006/main" noGrp="1"/>
          </p:cNvSpPr>
          <p:nvPr/>
        </p:nvSpPr>
        <p:spPr>
          <a:xfrm xmlns:a="http://schemas.openxmlformats.org/drawingml/2006/main">
            <a:off x="1047750" y="4533900"/>
            <a:ext cx="166687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9" name="">
            <a:extLst xmlns:a="http://schemas.openxmlformats.org/drawingml/2006/main">
              <a:ext uri="{FF2B5EF4-FFF2-40B4-BE49-F238E27FC236}">
                <a16:creationId xmlns:a16="http://schemas.microsoft.com/office/drawing/2014/main" id="{820C339C-D082-4CA9-ADAD-1409FB18F248}"/>
              </a:ext>
            </a:extLst>
          </p:cNvPr>
          <p:cNvSpPr>
            <a:spLocks xmlns:a="http://schemas.openxmlformats.org/drawingml/2006/main" noGrp="1"/>
          </p:cNvSpPr>
          <p:nvPr/>
        </p:nvSpPr>
        <p:spPr>
          <a:xfrm xmlns:a="http://schemas.openxmlformats.org/drawingml/2006/main">
            <a:off x="1200150" y="4648200"/>
            <a:ext cx="1362075"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800" b="1">
                <a:solidFill>
                  <a:srgbClr val="11243D"/>
                </a:solidFill>
                <a:latin typeface="Aptos"/>
                <a:ea typeface="Aptos"/>
                <a:cs typeface="Aptos"/>
              </a:defRPr>
            </a:pPr>
            <a:r>
              <a:rPr sz="1800" b="1">
                <a:solidFill>
                  <a:srgbClr val="11243D"/>
                </a:solidFill>
                <a:latin typeface="Aptos"/>
                <a:ea typeface="Aptos"/>
                <a:cs typeface="Aptos"/>
              </a:rPr>
              <a:t>Inbound mail</a:t>
            </a:r>
          </a:p>
        </p:txBody>
      </p:sp>
      <p:sp>
        <p:nvSpPr>
          <p:cNvPr id="10" name="">
            <a:extLst xmlns:a="http://schemas.openxmlformats.org/drawingml/2006/main">
              <a:ext uri="{FF2B5EF4-FFF2-40B4-BE49-F238E27FC236}">
                <a16:creationId xmlns:a16="http://schemas.microsoft.com/office/drawing/2014/main" id="{01AA3AEF-67FB-489B-9AF4-6B5F7823A7C3}"/>
              </a:ext>
            </a:extLst>
          </p:cNvPr>
          <p:cNvSpPr>
            <a:spLocks xmlns:a="http://schemas.openxmlformats.org/drawingml/2006/main" noGrp="1"/>
          </p:cNvSpPr>
          <p:nvPr/>
        </p:nvSpPr>
        <p:spPr>
          <a:xfrm xmlns:a="http://schemas.openxmlformats.org/drawingml/2006/main">
            <a:off x="2857500" y="4705350"/>
            <a:ext cx="438150" cy="285750"/>
          </a:xfrm>
          <a:prstGeom xmlns:a="http://schemas.openxmlformats.org/drawingml/2006/main" prst="rightArrow">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11" name="">
            <a:extLst xmlns:a="http://schemas.openxmlformats.org/drawingml/2006/main">
              <a:ext uri="{FF2B5EF4-FFF2-40B4-BE49-F238E27FC236}">
                <a16:creationId xmlns:a16="http://schemas.microsoft.com/office/drawing/2014/main" id="{C2C53F17-E1D2-4637-AC21-23F59DF38EA6}"/>
              </a:ext>
            </a:extLst>
          </p:cNvPr>
          <p:cNvSpPr>
            <a:spLocks xmlns:a="http://schemas.openxmlformats.org/drawingml/2006/main" noGrp="1"/>
          </p:cNvSpPr>
          <p:nvPr/>
        </p:nvSpPr>
        <p:spPr>
          <a:xfrm xmlns:a="http://schemas.openxmlformats.org/drawingml/2006/main">
            <a:off x="3524250" y="4533900"/>
            <a:ext cx="166687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12" name="">
            <a:extLst xmlns:a="http://schemas.openxmlformats.org/drawingml/2006/main">
              <a:ext uri="{FF2B5EF4-FFF2-40B4-BE49-F238E27FC236}">
                <a16:creationId xmlns:a16="http://schemas.microsoft.com/office/drawing/2014/main" id="{3232ED03-FE8B-4078-8271-1988BB068300}"/>
              </a:ext>
            </a:extLst>
          </p:cNvPr>
          <p:cNvSpPr>
            <a:spLocks xmlns:a="http://schemas.openxmlformats.org/drawingml/2006/main" noGrp="1"/>
          </p:cNvSpPr>
          <p:nvPr/>
        </p:nvSpPr>
        <p:spPr>
          <a:xfrm xmlns:a="http://schemas.openxmlformats.org/drawingml/2006/main">
            <a:off x="3676650" y="4648200"/>
            <a:ext cx="1362075"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800" b="1">
                <a:solidFill>
                  <a:srgbClr val="11243D"/>
                </a:solidFill>
                <a:latin typeface="Aptos"/>
                <a:ea typeface="Aptos"/>
                <a:cs typeface="Aptos"/>
              </a:defRPr>
            </a:pPr>
            <a:r>
              <a:rPr sz="1800" b="1">
                <a:solidFill>
                  <a:srgbClr val="11243D"/>
                </a:solidFill>
                <a:latin typeface="Aptos"/>
                <a:ea typeface="Aptos"/>
                <a:cs typeface="Aptos"/>
              </a:rPr>
              <a:t>Evidence</a:t>
            </a:r>
          </a:p>
        </p:txBody>
      </p:sp>
      <p:sp>
        <p:nvSpPr>
          <p:cNvPr id="13" name="">
            <a:extLst xmlns:a="http://schemas.openxmlformats.org/drawingml/2006/main">
              <a:ext uri="{FF2B5EF4-FFF2-40B4-BE49-F238E27FC236}">
                <a16:creationId xmlns:a16="http://schemas.microsoft.com/office/drawing/2014/main" id="{9CE8FDD7-8FA6-4CD3-A471-0600F35CA537}"/>
              </a:ext>
            </a:extLst>
          </p:cNvPr>
          <p:cNvSpPr>
            <a:spLocks xmlns:a="http://schemas.openxmlformats.org/drawingml/2006/main" noGrp="1"/>
          </p:cNvSpPr>
          <p:nvPr/>
        </p:nvSpPr>
        <p:spPr>
          <a:xfrm xmlns:a="http://schemas.openxmlformats.org/drawingml/2006/main">
            <a:off x="5334000" y="4705350"/>
            <a:ext cx="438150" cy="285750"/>
          </a:xfrm>
          <a:prstGeom xmlns:a="http://schemas.openxmlformats.org/drawingml/2006/main" prst="rightArrow">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851468C2-27B7-4368-8FB0-1A6EAE9A2B29}"/>
              </a:ext>
            </a:extLst>
          </p:cNvPr>
          <p:cNvSpPr>
            <a:spLocks xmlns:a="http://schemas.openxmlformats.org/drawingml/2006/main" noGrp="1"/>
          </p:cNvSpPr>
          <p:nvPr/>
        </p:nvSpPr>
        <p:spPr>
          <a:xfrm xmlns:a="http://schemas.openxmlformats.org/drawingml/2006/main">
            <a:off x="6000750" y="4533900"/>
            <a:ext cx="166687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15" name="">
            <a:extLst xmlns:a="http://schemas.openxmlformats.org/drawingml/2006/main">
              <a:ext uri="{FF2B5EF4-FFF2-40B4-BE49-F238E27FC236}">
                <a16:creationId xmlns:a16="http://schemas.microsoft.com/office/drawing/2014/main" id="{B54BB139-A5AF-4141-A7A2-C8C3ABD827D1}"/>
              </a:ext>
            </a:extLst>
          </p:cNvPr>
          <p:cNvSpPr>
            <a:spLocks xmlns:a="http://schemas.openxmlformats.org/drawingml/2006/main" noGrp="1"/>
          </p:cNvSpPr>
          <p:nvPr/>
        </p:nvSpPr>
        <p:spPr>
          <a:xfrm xmlns:a="http://schemas.openxmlformats.org/drawingml/2006/main">
            <a:off x="6153150" y="4648200"/>
            <a:ext cx="1362075"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800" b="1">
                <a:solidFill>
                  <a:srgbClr val="11243D"/>
                </a:solidFill>
                <a:latin typeface="Aptos"/>
                <a:ea typeface="Aptos"/>
                <a:cs typeface="Aptos"/>
              </a:defRPr>
            </a:pPr>
            <a:r>
              <a:rPr sz="1800" b="1">
                <a:solidFill>
                  <a:srgbClr val="11243D"/>
                </a:solidFill>
                <a:latin typeface="Aptos"/>
                <a:ea typeface="Aptos"/>
                <a:cs typeface="Aptos"/>
              </a:rPr>
              <a:t>Verdict</a:t>
            </a:r>
          </a:p>
        </p:txBody>
      </p:sp>
      <p:sp>
        <p:nvSpPr>
          <p:cNvPr id="16" name="">
            <a:extLst xmlns:a="http://schemas.openxmlformats.org/drawingml/2006/main">
              <a:ext uri="{FF2B5EF4-FFF2-40B4-BE49-F238E27FC236}">
                <a16:creationId xmlns:a16="http://schemas.microsoft.com/office/drawing/2014/main" id="{832370C4-9C4B-4964-8164-5282F54F636D}"/>
              </a:ext>
            </a:extLst>
          </p:cNvPr>
          <p:cNvSpPr>
            <a:spLocks xmlns:a="http://schemas.openxmlformats.org/drawingml/2006/main" noGrp="1"/>
          </p:cNvSpPr>
          <p:nvPr/>
        </p:nvSpPr>
        <p:spPr>
          <a:xfrm xmlns:a="http://schemas.openxmlformats.org/drawingml/2006/main">
            <a:off x="7810500" y="4705350"/>
            <a:ext cx="438150" cy="285750"/>
          </a:xfrm>
          <a:prstGeom xmlns:a="http://schemas.openxmlformats.org/drawingml/2006/main" prst="rightArrow">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55C156F5-ACFC-4A84-8E7B-DD12BBDFEE39}"/>
              </a:ext>
            </a:extLst>
          </p:cNvPr>
          <p:cNvSpPr>
            <a:spLocks xmlns:a="http://schemas.openxmlformats.org/drawingml/2006/main" noGrp="1"/>
          </p:cNvSpPr>
          <p:nvPr/>
        </p:nvSpPr>
        <p:spPr>
          <a:xfrm xmlns:a="http://schemas.openxmlformats.org/drawingml/2006/main">
            <a:off x="8477250" y="4533900"/>
            <a:ext cx="166687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18" name="">
            <a:extLst xmlns:a="http://schemas.openxmlformats.org/drawingml/2006/main">
              <a:ext uri="{FF2B5EF4-FFF2-40B4-BE49-F238E27FC236}">
                <a16:creationId xmlns:a16="http://schemas.microsoft.com/office/drawing/2014/main" id="{1D83DBCB-F411-4DCA-ABDC-D1C993C8D3F4}"/>
              </a:ext>
            </a:extLst>
          </p:cNvPr>
          <p:cNvSpPr>
            <a:spLocks xmlns:a="http://schemas.openxmlformats.org/drawingml/2006/main" noGrp="1"/>
          </p:cNvSpPr>
          <p:nvPr/>
        </p:nvSpPr>
        <p:spPr>
          <a:xfrm xmlns:a="http://schemas.openxmlformats.org/drawingml/2006/main">
            <a:off x="8629650" y="4648200"/>
            <a:ext cx="1362075"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800" b="1">
                <a:solidFill>
                  <a:srgbClr val="11243D"/>
                </a:solidFill>
                <a:latin typeface="Aptos"/>
                <a:ea typeface="Aptos"/>
                <a:cs typeface="Aptos"/>
              </a:defRPr>
            </a:pPr>
            <a:r>
              <a:rPr sz="1800" b="1">
                <a:solidFill>
                  <a:srgbClr val="11243D"/>
                </a:solidFill>
                <a:latin typeface="Aptos"/>
                <a:ea typeface="Aptos"/>
                <a:cs typeface="Aptos"/>
              </a:rPr>
              <a:t>Review</a:t>
            </a:r>
          </a:p>
        </p:txBody>
      </p:sp>
      <p:sp>
        <p:nvSpPr>
          <p:cNvPr id="19" name="">
            <a:extLst xmlns:a="http://schemas.openxmlformats.org/drawingml/2006/main">
              <a:ext uri="{FF2B5EF4-FFF2-40B4-BE49-F238E27FC236}">
                <a16:creationId xmlns:a16="http://schemas.microsoft.com/office/drawing/2014/main" id="{4D8F2D5D-C769-426D-BDBF-79DF31265AF9}"/>
              </a:ext>
            </a:extLst>
          </p:cNvPr>
          <p:cNvSpPr>
            <a:spLocks xmlns:a="http://schemas.openxmlformats.org/drawingml/2006/main" noGrp="1"/>
          </p:cNvSpPr>
          <p:nvPr/>
        </p:nvSpPr>
        <p:spPr>
          <a:xfrm xmlns:a="http://schemas.openxmlformats.org/drawingml/2006/main">
            <a:off x="609600" y="6400800"/>
            <a:ext cx="9810750" cy="9525"/>
          </a:xfrm>
          <a:prstGeom xmlns:a="http://schemas.openxmlformats.org/drawingml/2006/main" prst="rect">
            <a:avLst/>
          </a:prstGeom>
          <a:solidFill xmlns:a="http://schemas.openxmlformats.org/drawingml/2006/main">
            <a:srgbClr val="C7D2E1"/>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2C9DFD0F-3D17-40FE-BD5D-014965B6EEB7}"/>
              </a:ext>
            </a:extLst>
          </p:cNvPr>
          <p:cNvSpPr>
            <a:spLocks xmlns:a="http://schemas.openxmlformats.org/drawingml/2006/main" noGrp="1"/>
          </p:cNvSpPr>
          <p:nvPr/>
        </p:nvSpPr>
        <p:spPr>
          <a:xfrm xmlns:a="http://schemas.openxmlformats.org/drawingml/2006/main">
            <a:off x="609600" y="6457950"/>
            <a:ext cx="3429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2C3A4D"/>
                </a:solidFill>
                <a:latin typeface="Aptos"/>
                <a:ea typeface="Aptos"/>
                <a:cs typeface="Aptos"/>
              </a:defRPr>
            </a:pPr>
            <a:r>
              <a:rPr sz="1050" b="0">
                <a:solidFill>
                  <a:srgbClr val="2C3A4D"/>
                </a:solidFill>
                <a:latin typeface="Aptos"/>
                <a:ea typeface="Aptos"/>
                <a:cs typeface="Aptos"/>
              </a:rPr>
              <a:t>Cloud Email Analyzer</a:t>
            </a:r>
          </a:p>
        </p:txBody>
      </p:sp>
      <p:sp>
        <p:nvSpPr>
          <p:cNvPr id="21" name="">
            <a:extLst xmlns:a="http://schemas.openxmlformats.org/drawingml/2006/main">
              <a:ext uri="{FF2B5EF4-FFF2-40B4-BE49-F238E27FC236}">
                <a16:creationId xmlns:a16="http://schemas.microsoft.com/office/drawing/2014/main" id="{8A712BD6-FED6-4D9D-8FBD-B53A5AFF93C5}"/>
              </a:ext>
            </a:extLst>
          </p:cNvPr>
          <p:cNvSpPr>
            <a:spLocks xmlns:a="http://schemas.openxmlformats.org/drawingml/2006/main" noGrp="1"/>
          </p:cNvSpPr>
          <p:nvPr/>
        </p:nvSpPr>
        <p:spPr>
          <a:xfrm xmlns:a="http://schemas.openxmlformats.org/drawingml/2006/main">
            <a:off x="11001375" y="6438900"/>
            <a:ext cx="571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1050" b="0">
                <a:solidFill>
                  <a:srgbClr val="2C3A4D"/>
                </a:solidFill>
                <a:latin typeface="Aptos"/>
                <a:ea typeface="Aptos"/>
                <a:cs typeface="Aptos"/>
              </a:defRPr>
            </a:pPr>
            <a:r>
              <a:rPr sz="1050" b="0">
                <a:solidFill>
                  <a:srgbClr val="2C3A4D"/>
                </a:solidFill>
                <a:latin typeface="Aptos"/>
                <a:ea typeface="Aptos"/>
                <a:cs typeface="Aptos"/>
              </a:rPr>
              <a:t>01</a:t>
            </a:r>
          </a:p>
        </p:txBody>
      </p:sp>
    </p:spTree>
    <p:extLst>
      <p:ext uri="{BB962C8B-B14F-4D97-AF65-F5344CB8AC3E}">
        <p14:creationId xmlns:p14="http://schemas.microsoft.com/office/powerpoint/2010/main" val="402541127"/>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F558418-9CE8-4FB9-B081-8A2A287F37D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4EE"/>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764B302B-1FCC-4BD2-BEC9-8BADA4AA90B6}"/>
              </a:ext>
            </a:extLst>
          </p:cNvPr>
          <p:cNvSpPr>
            <a:spLocks xmlns:a="http://schemas.openxmlformats.org/drawingml/2006/main" noGrp="1"/>
          </p:cNvSpPr>
          <p:nvPr/>
        </p:nvSpPr>
        <p:spPr>
          <a:xfrm xmlns:a="http://schemas.openxmlformats.org/drawingml/2006/main">
            <a:off x="609600" y="514350"/>
            <a:ext cx="85725" cy="85725"/>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5C8E2342-857F-4EBE-A398-005DEB744A47}"/>
              </a:ext>
            </a:extLst>
          </p:cNvPr>
          <p:cNvSpPr>
            <a:spLocks xmlns:a="http://schemas.openxmlformats.org/drawingml/2006/main" noGrp="1"/>
          </p:cNvSpPr>
          <p:nvPr/>
        </p:nvSpPr>
        <p:spPr>
          <a:xfrm xmlns:a="http://schemas.openxmlformats.org/drawingml/2006/main">
            <a:off x="781050" y="400050"/>
            <a:ext cx="49530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200" b="1">
                <a:solidFill>
                  <a:srgbClr val="0B5CAD"/>
                </a:solidFill>
                <a:latin typeface="Aptos"/>
                <a:ea typeface="Aptos"/>
                <a:cs typeface="Aptos"/>
              </a:defRPr>
            </a:pPr>
            <a:r>
              <a:rPr sz="1200" b="1">
                <a:solidFill>
                  <a:srgbClr val="0B5CAD"/>
                </a:solidFill>
                <a:latin typeface="Aptos"/>
                <a:ea typeface="Aptos"/>
                <a:cs typeface="Aptos"/>
              </a:rPr>
              <a:t>PROBLEM</a:t>
            </a:r>
          </a:p>
        </p:txBody>
      </p:sp>
      <p:sp>
        <p:nvSpPr>
          <p:cNvPr id="4" name="">
            <a:extLst xmlns:a="http://schemas.openxmlformats.org/drawingml/2006/main">
              <a:ext uri="{FF2B5EF4-FFF2-40B4-BE49-F238E27FC236}">
                <a16:creationId xmlns:a16="http://schemas.microsoft.com/office/drawing/2014/main" id="{8BC77D2F-6595-4FE7-8B07-3B9009FD6E79}"/>
              </a:ext>
            </a:extLst>
          </p:cNvPr>
          <p:cNvSpPr>
            <a:spLocks xmlns:a="http://schemas.openxmlformats.org/drawingml/2006/main" noGrp="1"/>
          </p:cNvSpPr>
          <p:nvPr/>
        </p:nvSpPr>
        <p:spPr>
          <a:xfrm xmlns:a="http://schemas.openxmlformats.org/drawingml/2006/main">
            <a:off x="609600" y="781050"/>
            <a:ext cx="10001250" cy="1009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600" b="1">
                <a:solidFill>
                  <a:srgbClr val="11243D"/>
                </a:solidFill>
                <a:latin typeface="Aptos Display"/>
                <a:ea typeface="Aptos Display"/>
                <a:cs typeface="Aptos Display"/>
              </a:defRPr>
            </a:pPr>
            <a:r>
              <a:rPr sz="3600" b="1">
                <a:solidFill>
                  <a:srgbClr val="11243D"/>
                </a:solidFill>
                <a:latin typeface="Aptos Display"/>
                <a:ea typeface="Aptos Display"/>
                <a:cs typeface="Aptos Display"/>
              </a:rPr>
              <a:t>Email evidence is fragmented before review.</a:t>
            </a:r>
          </a:p>
        </p:txBody>
      </p:sp>
      <p:sp>
        <p:nvSpPr>
          <p:cNvPr id="5" name="">
            <a:extLst xmlns:a="http://schemas.openxmlformats.org/drawingml/2006/main">
              <a:ext uri="{FF2B5EF4-FFF2-40B4-BE49-F238E27FC236}">
                <a16:creationId xmlns:a16="http://schemas.microsoft.com/office/drawing/2014/main" id="{64F881F6-01C9-4610-A677-464595EB61F5}"/>
              </a:ext>
            </a:extLst>
          </p:cNvPr>
          <p:cNvSpPr>
            <a:spLocks xmlns:a="http://schemas.openxmlformats.org/drawingml/2006/main" noGrp="1"/>
          </p:cNvSpPr>
          <p:nvPr/>
        </p:nvSpPr>
        <p:spPr>
          <a:xfrm xmlns:a="http://schemas.openxmlformats.org/drawingml/2006/main">
            <a:off x="609600" y="6400800"/>
            <a:ext cx="9810750" cy="9525"/>
          </a:xfrm>
          <a:prstGeom xmlns:a="http://schemas.openxmlformats.org/drawingml/2006/main" prst="rect">
            <a:avLst/>
          </a:prstGeom>
          <a:solidFill xmlns:a="http://schemas.openxmlformats.org/drawingml/2006/main">
            <a:srgbClr val="C7D2E1"/>
          </a:solidFill>
          <a:ln xmlns:a="http://schemas.openxmlformats.org/drawingml/2006/main" w="0">
            <a:solidFill>
              <a:srgbClr val="000000">
                <a:alpha val="0"/>
              </a:srgbClr>
            </a:solidFill>
            <a:prstDash val="solid"/>
          </a:ln>
        </p:spPr>
      </p:sp>
      <p:sp>
        <p:nvSpPr>
          <p:cNvPr id="6" name="">
            <a:extLst xmlns:a="http://schemas.openxmlformats.org/drawingml/2006/main">
              <a:ext uri="{FF2B5EF4-FFF2-40B4-BE49-F238E27FC236}">
                <a16:creationId xmlns:a16="http://schemas.microsoft.com/office/drawing/2014/main" id="{C10F4F5B-8D02-4FE1-AF41-21271115E535}"/>
              </a:ext>
            </a:extLst>
          </p:cNvPr>
          <p:cNvSpPr>
            <a:spLocks xmlns:a="http://schemas.openxmlformats.org/drawingml/2006/main" noGrp="1"/>
          </p:cNvSpPr>
          <p:nvPr/>
        </p:nvSpPr>
        <p:spPr>
          <a:xfrm xmlns:a="http://schemas.openxmlformats.org/drawingml/2006/main">
            <a:off x="609600" y="6457950"/>
            <a:ext cx="3429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2C3A4D"/>
                </a:solidFill>
                <a:latin typeface="Aptos"/>
                <a:ea typeface="Aptos"/>
                <a:cs typeface="Aptos"/>
              </a:defRPr>
            </a:pPr>
            <a:r>
              <a:rPr sz="1050" b="0">
                <a:solidFill>
                  <a:srgbClr val="2C3A4D"/>
                </a:solidFill>
                <a:latin typeface="Aptos"/>
                <a:ea typeface="Aptos"/>
                <a:cs typeface="Aptos"/>
              </a:rPr>
              <a:t>Cloud Email Analyzer</a:t>
            </a:r>
          </a:p>
        </p:txBody>
      </p:sp>
      <p:sp>
        <p:nvSpPr>
          <p:cNvPr id="7" name="">
            <a:extLst xmlns:a="http://schemas.openxmlformats.org/drawingml/2006/main">
              <a:ext uri="{FF2B5EF4-FFF2-40B4-BE49-F238E27FC236}">
                <a16:creationId xmlns:a16="http://schemas.microsoft.com/office/drawing/2014/main" id="{52C3CBCB-42E5-431E-8EA2-32788776C84C}"/>
              </a:ext>
            </a:extLst>
          </p:cNvPr>
          <p:cNvSpPr>
            <a:spLocks xmlns:a="http://schemas.openxmlformats.org/drawingml/2006/main" noGrp="1"/>
          </p:cNvSpPr>
          <p:nvPr/>
        </p:nvSpPr>
        <p:spPr>
          <a:xfrm xmlns:a="http://schemas.openxmlformats.org/drawingml/2006/main">
            <a:off x="11001375" y="6438900"/>
            <a:ext cx="571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1050" b="0">
                <a:solidFill>
                  <a:srgbClr val="2C3A4D"/>
                </a:solidFill>
                <a:latin typeface="Aptos"/>
                <a:ea typeface="Aptos"/>
                <a:cs typeface="Aptos"/>
              </a:defRPr>
            </a:pPr>
            <a:r>
              <a:rPr sz="1050" b="0">
                <a:solidFill>
                  <a:srgbClr val="2C3A4D"/>
                </a:solidFill>
                <a:latin typeface="Aptos"/>
                <a:ea typeface="Aptos"/>
                <a:cs typeface="Aptos"/>
              </a:rPr>
              <a:t>02</a:t>
            </a:r>
          </a:p>
        </p:txBody>
      </p:sp>
      <p:sp>
        <p:nvSpPr>
          <p:cNvPr id="8" name="">
            <a:extLst xmlns:a="http://schemas.openxmlformats.org/drawingml/2006/main">
              <a:ext uri="{FF2B5EF4-FFF2-40B4-BE49-F238E27FC236}">
                <a16:creationId xmlns:a16="http://schemas.microsoft.com/office/drawing/2014/main" id="{5929A89F-ACCD-4277-9043-03B914786EB2}"/>
              </a:ext>
            </a:extLst>
          </p:cNvPr>
          <p:cNvSpPr>
            <a:spLocks xmlns:a="http://schemas.openxmlformats.org/drawingml/2006/main" noGrp="1"/>
          </p:cNvSpPr>
          <p:nvPr/>
        </p:nvSpPr>
        <p:spPr>
          <a:xfrm xmlns:a="http://schemas.openxmlformats.org/drawingml/2006/main">
            <a:off x="800100" y="2152650"/>
            <a:ext cx="3048000" cy="316230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46c5c96ca93f4417">
            <a:extLst>
              <a:ext uri="{96DAC541-7B7A-43D3-8B79-37D633B846F1}">
                <asvg:svgBlip xmlns:asvg="http://schemas.microsoft.com/office/drawing/2016/SVG/main" r:embed="Rd51f6460aa324705"/>
              </a:ext>
            </a:extLst>
          </a:blip>
          <a:stretch xmlns:a="http://schemas.openxmlformats.org/drawingml/2006/main"/>
        </p:blipFill>
        <p:spPr>
          <a:xfrm xmlns:a="http://schemas.openxmlformats.org/drawingml/2006/main">
            <a:off x="1047750" y="2419350"/>
            <a:ext cx="400050" cy="40005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6E01A3EC-7983-4998-A5D9-B1596BD5EB34}"/>
              </a:ext>
            </a:extLst>
          </p:cNvPr>
          <p:cNvSpPr>
            <a:spLocks xmlns:a="http://schemas.openxmlformats.org/drawingml/2006/main" noGrp="1"/>
          </p:cNvSpPr>
          <p:nvPr/>
        </p:nvSpPr>
        <p:spPr>
          <a:xfrm xmlns:a="http://schemas.openxmlformats.org/drawingml/2006/main">
            <a:off x="1047750" y="3028950"/>
            <a:ext cx="2571750" cy="742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1243D"/>
                </a:solidFill>
                <a:latin typeface="Aptos"/>
                <a:ea typeface="Aptos"/>
                <a:cs typeface="Aptos"/>
              </a:defRPr>
            </a:pPr>
            <a:r>
              <a:rPr sz="2250" b="1">
                <a:solidFill>
                  <a:srgbClr val="11243D"/>
                </a:solidFill>
                <a:latin typeface="Aptos"/>
                <a:ea typeface="Aptos"/>
                <a:cs typeface="Aptos"/>
              </a:rPr>
              <a:t>Raw messages are messy</a:t>
            </a:r>
          </a:p>
        </p:txBody>
      </p:sp>
      <p:sp>
        <p:nvSpPr>
          <p:cNvPr id="11" name="">
            <a:extLst xmlns:a="http://schemas.openxmlformats.org/drawingml/2006/main">
              <a:ext uri="{FF2B5EF4-FFF2-40B4-BE49-F238E27FC236}">
                <a16:creationId xmlns:a16="http://schemas.microsoft.com/office/drawing/2014/main" id="{80290699-2521-4A46-9BA4-22B82B11D61B}"/>
              </a:ext>
            </a:extLst>
          </p:cNvPr>
          <p:cNvSpPr>
            <a:spLocks xmlns:a="http://schemas.openxmlformats.org/drawingml/2006/main" noGrp="1"/>
          </p:cNvSpPr>
          <p:nvPr/>
        </p:nvSpPr>
        <p:spPr>
          <a:xfrm xmlns:a="http://schemas.openxmlformats.org/drawingml/2006/main">
            <a:off x="1047750" y="4000500"/>
            <a:ext cx="255270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75" b="0">
                <a:solidFill>
                  <a:srgbClr val="2C3A4D"/>
                </a:solidFill>
                <a:latin typeface="Aptos"/>
                <a:ea typeface="Aptos"/>
                <a:cs typeface="Aptos"/>
              </a:defRPr>
            </a:pPr>
            <a:r>
              <a:rPr sz="1575" b="0">
                <a:solidFill>
                  <a:srgbClr val="2C3A4D"/>
                </a:solidFill>
                <a:latin typeface="Aptos"/>
                <a:ea typeface="Aptos"/>
                <a:cs typeface="Aptos"/>
              </a:rPr>
              <a:t>MIME variants, envelope recipients, URLs, and attachments all carry evidence.</a:t>
            </a:r>
          </a:p>
        </p:txBody>
      </p:sp>
      <p:sp>
        <p:nvSpPr>
          <p:cNvPr id="12" name="">
            <a:extLst xmlns:a="http://schemas.openxmlformats.org/drawingml/2006/main">
              <a:ext uri="{FF2B5EF4-FFF2-40B4-BE49-F238E27FC236}">
                <a16:creationId xmlns:a16="http://schemas.microsoft.com/office/drawing/2014/main" id="{20E6812B-5AC9-44B4-8353-036CD459D79C}"/>
              </a:ext>
            </a:extLst>
          </p:cNvPr>
          <p:cNvSpPr>
            <a:spLocks xmlns:a="http://schemas.openxmlformats.org/drawingml/2006/main" noGrp="1"/>
          </p:cNvSpPr>
          <p:nvPr/>
        </p:nvSpPr>
        <p:spPr>
          <a:xfrm xmlns:a="http://schemas.openxmlformats.org/drawingml/2006/main">
            <a:off x="4438650" y="2152650"/>
            <a:ext cx="3048000" cy="316230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f5d05032eb844c90">
            <a:extLst>
              <a:ext uri="{96DAC541-7B7A-43D3-8B79-37D633B846F1}">
                <asvg:svgBlip xmlns:asvg="http://schemas.microsoft.com/office/drawing/2016/SVG/main" r:embed="R5f6568cc98d84c16"/>
              </a:ext>
            </a:extLst>
          </a:blip>
          <a:stretch xmlns:a="http://schemas.openxmlformats.org/drawingml/2006/main"/>
        </p:blipFill>
        <p:spPr>
          <a:xfrm xmlns:a="http://schemas.openxmlformats.org/drawingml/2006/main">
            <a:off x="4686300" y="2419350"/>
            <a:ext cx="400050" cy="400050"/>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6AB75603-774F-45BB-8FAE-A10DF0FB5019}"/>
              </a:ext>
            </a:extLst>
          </p:cNvPr>
          <p:cNvSpPr>
            <a:spLocks xmlns:a="http://schemas.openxmlformats.org/drawingml/2006/main" noGrp="1"/>
          </p:cNvSpPr>
          <p:nvPr/>
        </p:nvSpPr>
        <p:spPr>
          <a:xfrm xmlns:a="http://schemas.openxmlformats.org/drawingml/2006/main">
            <a:off x="4686300" y="3028950"/>
            <a:ext cx="2571750" cy="742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1243D"/>
                </a:solidFill>
                <a:latin typeface="Aptos"/>
                <a:ea typeface="Aptos"/>
                <a:cs typeface="Aptos"/>
              </a:defRPr>
            </a:pPr>
            <a:r>
              <a:rPr sz="2250" b="1">
                <a:solidFill>
                  <a:srgbClr val="11243D"/>
                </a:solidFill>
                <a:latin typeface="Aptos"/>
                <a:ea typeface="Aptos"/>
                <a:cs typeface="Aptos"/>
              </a:rPr>
              <a:t>Signals arrive separately</a:t>
            </a:r>
          </a:p>
        </p:txBody>
      </p:sp>
      <p:sp>
        <p:nvSpPr>
          <p:cNvPr id="15" name="">
            <a:extLst xmlns:a="http://schemas.openxmlformats.org/drawingml/2006/main">
              <a:ext uri="{FF2B5EF4-FFF2-40B4-BE49-F238E27FC236}">
                <a16:creationId xmlns:a16="http://schemas.microsoft.com/office/drawing/2014/main" id="{E5D53992-F11A-4125-A043-1C639DC3D90B}"/>
              </a:ext>
            </a:extLst>
          </p:cNvPr>
          <p:cNvSpPr>
            <a:spLocks xmlns:a="http://schemas.openxmlformats.org/drawingml/2006/main" noGrp="1"/>
          </p:cNvSpPr>
          <p:nvPr/>
        </p:nvSpPr>
        <p:spPr>
          <a:xfrm xmlns:a="http://schemas.openxmlformats.org/drawingml/2006/main">
            <a:off x="4686300" y="4000500"/>
            <a:ext cx="255270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75" b="0">
                <a:solidFill>
                  <a:srgbClr val="2C3A4D"/>
                </a:solidFill>
                <a:latin typeface="Aptos"/>
                <a:ea typeface="Aptos"/>
                <a:cs typeface="Aptos"/>
              </a:defRPr>
            </a:pPr>
            <a:r>
              <a:rPr sz="1575" b="0">
                <a:solidFill>
                  <a:srgbClr val="2C3A4D"/>
                </a:solidFill>
                <a:latin typeface="Aptos"/>
                <a:ea typeface="Aptos"/>
                <a:cs typeface="Aptos"/>
              </a:rPr>
              <a:t>Classifier output, antivirus results, and mail verdicts keep their source.</a:t>
            </a:r>
          </a:p>
        </p:txBody>
      </p:sp>
      <p:sp>
        <p:nvSpPr>
          <p:cNvPr id="16" name="">
            <a:extLst xmlns:a="http://schemas.openxmlformats.org/drawingml/2006/main">
              <a:ext uri="{FF2B5EF4-FFF2-40B4-BE49-F238E27FC236}">
                <a16:creationId xmlns:a16="http://schemas.microsoft.com/office/drawing/2014/main" id="{749475FC-BA57-4CCE-AFDA-D012F36926E1}"/>
              </a:ext>
            </a:extLst>
          </p:cNvPr>
          <p:cNvSpPr>
            <a:spLocks xmlns:a="http://schemas.openxmlformats.org/drawingml/2006/main" noGrp="1"/>
          </p:cNvSpPr>
          <p:nvPr/>
        </p:nvSpPr>
        <p:spPr>
          <a:xfrm xmlns:a="http://schemas.openxmlformats.org/drawingml/2006/main">
            <a:off x="8077200" y="2152650"/>
            <a:ext cx="3048000" cy="316230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8426a2974f044e62">
            <a:extLst>
              <a:ext uri="{96DAC541-7B7A-43D3-8B79-37D633B846F1}">
                <asvg:svgBlip xmlns:asvg="http://schemas.microsoft.com/office/drawing/2016/SVG/main" r:embed="R7a7bdb0c1faa4d9d"/>
              </a:ext>
            </a:extLst>
          </a:blip>
          <a:stretch xmlns:a="http://schemas.openxmlformats.org/drawingml/2006/main"/>
        </p:blipFill>
        <p:spPr>
          <a:xfrm xmlns:a="http://schemas.openxmlformats.org/drawingml/2006/main">
            <a:off x="8324850" y="2419350"/>
            <a:ext cx="400050" cy="4000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A81623AD-069A-4702-A45F-FB5E20F1AF4D}"/>
              </a:ext>
            </a:extLst>
          </p:cNvPr>
          <p:cNvSpPr>
            <a:spLocks xmlns:a="http://schemas.openxmlformats.org/drawingml/2006/main" noGrp="1"/>
          </p:cNvSpPr>
          <p:nvPr/>
        </p:nvSpPr>
        <p:spPr>
          <a:xfrm xmlns:a="http://schemas.openxmlformats.org/drawingml/2006/main">
            <a:off x="8324850" y="3028950"/>
            <a:ext cx="2571750" cy="742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1243D"/>
                </a:solidFill>
                <a:latin typeface="Aptos"/>
                <a:ea typeface="Aptos"/>
                <a:cs typeface="Aptos"/>
              </a:defRPr>
            </a:pPr>
            <a:r>
              <a:rPr sz="2250" b="1">
                <a:solidFill>
                  <a:srgbClr val="11243D"/>
                </a:solidFill>
                <a:latin typeface="Aptos"/>
                <a:ea typeface="Aptos"/>
                <a:cs typeface="Aptos"/>
              </a:rPr>
              <a:t>Review needs accountability</a:t>
            </a:r>
          </a:p>
        </p:txBody>
      </p:sp>
      <p:sp>
        <p:nvSpPr>
          <p:cNvPr id="19" name="">
            <a:extLst xmlns:a="http://schemas.openxmlformats.org/drawingml/2006/main">
              <a:ext uri="{FF2B5EF4-FFF2-40B4-BE49-F238E27FC236}">
                <a16:creationId xmlns:a16="http://schemas.microsoft.com/office/drawing/2014/main" id="{1D444DC3-B999-4A33-8E65-F2E75226773E}"/>
              </a:ext>
            </a:extLst>
          </p:cNvPr>
          <p:cNvSpPr>
            <a:spLocks xmlns:a="http://schemas.openxmlformats.org/drawingml/2006/main" noGrp="1"/>
          </p:cNvSpPr>
          <p:nvPr/>
        </p:nvSpPr>
        <p:spPr>
          <a:xfrm xmlns:a="http://schemas.openxmlformats.org/drawingml/2006/main">
            <a:off x="8324850" y="4000500"/>
            <a:ext cx="255270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75" b="0">
                <a:solidFill>
                  <a:srgbClr val="2C3A4D"/>
                </a:solidFill>
                <a:latin typeface="Aptos"/>
                <a:ea typeface="Aptos"/>
                <a:cs typeface="Aptos"/>
              </a:defRPr>
            </a:pPr>
            <a:r>
              <a:rPr sz="1575" b="0">
                <a:solidFill>
                  <a:srgbClr val="2C3A4D"/>
                </a:solidFill>
                <a:latin typeface="Aptos"/>
                <a:ea typeface="Aptos"/>
                <a:cs typeface="Aptos"/>
              </a:rPr>
              <a:t>Scoped access and audit records are required for sensitive review actions.</a:t>
            </a:r>
          </a:p>
        </p:txBody>
      </p:sp>
    </p:spTree>
    <p:extLst>
      <p:ext uri="{BB962C8B-B14F-4D97-AF65-F5344CB8AC3E}">
        <p14:creationId xmlns:p14="http://schemas.microsoft.com/office/powerpoint/2010/main" val="265359426"/>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BD35CEB-BA36-4EC5-BB6D-95F9383333D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4EE"/>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BA9FF6B4-ABDB-4035-91B4-A3652EA649B5}"/>
              </a:ext>
            </a:extLst>
          </p:cNvPr>
          <p:cNvSpPr>
            <a:spLocks xmlns:a="http://schemas.openxmlformats.org/drawingml/2006/main" noGrp="1"/>
          </p:cNvSpPr>
          <p:nvPr/>
        </p:nvSpPr>
        <p:spPr>
          <a:xfrm xmlns:a="http://schemas.openxmlformats.org/drawingml/2006/main">
            <a:off x="609600" y="514350"/>
            <a:ext cx="85725" cy="85725"/>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2BE5291B-A5ED-4BB4-ADB0-8CD1ECEE30CE}"/>
              </a:ext>
            </a:extLst>
          </p:cNvPr>
          <p:cNvSpPr>
            <a:spLocks xmlns:a="http://schemas.openxmlformats.org/drawingml/2006/main" noGrp="1"/>
          </p:cNvSpPr>
          <p:nvPr/>
        </p:nvSpPr>
        <p:spPr>
          <a:xfrm xmlns:a="http://schemas.openxmlformats.org/drawingml/2006/main">
            <a:off x="781050" y="400050"/>
            <a:ext cx="49530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200" b="1">
                <a:solidFill>
                  <a:srgbClr val="0B5CAD"/>
                </a:solidFill>
                <a:latin typeface="Aptos"/>
                <a:ea typeface="Aptos"/>
                <a:cs typeface="Aptos"/>
              </a:defRPr>
            </a:pPr>
            <a:r>
              <a:rPr sz="1200" b="1">
                <a:solidFill>
                  <a:srgbClr val="0B5CAD"/>
                </a:solidFill>
                <a:latin typeface="Aptos"/>
                <a:ea typeface="Aptos"/>
                <a:cs typeface="Aptos"/>
              </a:rPr>
              <a:t>SOLUTION</a:t>
            </a:r>
          </a:p>
        </p:txBody>
      </p:sp>
      <p:sp>
        <p:nvSpPr>
          <p:cNvPr id="4" name="">
            <a:extLst xmlns:a="http://schemas.openxmlformats.org/drawingml/2006/main">
              <a:ext uri="{FF2B5EF4-FFF2-40B4-BE49-F238E27FC236}">
                <a16:creationId xmlns:a16="http://schemas.microsoft.com/office/drawing/2014/main" id="{692424B8-9D0F-4777-9D72-2C799EB805F2}"/>
              </a:ext>
            </a:extLst>
          </p:cNvPr>
          <p:cNvSpPr>
            <a:spLocks xmlns:a="http://schemas.openxmlformats.org/drawingml/2006/main" noGrp="1"/>
          </p:cNvSpPr>
          <p:nvPr/>
        </p:nvSpPr>
        <p:spPr>
          <a:xfrm xmlns:a="http://schemas.openxmlformats.org/drawingml/2006/main">
            <a:off x="609600" y="781050"/>
            <a:ext cx="10001250" cy="1009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600" b="1">
                <a:solidFill>
                  <a:srgbClr val="11243D"/>
                </a:solidFill>
                <a:latin typeface="Aptos Display"/>
                <a:ea typeface="Aptos Display"/>
                <a:cs typeface="Aptos Display"/>
              </a:defRPr>
            </a:pPr>
            <a:r>
              <a:rPr sz="3600" b="1">
                <a:solidFill>
                  <a:srgbClr val="11243D"/>
                </a:solidFill>
                <a:latin typeface="Aptos Display"/>
                <a:ea typeface="Aptos Display"/>
                <a:cs typeface="Aptos Display"/>
              </a:rPr>
              <a:t>Normalize once, then analyze and review with context.</a:t>
            </a:r>
          </a:p>
        </p:txBody>
      </p:sp>
      <p:sp>
        <p:nvSpPr>
          <p:cNvPr id="5" name="">
            <a:extLst xmlns:a="http://schemas.openxmlformats.org/drawingml/2006/main">
              <a:ext uri="{FF2B5EF4-FFF2-40B4-BE49-F238E27FC236}">
                <a16:creationId xmlns:a16="http://schemas.microsoft.com/office/drawing/2014/main" id="{69E911D9-59A4-4F4A-ADB6-89898B6779C5}"/>
              </a:ext>
            </a:extLst>
          </p:cNvPr>
          <p:cNvSpPr>
            <a:spLocks xmlns:a="http://schemas.openxmlformats.org/drawingml/2006/main" noGrp="1"/>
          </p:cNvSpPr>
          <p:nvPr/>
        </p:nvSpPr>
        <p:spPr>
          <a:xfrm xmlns:a="http://schemas.openxmlformats.org/drawingml/2006/main">
            <a:off x="609600" y="6400800"/>
            <a:ext cx="9810750" cy="9525"/>
          </a:xfrm>
          <a:prstGeom xmlns:a="http://schemas.openxmlformats.org/drawingml/2006/main" prst="rect">
            <a:avLst/>
          </a:prstGeom>
          <a:solidFill xmlns:a="http://schemas.openxmlformats.org/drawingml/2006/main">
            <a:srgbClr val="C7D2E1"/>
          </a:solidFill>
          <a:ln xmlns:a="http://schemas.openxmlformats.org/drawingml/2006/main" w="0">
            <a:solidFill>
              <a:srgbClr val="000000">
                <a:alpha val="0"/>
              </a:srgbClr>
            </a:solidFill>
            <a:prstDash val="solid"/>
          </a:ln>
        </p:spPr>
      </p:sp>
      <p:sp>
        <p:nvSpPr>
          <p:cNvPr id="6" name="">
            <a:extLst xmlns:a="http://schemas.openxmlformats.org/drawingml/2006/main">
              <a:ext uri="{FF2B5EF4-FFF2-40B4-BE49-F238E27FC236}">
                <a16:creationId xmlns:a16="http://schemas.microsoft.com/office/drawing/2014/main" id="{D2207E7F-0123-4D8C-98C4-2CE99D705944}"/>
              </a:ext>
            </a:extLst>
          </p:cNvPr>
          <p:cNvSpPr>
            <a:spLocks xmlns:a="http://schemas.openxmlformats.org/drawingml/2006/main" noGrp="1"/>
          </p:cNvSpPr>
          <p:nvPr/>
        </p:nvSpPr>
        <p:spPr>
          <a:xfrm xmlns:a="http://schemas.openxmlformats.org/drawingml/2006/main">
            <a:off x="609600" y="6457950"/>
            <a:ext cx="3429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2C3A4D"/>
                </a:solidFill>
                <a:latin typeface="Aptos"/>
                <a:ea typeface="Aptos"/>
                <a:cs typeface="Aptos"/>
              </a:defRPr>
            </a:pPr>
            <a:r>
              <a:rPr sz="1050" b="0">
                <a:solidFill>
                  <a:srgbClr val="2C3A4D"/>
                </a:solidFill>
                <a:latin typeface="Aptos"/>
                <a:ea typeface="Aptos"/>
                <a:cs typeface="Aptos"/>
              </a:rPr>
              <a:t>Cloud Email Analyzer</a:t>
            </a:r>
          </a:p>
        </p:txBody>
      </p:sp>
      <p:sp>
        <p:nvSpPr>
          <p:cNvPr id="7" name="">
            <a:extLst xmlns:a="http://schemas.openxmlformats.org/drawingml/2006/main">
              <a:ext uri="{FF2B5EF4-FFF2-40B4-BE49-F238E27FC236}">
                <a16:creationId xmlns:a16="http://schemas.microsoft.com/office/drawing/2014/main" id="{FD670C0A-578C-40A7-A420-B8F7C1286BD7}"/>
              </a:ext>
            </a:extLst>
          </p:cNvPr>
          <p:cNvSpPr>
            <a:spLocks xmlns:a="http://schemas.openxmlformats.org/drawingml/2006/main" noGrp="1"/>
          </p:cNvSpPr>
          <p:nvPr/>
        </p:nvSpPr>
        <p:spPr>
          <a:xfrm xmlns:a="http://schemas.openxmlformats.org/drawingml/2006/main">
            <a:off x="11001375" y="6438900"/>
            <a:ext cx="571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1050" b="0">
                <a:solidFill>
                  <a:srgbClr val="2C3A4D"/>
                </a:solidFill>
                <a:latin typeface="Aptos"/>
                <a:ea typeface="Aptos"/>
                <a:cs typeface="Aptos"/>
              </a:defRPr>
            </a:pPr>
            <a:r>
              <a:rPr sz="1050" b="0">
                <a:solidFill>
                  <a:srgbClr val="2C3A4D"/>
                </a:solidFill>
                <a:latin typeface="Aptos"/>
                <a:ea typeface="Aptos"/>
                <a:cs typeface="Aptos"/>
              </a:rPr>
              <a:t>03</a:t>
            </a:r>
          </a:p>
        </p:txBody>
      </p:sp>
      <p:sp>
        <p:nvSpPr>
          <p:cNvPr id="8" name="">
            <a:extLst xmlns:a="http://schemas.openxmlformats.org/drawingml/2006/main">
              <a:ext uri="{FF2B5EF4-FFF2-40B4-BE49-F238E27FC236}">
                <a16:creationId xmlns:a16="http://schemas.microsoft.com/office/drawing/2014/main" id="{A27A8937-CBF5-4334-878A-58AB1418F482}"/>
              </a:ext>
            </a:extLst>
          </p:cNvPr>
          <p:cNvSpPr>
            <a:spLocks xmlns:a="http://schemas.openxmlformats.org/drawingml/2006/main" noGrp="1"/>
          </p:cNvSpPr>
          <p:nvPr/>
        </p:nvSpPr>
        <p:spPr>
          <a:xfrm xmlns:a="http://schemas.openxmlformats.org/drawingml/2006/main">
            <a:off x="800100" y="2514600"/>
            <a:ext cx="2095500" cy="167640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9" name="">
            <a:extLst xmlns:a="http://schemas.openxmlformats.org/drawingml/2006/main">
              <a:ext uri="{FF2B5EF4-FFF2-40B4-BE49-F238E27FC236}">
                <a16:creationId xmlns:a16="http://schemas.microsoft.com/office/drawing/2014/main" id="{CFA21CDE-95A5-406F-9883-E05BFA2B3614}"/>
              </a:ext>
            </a:extLst>
          </p:cNvPr>
          <p:cNvSpPr>
            <a:spLocks xmlns:a="http://schemas.openxmlformats.org/drawingml/2006/main" noGrp="1"/>
          </p:cNvSpPr>
          <p:nvPr/>
        </p:nvSpPr>
        <p:spPr>
          <a:xfrm xmlns:a="http://schemas.openxmlformats.org/drawingml/2006/main">
            <a:off x="971550" y="2686050"/>
            <a:ext cx="47625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2025" b="1">
                <a:solidFill>
                  <a:srgbClr val="0B5CAD"/>
                </a:solidFill>
                <a:latin typeface="Aptos"/>
                <a:ea typeface="Aptos"/>
                <a:cs typeface="Aptos"/>
              </a:defRPr>
            </a:pPr>
            <a:r>
              <a:rPr sz="2025" b="1">
                <a:solidFill>
                  <a:srgbClr val="0B5CAD"/>
                </a:solidFill>
                <a:latin typeface="Aptos"/>
                <a:ea typeface="Aptos"/>
                <a:cs typeface="Aptos"/>
              </a:rPr>
              <a:t>01</a:t>
            </a:r>
          </a:p>
        </p:txBody>
      </p:sp>
      <p:sp>
        <p:nvSpPr>
          <p:cNvPr id="10" name="">
            <a:extLst xmlns:a="http://schemas.openxmlformats.org/drawingml/2006/main">
              <a:ext uri="{FF2B5EF4-FFF2-40B4-BE49-F238E27FC236}">
                <a16:creationId xmlns:a16="http://schemas.microsoft.com/office/drawing/2014/main" id="{6C883A75-9881-4698-97BC-3225CF802360}"/>
              </a:ext>
            </a:extLst>
          </p:cNvPr>
          <p:cNvSpPr>
            <a:spLocks xmlns:a="http://schemas.openxmlformats.org/drawingml/2006/main" noGrp="1"/>
          </p:cNvSpPr>
          <p:nvPr/>
        </p:nvSpPr>
        <p:spPr>
          <a:xfrm xmlns:a="http://schemas.openxmlformats.org/drawingml/2006/main">
            <a:off x="971550" y="3124200"/>
            <a:ext cx="16573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2550" b="1">
                <a:solidFill>
                  <a:srgbClr val="11243D"/>
                </a:solidFill>
                <a:latin typeface="Aptos"/>
                <a:ea typeface="Aptos"/>
                <a:cs typeface="Aptos"/>
              </a:defRPr>
            </a:pPr>
            <a:r>
              <a:rPr sz="2550" b="1">
                <a:solidFill>
                  <a:srgbClr val="11243D"/>
                </a:solidFill>
                <a:latin typeface="Aptos"/>
                <a:ea typeface="Aptos"/>
                <a:cs typeface="Aptos"/>
              </a:rPr>
              <a:t>Receive</a:t>
            </a:r>
          </a:p>
        </p:txBody>
      </p:sp>
      <p:sp>
        <p:nvSpPr>
          <p:cNvPr id="11" name="">
            <a:extLst xmlns:a="http://schemas.openxmlformats.org/drawingml/2006/main">
              <a:ext uri="{FF2B5EF4-FFF2-40B4-BE49-F238E27FC236}">
                <a16:creationId xmlns:a16="http://schemas.microsoft.com/office/drawing/2014/main" id="{8032CDB2-3461-4243-AE06-7076B325F4F1}"/>
              </a:ext>
            </a:extLst>
          </p:cNvPr>
          <p:cNvSpPr>
            <a:spLocks xmlns:a="http://schemas.openxmlformats.org/drawingml/2006/main" noGrp="1"/>
          </p:cNvSpPr>
          <p:nvPr/>
        </p:nvSpPr>
        <p:spPr>
          <a:xfrm xmlns:a="http://schemas.openxmlformats.org/drawingml/2006/main">
            <a:off x="971550" y="3562350"/>
            <a:ext cx="17145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0">
                <a:solidFill>
                  <a:srgbClr val="2C3A4D"/>
                </a:solidFill>
                <a:latin typeface="Aptos"/>
                <a:ea typeface="Aptos"/>
                <a:cs typeface="Aptos"/>
              </a:defRPr>
            </a:pPr>
            <a:r>
              <a:rPr sz="1650" b="0">
                <a:solidFill>
                  <a:srgbClr val="2C3A4D"/>
                </a:solidFill>
                <a:latin typeface="Aptos"/>
                <a:ea typeface="Aptos"/>
                <a:cs typeface="Aptos"/>
              </a:rPr>
              <a:t>SES and Route53 ingress</a:t>
            </a:r>
          </a:p>
        </p:txBody>
      </p:sp>
      <p:sp>
        <p:nvSpPr>
          <p:cNvPr id="12" name="">
            <a:extLst xmlns:a="http://schemas.openxmlformats.org/drawingml/2006/main">
              <a:ext uri="{FF2B5EF4-FFF2-40B4-BE49-F238E27FC236}">
                <a16:creationId xmlns:a16="http://schemas.microsoft.com/office/drawing/2014/main" id="{F05B01AF-A363-429A-8F1E-EDC88DCF7009}"/>
              </a:ext>
            </a:extLst>
          </p:cNvPr>
          <p:cNvSpPr>
            <a:spLocks xmlns:a="http://schemas.openxmlformats.org/drawingml/2006/main" noGrp="1"/>
          </p:cNvSpPr>
          <p:nvPr/>
        </p:nvSpPr>
        <p:spPr>
          <a:xfrm xmlns:a="http://schemas.openxmlformats.org/drawingml/2006/main">
            <a:off x="3048000" y="3200400"/>
            <a:ext cx="361950" cy="266700"/>
          </a:xfrm>
          <a:prstGeom xmlns:a="http://schemas.openxmlformats.org/drawingml/2006/main" prst="rightArrow">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D8B77CDD-06F6-46AD-A29E-BE8B9BB0E558}"/>
              </a:ext>
            </a:extLst>
          </p:cNvPr>
          <p:cNvSpPr>
            <a:spLocks xmlns:a="http://schemas.openxmlformats.org/drawingml/2006/main" noGrp="1"/>
          </p:cNvSpPr>
          <p:nvPr/>
        </p:nvSpPr>
        <p:spPr>
          <a:xfrm xmlns:a="http://schemas.openxmlformats.org/drawingml/2006/main">
            <a:off x="3514725" y="2514600"/>
            <a:ext cx="2095500" cy="167640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14" name="">
            <a:extLst xmlns:a="http://schemas.openxmlformats.org/drawingml/2006/main">
              <a:ext uri="{FF2B5EF4-FFF2-40B4-BE49-F238E27FC236}">
                <a16:creationId xmlns:a16="http://schemas.microsoft.com/office/drawing/2014/main" id="{C5AA39C9-2A3A-4246-BED7-4EDE77CC984D}"/>
              </a:ext>
            </a:extLst>
          </p:cNvPr>
          <p:cNvSpPr>
            <a:spLocks xmlns:a="http://schemas.openxmlformats.org/drawingml/2006/main" noGrp="1"/>
          </p:cNvSpPr>
          <p:nvPr/>
        </p:nvSpPr>
        <p:spPr>
          <a:xfrm xmlns:a="http://schemas.openxmlformats.org/drawingml/2006/main">
            <a:off x="3686175" y="2686050"/>
            <a:ext cx="47625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2025" b="1">
                <a:solidFill>
                  <a:srgbClr val="0B5CAD"/>
                </a:solidFill>
                <a:latin typeface="Aptos"/>
                <a:ea typeface="Aptos"/>
                <a:cs typeface="Aptos"/>
              </a:defRPr>
            </a:pPr>
            <a:r>
              <a:rPr sz="2025" b="1">
                <a:solidFill>
                  <a:srgbClr val="0B5CAD"/>
                </a:solidFill>
                <a:latin typeface="Aptos"/>
                <a:ea typeface="Aptos"/>
                <a:cs typeface="Aptos"/>
              </a:rPr>
              <a:t>02</a:t>
            </a:r>
          </a:p>
        </p:txBody>
      </p:sp>
      <p:sp>
        <p:nvSpPr>
          <p:cNvPr id="15" name="">
            <a:extLst xmlns:a="http://schemas.openxmlformats.org/drawingml/2006/main">
              <a:ext uri="{FF2B5EF4-FFF2-40B4-BE49-F238E27FC236}">
                <a16:creationId xmlns:a16="http://schemas.microsoft.com/office/drawing/2014/main" id="{4D91B0F8-C6E2-405D-A2EC-0E805A53B96B}"/>
              </a:ext>
            </a:extLst>
          </p:cNvPr>
          <p:cNvSpPr>
            <a:spLocks xmlns:a="http://schemas.openxmlformats.org/drawingml/2006/main" noGrp="1"/>
          </p:cNvSpPr>
          <p:nvPr/>
        </p:nvSpPr>
        <p:spPr>
          <a:xfrm xmlns:a="http://schemas.openxmlformats.org/drawingml/2006/main">
            <a:off x="3686175" y="3124200"/>
            <a:ext cx="16573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2550" b="1">
                <a:solidFill>
                  <a:srgbClr val="11243D"/>
                </a:solidFill>
                <a:latin typeface="Aptos"/>
                <a:ea typeface="Aptos"/>
                <a:cs typeface="Aptos"/>
              </a:defRPr>
            </a:pPr>
            <a:r>
              <a:rPr sz="2550" b="1">
                <a:solidFill>
                  <a:srgbClr val="11243D"/>
                </a:solidFill>
                <a:latin typeface="Aptos"/>
                <a:ea typeface="Aptos"/>
                <a:cs typeface="Aptos"/>
              </a:rPr>
              <a:t>Preserve</a:t>
            </a:r>
          </a:p>
        </p:txBody>
      </p:sp>
      <p:sp>
        <p:nvSpPr>
          <p:cNvPr id="16" name="">
            <a:extLst xmlns:a="http://schemas.openxmlformats.org/drawingml/2006/main">
              <a:ext uri="{FF2B5EF4-FFF2-40B4-BE49-F238E27FC236}">
                <a16:creationId xmlns:a16="http://schemas.microsoft.com/office/drawing/2014/main" id="{62868D72-1DB0-4D17-825A-C05602AAA233}"/>
              </a:ext>
            </a:extLst>
          </p:cNvPr>
          <p:cNvSpPr>
            <a:spLocks xmlns:a="http://schemas.openxmlformats.org/drawingml/2006/main" noGrp="1"/>
          </p:cNvSpPr>
          <p:nvPr/>
        </p:nvSpPr>
        <p:spPr>
          <a:xfrm xmlns:a="http://schemas.openxmlformats.org/drawingml/2006/main">
            <a:off x="3686175" y="3562350"/>
            <a:ext cx="17145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0">
                <a:solidFill>
                  <a:srgbClr val="2C3A4D"/>
                </a:solidFill>
                <a:latin typeface="Aptos"/>
                <a:ea typeface="Aptos"/>
                <a:cs typeface="Aptos"/>
              </a:defRPr>
            </a:pPr>
            <a:r>
              <a:rPr sz="1650" b="0">
                <a:solidFill>
                  <a:srgbClr val="2C3A4D"/>
                </a:solidFill>
                <a:latin typeface="Aptos"/>
                <a:ea typeface="Aptos"/>
                <a:cs typeface="Aptos"/>
              </a:rPr>
              <a:t>Raw MIME retained in S3</a:t>
            </a:r>
          </a:p>
        </p:txBody>
      </p:sp>
      <p:sp>
        <p:nvSpPr>
          <p:cNvPr id="17" name="">
            <a:extLst xmlns:a="http://schemas.openxmlformats.org/drawingml/2006/main">
              <a:ext uri="{FF2B5EF4-FFF2-40B4-BE49-F238E27FC236}">
                <a16:creationId xmlns:a16="http://schemas.microsoft.com/office/drawing/2014/main" id="{AC64B130-9099-4F4C-BE05-F4516C16EC1E}"/>
              </a:ext>
            </a:extLst>
          </p:cNvPr>
          <p:cNvSpPr>
            <a:spLocks xmlns:a="http://schemas.openxmlformats.org/drawingml/2006/main" noGrp="1"/>
          </p:cNvSpPr>
          <p:nvPr/>
        </p:nvSpPr>
        <p:spPr>
          <a:xfrm xmlns:a="http://schemas.openxmlformats.org/drawingml/2006/main">
            <a:off x="5762625" y="3200400"/>
            <a:ext cx="361950" cy="266700"/>
          </a:xfrm>
          <a:prstGeom xmlns:a="http://schemas.openxmlformats.org/drawingml/2006/main" prst="rightArrow">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4C826F5E-EF30-4E31-8864-15A50954AE1C}"/>
              </a:ext>
            </a:extLst>
          </p:cNvPr>
          <p:cNvSpPr>
            <a:spLocks xmlns:a="http://schemas.openxmlformats.org/drawingml/2006/main" noGrp="1"/>
          </p:cNvSpPr>
          <p:nvPr/>
        </p:nvSpPr>
        <p:spPr>
          <a:xfrm xmlns:a="http://schemas.openxmlformats.org/drawingml/2006/main">
            <a:off x="6229350" y="2514600"/>
            <a:ext cx="2095500" cy="1676400"/>
          </a:xfrm>
          <a:prstGeom xmlns:a="http://schemas.openxmlformats.org/drawingml/2006/main" prst="rect">
            <a:avLst/>
          </a:prstGeom>
          <a:solidFill xmlns:a="http://schemas.openxmlformats.org/drawingml/2006/main">
            <a:srgbClr val="EAF2FB"/>
          </a:solidFill>
          <a:ln xmlns:a="http://schemas.openxmlformats.org/drawingml/2006/main" w="9525">
            <a:solidFill>
              <a:srgbClr val="C7D2E1"/>
            </a:solidFill>
            <a:prstDash val="solid"/>
          </a:ln>
        </p:spPr>
      </p:sp>
      <p:sp>
        <p:nvSpPr>
          <p:cNvPr id="19" name="">
            <a:extLst xmlns:a="http://schemas.openxmlformats.org/drawingml/2006/main">
              <a:ext uri="{FF2B5EF4-FFF2-40B4-BE49-F238E27FC236}">
                <a16:creationId xmlns:a16="http://schemas.microsoft.com/office/drawing/2014/main" id="{7084CE64-748B-4DA2-AB88-B1294E29DA73}"/>
              </a:ext>
            </a:extLst>
          </p:cNvPr>
          <p:cNvSpPr>
            <a:spLocks xmlns:a="http://schemas.openxmlformats.org/drawingml/2006/main" noGrp="1"/>
          </p:cNvSpPr>
          <p:nvPr/>
        </p:nvSpPr>
        <p:spPr>
          <a:xfrm xmlns:a="http://schemas.openxmlformats.org/drawingml/2006/main">
            <a:off x="6400800" y="2686050"/>
            <a:ext cx="47625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2025" b="1">
                <a:solidFill>
                  <a:srgbClr val="0B5CAD"/>
                </a:solidFill>
                <a:latin typeface="Aptos"/>
                <a:ea typeface="Aptos"/>
                <a:cs typeface="Aptos"/>
              </a:defRPr>
            </a:pPr>
            <a:r>
              <a:rPr sz="2025" b="1">
                <a:solidFill>
                  <a:srgbClr val="0B5CAD"/>
                </a:solidFill>
                <a:latin typeface="Aptos"/>
                <a:ea typeface="Aptos"/>
                <a:cs typeface="Aptos"/>
              </a:rPr>
              <a:t>03</a:t>
            </a:r>
          </a:p>
        </p:txBody>
      </p:sp>
      <p:sp>
        <p:nvSpPr>
          <p:cNvPr id="20" name="">
            <a:extLst xmlns:a="http://schemas.openxmlformats.org/drawingml/2006/main">
              <a:ext uri="{FF2B5EF4-FFF2-40B4-BE49-F238E27FC236}">
                <a16:creationId xmlns:a16="http://schemas.microsoft.com/office/drawing/2014/main" id="{4BA0F399-09A2-4BE4-B42A-87A3C9A02FD6}"/>
              </a:ext>
            </a:extLst>
          </p:cNvPr>
          <p:cNvSpPr>
            <a:spLocks xmlns:a="http://schemas.openxmlformats.org/drawingml/2006/main" noGrp="1"/>
          </p:cNvSpPr>
          <p:nvPr/>
        </p:nvSpPr>
        <p:spPr>
          <a:xfrm xmlns:a="http://schemas.openxmlformats.org/drawingml/2006/main">
            <a:off x="6400800" y="3124200"/>
            <a:ext cx="16573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2550" b="1">
                <a:solidFill>
                  <a:srgbClr val="11243D"/>
                </a:solidFill>
                <a:latin typeface="Aptos"/>
                <a:ea typeface="Aptos"/>
                <a:cs typeface="Aptos"/>
              </a:defRPr>
            </a:pPr>
            <a:r>
              <a:rPr sz="2550" b="1">
                <a:solidFill>
                  <a:srgbClr val="11243D"/>
                </a:solidFill>
                <a:latin typeface="Aptos"/>
                <a:ea typeface="Aptos"/>
                <a:cs typeface="Aptos"/>
              </a:rPr>
              <a:t>Analyze</a:t>
            </a:r>
          </a:p>
        </p:txBody>
      </p:sp>
      <p:sp>
        <p:nvSpPr>
          <p:cNvPr id="21" name="">
            <a:extLst xmlns:a="http://schemas.openxmlformats.org/drawingml/2006/main">
              <a:ext uri="{FF2B5EF4-FFF2-40B4-BE49-F238E27FC236}">
                <a16:creationId xmlns:a16="http://schemas.microsoft.com/office/drawing/2014/main" id="{74BB509F-164A-4A3B-A3EA-A75346C8378F}"/>
              </a:ext>
            </a:extLst>
          </p:cNvPr>
          <p:cNvSpPr>
            <a:spLocks xmlns:a="http://schemas.openxmlformats.org/drawingml/2006/main" noGrp="1"/>
          </p:cNvSpPr>
          <p:nvPr/>
        </p:nvSpPr>
        <p:spPr>
          <a:xfrm xmlns:a="http://schemas.openxmlformats.org/drawingml/2006/main">
            <a:off x="6400800" y="3562350"/>
            <a:ext cx="17145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0">
                <a:solidFill>
                  <a:srgbClr val="2C3A4D"/>
                </a:solidFill>
                <a:latin typeface="Aptos"/>
                <a:ea typeface="Aptos"/>
                <a:cs typeface="Aptos"/>
              </a:defRPr>
            </a:pPr>
            <a:r>
              <a:rPr sz="1650" b="0">
                <a:solidFill>
                  <a:srgbClr val="2C3A4D"/>
                </a:solidFill>
                <a:latin typeface="Aptos"/>
                <a:ea typeface="Aptos"/>
                <a:cs typeface="Aptos"/>
              </a:rPr>
              <a:t>Parse, classify, scan</a:t>
            </a:r>
          </a:p>
        </p:txBody>
      </p:sp>
      <p:sp>
        <p:nvSpPr>
          <p:cNvPr id="22" name="">
            <a:extLst xmlns:a="http://schemas.openxmlformats.org/drawingml/2006/main">
              <a:ext uri="{FF2B5EF4-FFF2-40B4-BE49-F238E27FC236}">
                <a16:creationId xmlns:a16="http://schemas.microsoft.com/office/drawing/2014/main" id="{4F78DAB8-8910-4554-A070-AFDA3E288839}"/>
              </a:ext>
            </a:extLst>
          </p:cNvPr>
          <p:cNvSpPr>
            <a:spLocks xmlns:a="http://schemas.openxmlformats.org/drawingml/2006/main" noGrp="1"/>
          </p:cNvSpPr>
          <p:nvPr/>
        </p:nvSpPr>
        <p:spPr>
          <a:xfrm xmlns:a="http://schemas.openxmlformats.org/drawingml/2006/main">
            <a:off x="8477250" y="3200400"/>
            <a:ext cx="361950" cy="266700"/>
          </a:xfrm>
          <a:prstGeom xmlns:a="http://schemas.openxmlformats.org/drawingml/2006/main" prst="rightArrow">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00660064-916E-4D43-A3E0-875E2C476AA1}"/>
              </a:ext>
            </a:extLst>
          </p:cNvPr>
          <p:cNvSpPr>
            <a:spLocks xmlns:a="http://schemas.openxmlformats.org/drawingml/2006/main" noGrp="1"/>
          </p:cNvSpPr>
          <p:nvPr/>
        </p:nvSpPr>
        <p:spPr>
          <a:xfrm xmlns:a="http://schemas.openxmlformats.org/drawingml/2006/main">
            <a:off x="8943975" y="2514600"/>
            <a:ext cx="2095500" cy="167640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24" name="">
            <a:extLst xmlns:a="http://schemas.openxmlformats.org/drawingml/2006/main">
              <a:ext uri="{FF2B5EF4-FFF2-40B4-BE49-F238E27FC236}">
                <a16:creationId xmlns:a16="http://schemas.microsoft.com/office/drawing/2014/main" id="{29BC9775-3D0A-41F6-8C61-1EAAFD5A2317}"/>
              </a:ext>
            </a:extLst>
          </p:cNvPr>
          <p:cNvSpPr>
            <a:spLocks xmlns:a="http://schemas.openxmlformats.org/drawingml/2006/main" noGrp="1"/>
          </p:cNvSpPr>
          <p:nvPr/>
        </p:nvSpPr>
        <p:spPr>
          <a:xfrm xmlns:a="http://schemas.openxmlformats.org/drawingml/2006/main">
            <a:off x="9115425" y="2686050"/>
            <a:ext cx="47625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2025" b="1">
                <a:solidFill>
                  <a:srgbClr val="0B5CAD"/>
                </a:solidFill>
                <a:latin typeface="Aptos"/>
                <a:ea typeface="Aptos"/>
                <a:cs typeface="Aptos"/>
              </a:defRPr>
            </a:pPr>
            <a:r>
              <a:rPr sz="2025" b="1">
                <a:solidFill>
                  <a:srgbClr val="0B5CAD"/>
                </a:solidFill>
                <a:latin typeface="Aptos"/>
                <a:ea typeface="Aptos"/>
                <a:cs typeface="Aptos"/>
              </a:rPr>
              <a:t>04</a:t>
            </a:r>
          </a:p>
        </p:txBody>
      </p:sp>
      <p:sp>
        <p:nvSpPr>
          <p:cNvPr id="25" name="">
            <a:extLst xmlns:a="http://schemas.openxmlformats.org/drawingml/2006/main">
              <a:ext uri="{FF2B5EF4-FFF2-40B4-BE49-F238E27FC236}">
                <a16:creationId xmlns:a16="http://schemas.microsoft.com/office/drawing/2014/main" id="{B35BFD2F-B7ED-4382-9E2B-94873DA25C25}"/>
              </a:ext>
            </a:extLst>
          </p:cNvPr>
          <p:cNvSpPr>
            <a:spLocks xmlns:a="http://schemas.openxmlformats.org/drawingml/2006/main" noGrp="1"/>
          </p:cNvSpPr>
          <p:nvPr/>
        </p:nvSpPr>
        <p:spPr>
          <a:xfrm xmlns:a="http://schemas.openxmlformats.org/drawingml/2006/main">
            <a:off x="9115425" y="3124200"/>
            <a:ext cx="16573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2550" b="1">
                <a:solidFill>
                  <a:srgbClr val="11243D"/>
                </a:solidFill>
                <a:latin typeface="Aptos"/>
                <a:ea typeface="Aptos"/>
                <a:cs typeface="Aptos"/>
              </a:defRPr>
            </a:pPr>
            <a:r>
              <a:rPr sz="2550" b="1">
                <a:solidFill>
                  <a:srgbClr val="11243D"/>
                </a:solidFill>
                <a:latin typeface="Aptos"/>
                <a:ea typeface="Aptos"/>
                <a:cs typeface="Aptos"/>
              </a:rPr>
              <a:t>Review</a:t>
            </a:r>
          </a:p>
        </p:txBody>
      </p:sp>
      <p:sp>
        <p:nvSpPr>
          <p:cNvPr id="26" name="">
            <a:extLst xmlns:a="http://schemas.openxmlformats.org/drawingml/2006/main">
              <a:ext uri="{FF2B5EF4-FFF2-40B4-BE49-F238E27FC236}">
                <a16:creationId xmlns:a16="http://schemas.microsoft.com/office/drawing/2014/main" id="{706B6B8D-D3CB-4758-9DDE-2C6D34E5121A}"/>
              </a:ext>
            </a:extLst>
          </p:cNvPr>
          <p:cNvSpPr>
            <a:spLocks xmlns:a="http://schemas.openxmlformats.org/drawingml/2006/main" noGrp="1"/>
          </p:cNvSpPr>
          <p:nvPr/>
        </p:nvSpPr>
        <p:spPr>
          <a:xfrm xmlns:a="http://schemas.openxmlformats.org/drawingml/2006/main">
            <a:off x="9115425" y="3562350"/>
            <a:ext cx="17145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0">
                <a:solidFill>
                  <a:srgbClr val="2C3A4D"/>
                </a:solidFill>
                <a:latin typeface="Aptos"/>
                <a:ea typeface="Aptos"/>
                <a:cs typeface="Aptos"/>
              </a:defRPr>
            </a:pPr>
            <a:r>
              <a:rPr sz="1650" b="0">
                <a:solidFill>
                  <a:srgbClr val="2C3A4D"/>
                </a:solidFill>
                <a:latin typeface="Aptos"/>
                <a:ea typeface="Aptos"/>
                <a:cs typeface="Aptos"/>
              </a:rPr>
              <a:t>FastAPI and React dashboard</a:t>
            </a:r>
          </a:p>
        </p:txBody>
      </p:sp>
      <p:sp>
        <p:nvSpPr>
          <p:cNvPr id="27" name="">
            <a:extLst xmlns:a="http://schemas.openxmlformats.org/drawingml/2006/main">
              <a:ext uri="{FF2B5EF4-FFF2-40B4-BE49-F238E27FC236}">
                <a16:creationId xmlns:a16="http://schemas.microsoft.com/office/drawing/2014/main" id="{3340F280-B5F3-4911-B81A-3E1773D34E94}"/>
              </a:ext>
            </a:extLst>
          </p:cNvPr>
          <p:cNvSpPr>
            <a:spLocks xmlns:a="http://schemas.openxmlformats.org/drawingml/2006/main" noGrp="1"/>
          </p:cNvSpPr>
          <p:nvPr/>
        </p:nvSpPr>
        <p:spPr>
          <a:xfrm xmlns:a="http://schemas.openxmlformats.org/drawingml/2006/main">
            <a:off x="1809750" y="4819650"/>
            <a:ext cx="8572500" cy="19050"/>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1477EAEF-0CA4-401B-8F39-7F08F7CFA2F1}"/>
              </a:ext>
            </a:extLst>
          </p:cNvPr>
          <p:cNvSpPr>
            <a:spLocks xmlns:a="http://schemas.openxmlformats.org/drawingml/2006/main" noGrp="1"/>
          </p:cNvSpPr>
          <p:nvPr/>
        </p:nvSpPr>
        <p:spPr>
          <a:xfrm xmlns:a="http://schemas.openxmlformats.org/drawingml/2006/main">
            <a:off x="2190750" y="5029200"/>
            <a:ext cx="7810500" cy="571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2100" b="1">
                <a:solidFill>
                  <a:srgbClr val="11243D"/>
                </a:solidFill>
                <a:latin typeface="Aptos"/>
                <a:ea typeface="Aptos"/>
                <a:cs typeface="Aptos"/>
              </a:defRPr>
            </a:pPr>
            <a:r>
              <a:rPr sz="2100" b="1">
                <a:solidFill>
                  <a:srgbClr val="11243D"/>
                </a:solidFill>
                <a:latin typeface="Aptos"/>
                <a:ea typeface="Aptos"/>
                <a:cs typeface="Aptos"/>
              </a:rPr>
              <a:t>Canonical MailReceived event carries metadata and storage pointers, not raw email bodies.</a:t>
            </a:r>
          </a:p>
        </p:txBody>
      </p:sp>
    </p:spTree>
    <p:extLst>
      <p:ext uri="{BB962C8B-B14F-4D97-AF65-F5344CB8AC3E}">
        <p14:creationId xmlns:p14="http://schemas.microsoft.com/office/powerpoint/2010/main" val="18706998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2F72AEA-2D0D-4F88-B283-BABEE92348B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4EE"/>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50DAE344-3B02-40E8-A601-730CD0AA390A}"/>
              </a:ext>
            </a:extLst>
          </p:cNvPr>
          <p:cNvSpPr>
            <a:spLocks xmlns:a="http://schemas.openxmlformats.org/drawingml/2006/main" noGrp="1"/>
          </p:cNvSpPr>
          <p:nvPr/>
        </p:nvSpPr>
        <p:spPr>
          <a:xfrm xmlns:a="http://schemas.openxmlformats.org/drawingml/2006/main">
            <a:off x="609600" y="514350"/>
            <a:ext cx="85725" cy="85725"/>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19900B57-3ADA-4B0E-95D0-AEE0CD7C493F}"/>
              </a:ext>
            </a:extLst>
          </p:cNvPr>
          <p:cNvSpPr>
            <a:spLocks xmlns:a="http://schemas.openxmlformats.org/drawingml/2006/main" noGrp="1"/>
          </p:cNvSpPr>
          <p:nvPr/>
        </p:nvSpPr>
        <p:spPr>
          <a:xfrm xmlns:a="http://schemas.openxmlformats.org/drawingml/2006/main">
            <a:off x="781050" y="400050"/>
            <a:ext cx="49530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200" b="1">
                <a:solidFill>
                  <a:srgbClr val="0B5CAD"/>
                </a:solidFill>
                <a:latin typeface="Aptos"/>
                <a:ea typeface="Aptos"/>
                <a:cs typeface="Aptos"/>
              </a:defRPr>
            </a:pPr>
            <a:r>
              <a:rPr sz="1200" b="1">
                <a:solidFill>
                  <a:srgbClr val="0B5CAD"/>
                </a:solidFill>
                <a:latin typeface="Aptos"/>
                <a:ea typeface="Aptos"/>
                <a:cs typeface="Aptos"/>
              </a:rPr>
              <a:t>ARCHITECTURE</a:t>
            </a:r>
          </a:p>
        </p:txBody>
      </p:sp>
      <p:sp>
        <p:nvSpPr>
          <p:cNvPr id="4" name="">
            <a:extLst xmlns:a="http://schemas.openxmlformats.org/drawingml/2006/main">
              <a:ext uri="{FF2B5EF4-FFF2-40B4-BE49-F238E27FC236}">
                <a16:creationId xmlns:a16="http://schemas.microsoft.com/office/drawing/2014/main" id="{B2EB2571-9CE7-4ED1-89F6-DC8D26831F08}"/>
              </a:ext>
            </a:extLst>
          </p:cNvPr>
          <p:cNvSpPr>
            <a:spLocks xmlns:a="http://schemas.openxmlformats.org/drawingml/2006/main" noGrp="1"/>
          </p:cNvSpPr>
          <p:nvPr/>
        </p:nvSpPr>
        <p:spPr>
          <a:xfrm xmlns:a="http://schemas.openxmlformats.org/drawingml/2006/main">
            <a:off x="609600" y="781050"/>
            <a:ext cx="10001250" cy="1009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600" b="1">
                <a:solidFill>
                  <a:srgbClr val="11243D"/>
                </a:solidFill>
                <a:latin typeface="Aptos Display"/>
                <a:ea typeface="Aptos Display"/>
                <a:cs typeface="Aptos Display"/>
              </a:defRPr>
            </a:pPr>
            <a:r>
              <a:rPr sz="3600" b="1">
                <a:solidFill>
                  <a:srgbClr val="11243D"/>
                </a:solidFill>
                <a:latin typeface="Aptos Display"/>
                <a:ea typeface="Aptos Display"/>
                <a:cs typeface="Aptos Display"/>
              </a:rPr>
              <a:t>Ingress, analysis, persistence, and review are separated.</a:t>
            </a:r>
          </a:p>
        </p:txBody>
      </p:sp>
      <p:sp>
        <p:nvSpPr>
          <p:cNvPr id="5" name="">
            <a:extLst xmlns:a="http://schemas.openxmlformats.org/drawingml/2006/main">
              <a:ext uri="{FF2B5EF4-FFF2-40B4-BE49-F238E27FC236}">
                <a16:creationId xmlns:a16="http://schemas.microsoft.com/office/drawing/2014/main" id="{EB3BE56D-EB1D-4D9C-BE23-FB171FC27649}"/>
              </a:ext>
            </a:extLst>
          </p:cNvPr>
          <p:cNvSpPr>
            <a:spLocks xmlns:a="http://schemas.openxmlformats.org/drawingml/2006/main" noGrp="1"/>
          </p:cNvSpPr>
          <p:nvPr/>
        </p:nvSpPr>
        <p:spPr>
          <a:xfrm xmlns:a="http://schemas.openxmlformats.org/drawingml/2006/main">
            <a:off x="609600" y="6400800"/>
            <a:ext cx="9810750" cy="9525"/>
          </a:xfrm>
          <a:prstGeom xmlns:a="http://schemas.openxmlformats.org/drawingml/2006/main" prst="rect">
            <a:avLst/>
          </a:prstGeom>
          <a:solidFill xmlns:a="http://schemas.openxmlformats.org/drawingml/2006/main">
            <a:srgbClr val="C7D2E1"/>
          </a:solidFill>
          <a:ln xmlns:a="http://schemas.openxmlformats.org/drawingml/2006/main" w="0">
            <a:solidFill>
              <a:srgbClr val="000000">
                <a:alpha val="0"/>
              </a:srgbClr>
            </a:solidFill>
            <a:prstDash val="solid"/>
          </a:ln>
        </p:spPr>
      </p:sp>
      <p:sp>
        <p:nvSpPr>
          <p:cNvPr id="6" name="">
            <a:extLst xmlns:a="http://schemas.openxmlformats.org/drawingml/2006/main">
              <a:ext uri="{FF2B5EF4-FFF2-40B4-BE49-F238E27FC236}">
                <a16:creationId xmlns:a16="http://schemas.microsoft.com/office/drawing/2014/main" id="{2C204D07-BACC-447E-954C-B5D9134D2C8E}"/>
              </a:ext>
            </a:extLst>
          </p:cNvPr>
          <p:cNvSpPr>
            <a:spLocks xmlns:a="http://schemas.openxmlformats.org/drawingml/2006/main" noGrp="1"/>
          </p:cNvSpPr>
          <p:nvPr/>
        </p:nvSpPr>
        <p:spPr>
          <a:xfrm xmlns:a="http://schemas.openxmlformats.org/drawingml/2006/main">
            <a:off x="609600" y="6457950"/>
            <a:ext cx="3429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2C3A4D"/>
                </a:solidFill>
                <a:latin typeface="Aptos"/>
                <a:ea typeface="Aptos"/>
                <a:cs typeface="Aptos"/>
              </a:defRPr>
            </a:pPr>
            <a:r>
              <a:rPr sz="1050" b="0">
                <a:solidFill>
                  <a:srgbClr val="2C3A4D"/>
                </a:solidFill>
                <a:latin typeface="Aptos"/>
                <a:ea typeface="Aptos"/>
                <a:cs typeface="Aptos"/>
              </a:rPr>
              <a:t>Cloud Email Analyzer</a:t>
            </a:r>
          </a:p>
        </p:txBody>
      </p:sp>
      <p:sp>
        <p:nvSpPr>
          <p:cNvPr id="7" name="">
            <a:extLst xmlns:a="http://schemas.openxmlformats.org/drawingml/2006/main">
              <a:ext uri="{FF2B5EF4-FFF2-40B4-BE49-F238E27FC236}">
                <a16:creationId xmlns:a16="http://schemas.microsoft.com/office/drawing/2014/main" id="{A6494034-04EE-47B6-8A79-CB850FBE3EE0}"/>
              </a:ext>
            </a:extLst>
          </p:cNvPr>
          <p:cNvSpPr>
            <a:spLocks xmlns:a="http://schemas.openxmlformats.org/drawingml/2006/main" noGrp="1"/>
          </p:cNvSpPr>
          <p:nvPr/>
        </p:nvSpPr>
        <p:spPr>
          <a:xfrm xmlns:a="http://schemas.openxmlformats.org/drawingml/2006/main">
            <a:off x="11001375" y="6438900"/>
            <a:ext cx="571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1050" b="0">
                <a:solidFill>
                  <a:srgbClr val="2C3A4D"/>
                </a:solidFill>
                <a:latin typeface="Aptos"/>
                <a:ea typeface="Aptos"/>
                <a:cs typeface="Aptos"/>
              </a:defRPr>
            </a:pPr>
            <a:r>
              <a:rPr sz="1050" b="0">
                <a:solidFill>
                  <a:srgbClr val="2C3A4D"/>
                </a:solidFill>
                <a:latin typeface="Aptos"/>
                <a:ea typeface="Aptos"/>
                <a:cs typeface="Aptos"/>
              </a:rPr>
              <a:t>04</a:t>
            </a:r>
          </a:p>
        </p:txBody>
      </p:sp>
      <p:sp>
        <p:nvSpPr>
          <p:cNvPr id="8" name="">
            <a:extLst xmlns:a="http://schemas.openxmlformats.org/drawingml/2006/main">
              <a:ext uri="{FF2B5EF4-FFF2-40B4-BE49-F238E27FC236}">
                <a16:creationId xmlns:a16="http://schemas.microsoft.com/office/drawing/2014/main" id="{B3A5736C-426A-4561-AADE-3AE9A4A0AAB8}"/>
              </a:ext>
            </a:extLst>
          </p:cNvPr>
          <p:cNvSpPr>
            <a:spLocks xmlns:a="http://schemas.openxmlformats.org/drawingml/2006/main" noGrp="1"/>
          </p:cNvSpPr>
          <p:nvPr/>
        </p:nvSpPr>
        <p:spPr>
          <a:xfrm xmlns:a="http://schemas.openxmlformats.org/drawingml/2006/main">
            <a:off x="647700" y="1943100"/>
            <a:ext cx="53340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650" b="1">
                <a:solidFill>
                  <a:srgbClr val="0B5CAD"/>
                </a:solidFill>
                <a:latin typeface="Aptos"/>
                <a:ea typeface="Aptos"/>
                <a:cs typeface="Aptos"/>
              </a:defRPr>
            </a:pPr>
            <a:r>
              <a:rPr sz="1650" b="1">
                <a:solidFill>
                  <a:srgbClr val="0B5CAD"/>
                </a:solidFill>
                <a:latin typeface="Aptos"/>
                <a:ea typeface="Aptos"/>
                <a:cs typeface="Aptos"/>
              </a:rPr>
              <a:t>AWS mail ingress and event boundary</a:t>
            </a:r>
          </a:p>
        </p:txBody>
      </p:sp>
      <p:sp>
        <p:nvSpPr>
          <p:cNvPr id="9" name="">
            <a:extLst xmlns:a="http://schemas.openxmlformats.org/drawingml/2006/main">
              <a:ext uri="{FF2B5EF4-FFF2-40B4-BE49-F238E27FC236}">
                <a16:creationId xmlns:a16="http://schemas.microsoft.com/office/drawing/2014/main" id="{AF1402E7-F781-404E-90C8-25E74AFFC90B}"/>
              </a:ext>
            </a:extLst>
          </p:cNvPr>
          <p:cNvSpPr>
            <a:spLocks xmlns:a="http://schemas.openxmlformats.org/drawingml/2006/main" noGrp="1"/>
          </p:cNvSpPr>
          <p:nvPr/>
        </p:nvSpPr>
        <p:spPr>
          <a:xfrm xmlns:a="http://schemas.openxmlformats.org/drawingml/2006/main">
            <a:off x="609600" y="2305050"/>
            <a:ext cx="10972800" cy="1181100"/>
          </a:xfrm>
          <a:prstGeom xmlns:a="http://schemas.openxmlformats.org/drawingml/2006/main" prst="rect">
            <a:avLst/>
          </a:prstGeom>
          <a:solidFill xmlns:a="http://schemas.openxmlformats.org/drawingml/2006/main">
            <a:srgbClr val="FFF9F1"/>
          </a:solidFill>
          <a:ln xmlns:a="http://schemas.openxmlformats.org/drawingml/2006/main" w="9525">
            <a:solidFill>
              <a:srgbClr val="C7D2E1"/>
            </a:solidFill>
            <a:prstDash val="solid"/>
          </a:ln>
        </p:spPr>
      </p:sp>
      <p:sp>
        <p:nvSpPr>
          <p:cNvPr id="10" name="">
            <a:extLst xmlns:a="http://schemas.openxmlformats.org/drawingml/2006/main">
              <a:ext uri="{FF2B5EF4-FFF2-40B4-BE49-F238E27FC236}">
                <a16:creationId xmlns:a16="http://schemas.microsoft.com/office/drawing/2014/main" id="{9A4B8FCC-0AC2-4DBC-8638-2B70DB415DF7}"/>
              </a:ext>
            </a:extLst>
          </p:cNvPr>
          <p:cNvSpPr>
            <a:spLocks xmlns:a="http://schemas.openxmlformats.org/drawingml/2006/main" noGrp="1"/>
          </p:cNvSpPr>
          <p:nvPr/>
        </p:nvSpPr>
        <p:spPr>
          <a:xfrm xmlns:a="http://schemas.openxmlformats.org/drawingml/2006/main">
            <a:off x="838200" y="2533650"/>
            <a:ext cx="16002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11" name="">
            <a:extLst xmlns:a="http://schemas.openxmlformats.org/drawingml/2006/main">
              <a:ext uri="{FF2B5EF4-FFF2-40B4-BE49-F238E27FC236}">
                <a16:creationId xmlns:a16="http://schemas.microsoft.com/office/drawing/2014/main" id="{3BC78BA0-A1ED-420B-A9B4-B9C50BEEC6B0}"/>
              </a:ext>
            </a:extLst>
          </p:cNvPr>
          <p:cNvSpPr>
            <a:spLocks xmlns:a="http://schemas.openxmlformats.org/drawingml/2006/main" noGrp="1"/>
          </p:cNvSpPr>
          <p:nvPr/>
        </p:nvSpPr>
        <p:spPr>
          <a:xfrm xmlns:a="http://schemas.openxmlformats.org/drawingml/2006/main">
            <a:off x="990600" y="2619375"/>
            <a:ext cx="12954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500" b="1">
                <a:solidFill>
                  <a:srgbClr val="11243D"/>
                </a:solidFill>
                <a:latin typeface="Aptos"/>
                <a:ea typeface="Aptos"/>
                <a:cs typeface="Aptos"/>
              </a:defRPr>
            </a:pPr>
            <a:r>
              <a:rPr sz="1500" b="1">
                <a:solidFill>
                  <a:srgbClr val="11243D"/>
                </a:solidFill>
                <a:latin typeface="Aptos"/>
                <a:ea typeface="Aptos"/>
                <a:cs typeface="Aptos"/>
              </a:rPr>
              <a:t>Route53</a:t>
            </a:r>
          </a:p>
        </p:txBody>
      </p:sp>
      <p:sp>
        <p:nvSpPr>
          <p:cNvPr id="12" name="">
            <a:extLst xmlns:a="http://schemas.openxmlformats.org/drawingml/2006/main">
              <a:ext uri="{FF2B5EF4-FFF2-40B4-BE49-F238E27FC236}">
                <a16:creationId xmlns:a16="http://schemas.microsoft.com/office/drawing/2014/main" id="{BE910BA6-D482-4922-9009-2943104290C2}"/>
              </a:ext>
            </a:extLst>
          </p:cNvPr>
          <p:cNvSpPr>
            <a:spLocks xmlns:a="http://schemas.openxmlformats.org/drawingml/2006/main" noGrp="1"/>
          </p:cNvSpPr>
          <p:nvPr/>
        </p:nvSpPr>
        <p:spPr>
          <a:xfrm xmlns:a="http://schemas.openxmlformats.org/drawingml/2006/main">
            <a:off x="990600" y="2933700"/>
            <a:ext cx="12954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0">
                <a:solidFill>
                  <a:srgbClr val="2C3A4D"/>
                </a:solidFill>
                <a:latin typeface="Aptos"/>
                <a:ea typeface="Aptos"/>
                <a:cs typeface="Aptos"/>
              </a:defRPr>
            </a:pPr>
            <a:r>
              <a:rPr sz="1125" b="0">
                <a:solidFill>
                  <a:srgbClr val="2C3A4D"/>
                </a:solidFill>
                <a:latin typeface="Aptos"/>
                <a:ea typeface="Aptos"/>
                <a:cs typeface="Aptos"/>
              </a:rPr>
              <a:t>MX records</a:t>
            </a:r>
          </a:p>
        </p:txBody>
      </p:sp>
      <p:sp>
        <p:nvSpPr>
          <p:cNvPr id="13" name="">
            <a:extLst xmlns:a="http://schemas.openxmlformats.org/drawingml/2006/main">
              <a:ext uri="{FF2B5EF4-FFF2-40B4-BE49-F238E27FC236}">
                <a16:creationId xmlns:a16="http://schemas.microsoft.com/office/drawing/2014/main" id="{AAC534D8-9752-4643-B0F2-19F4695D2453}"/>
              </a:ext>
            </a:extLst>
          </p:cNvPr>
          <p:cNvSpPr>
            <a:spLocks xmlns:a="http://schemas.openxmlformats.org/drawingml/2006/main" noGrp="1"/>
          </p:cNvSpPr>
          <p:nvPr/>
        </p:nvSpPr>
        <p:spPr>
          <a:xfrm xmlns:a="http://schemas.openxmlformats.org/drawingml/2006/main">
            <a:off x="2552700" y="2800350"/>
            <a:ext cx="285750" cy="209550"/>
          </a:xfrm>
          <a:prstGeom xmlns:a="http://schemas.openxmlformats.org/drawingml/2006/main" prst="rightArrow">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89104924-0D5C-4963-A23E-6BE4C46C6534}"/>
              </a:ext>
            </a:extLst>
          </p:cNvPr>
          <p:cNvSpPr>
            <a:spLocks xmlns:a="http://schemas.openxmlformats.org/drawingml/2006/main" noGrp="1"/>
          </p:cNvSpPr>
          <p:nvPr/>
        </p:nvSpPr>
        <p:spPr>
          <a:xfrm xmlns:a="http://schemas.openxmlformats.org/drawingml/2006/main">
            <a:off x="2952750" y="2533650"/>
            <a:ext cx="16002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15" name="">
            <a:extLst xmlns:a="http://schemas.openxmlformats.org/drawingml/2006/main">
              <a:ext uri="{FF2B5EF4-FFF2-40B4-BE49-F238E27FC236}">
                <a16:creationId xmlns:a16="http://schemas.microsoft.com/office/drawing/2014/main" id="{DF9A6DC0-4639-49D7-9911-BC53A79E6FC8}"/>
              </a:ext>
            </a:extLst>
          </p:cNvPr>
          <p:cNvSpPr>
            <a:spLocks xmlns:a="http://schemas.openxmlformats.org/drawingml/2006/main" noGrp="1"/>
          </p:cNvSpPr>
          <p:nvPr/>
        </p:nvSpPr>
        <p:spPr>
          <a:xfrm xmlns:a="http://schemas.openxmlformats.org/drawingml/2006/main">
            <a:off x="3105150" y="2619375"/>
            <a:ext cx="12954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500" b="1">
                <a:solidFill>
                  <a:srgbClr val="11243D"/>
                </a:solidFill>
                <a:latin typeface="Aptos"/>
                <a:ea typeface="Aptos"/>
                <a:cs typeface="Aptos"/>
              </a:defRPr>
            </a:pPr>
            <a:r>
              <a:rPr sz="1500" b="1">
                <a:solidFill>
                  <a:srgbClr val="11243D"/>
                </a:solidFill>
                <a:latin typeface="Aptos"/>
                <a:ea typeface="Aptos"/>
                <a:cs typeface="Aptos"/>
              </a:rPr>
              <a:t>Amazon SES</a:t>
            </a:r>
          </a:p>
        </p:txBody>
      </p:sp>
      <p:sp>
        <p:nvSpPr>
          <p:cNvPr id="16" name="">
            <a:extLst xmlns:a="http://schemas.openxmlformats.org/drawingml/2006/main">
              <a:ext uri="{FF2B5EF4-FFF2-40B4-BE49-F238E27FC236}">
                <a16:creationId xmlns:a16="http://schemas.microsoft.com/office/drawing/2014/main" id="{319D113E-56AF-4A38-B29F-CEE7C9F8362C}"/>
              </a:ext>
            </a:extLst>
          </p:cNvPr>
          <p:cNvSpPr>
            <a:spLocks xmlns:a="http://schemas.openxmlformats.org/drawingml/2006/main" noGrp="1"/>
          </p:cNvSpPr>
          <p:nvPr/>
        </p:nvSpPr>
        <p:spPr>
          <a:xfrm xmlns:a="http://schemas.openxmlformats.org/drawingml/2006/main">
            <a:off x="3105150" y="2933700"/>
            <a:ext cx="12954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0">
                <a:solidFill>
                  <a:srgbClr val="2C3A4D"/>
                </a:solidFill>
                <a:latin typeface="Aptos"/>
                <a:ea typeface="Aptos"/>
                <a:cs typeface="Aptos"/>
              </a:defRPr>
            </a:pPr>
            <a:r>
              <a:rPr sz="1125" b="0">
                <a:solidFill>
                  <a:srgbClr val="2C3A4D"/>
                </a:solidFill>
                <a:latin typeface="Aptos"/>
                <a:ea typeface="Aptos"/>
                <a:cs typeface="Aptos"/>
              </a:rPr>
              <a:t>Inbound mail</a:t>
            </a:r>
          </a:p>
        </p:txBody>
      </p:sp>
      <p:sp>
        <p:nvSpPr>
          <p:cNvPr id="17" name="">
            <a:extLst xmlns:a="http://schemas.openxmlformats.org/drawingml/2006/main">
              <a:ext uri="{FF2B5EF4-FFF2-40B4-BE49-F238E27FC236}">
                <a16:creationId xmlns:a16="http://schemas.microsoft.com/office/drawing/2014/main" id="{D25BA6BA-F88F-4311-AEAE-FC7187536D5E}"/>
              </a:ext>
            </a:extLst>
          </p:cNvPr>
          <p:cNvSpPr>
            <a:spLocks xmlns:a="http://schemas.openxmlformats.org/drawingml/2006/main" noGrp="1"/>
          </p:cNvSpPr>
          <p:nvPr/>
        </p:nvSpPr>
        <p:spPr>
          <a:xfrm xmlns:a="http://schemas.openxmlformats.org/drawingml/2006/main">
            <a:off x="4667250" y="2800350"/>
            <a:ext cx="285750" cy="209550"/>
          </a:xfrm>
          <a:prstGeom xmlns:a="http://schemas.openxmlformats.org/drawingml/2006/main" prst="rightArrow">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A5287C6A-D381-43FD-BEAF-839BFCB422FA}"/>
              </a:ext>
            </a:extLst>
          </p:cNvPr>
          <p:cNvSpPr>
            <a:spLocks xmlns:a="http://schemas.openxmlformats.org/drawingml/2006/main" noGrp="1"/>
          </p:cNvSpPr>
          <p:nvPr/>
        </p:nvSpPr>
        <p:spPr>
          <a:xfrm xmlns:a="http://schemas.openxmlformats.org/drawingml/2006/main">
            <a:off x="5067300" y="2533650"/>
            <a:ext cx="16002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19" name="">
            <a:extLst xmlns:a="http://schemas.openxmlformats.org/drawingml/2006/main">
              <a:ext uri="{FF2B5EF4-FFF2-40B4-BE49-F238E27FC236}">
                <a16:creationId xmlns:a16="http://schemas.microsoft.com/office/drawing/2014/main" id="{1429920E-8A73-4FBB-8953-5765B00921DC}"/>
              </a:ext>
            </a:extLst>
          </p:cNvPr>
          <p:cNvSpPr>
            <a:spLocks xmlns:a="http://schemas.openxmlformats.org/drawingml/2006/main" noGrp="1"/>
          </p:cNvSpPr>
          <p:nvPr/>
        </p:nvSpPr>
        <p:spPr>
          <a:xfrm xmlns:a="http://schemas.openxmlformats.org/drawingml/2006/main">
            <a:off x="5219700" y="2619375"/>
            <a:ext cx="12954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500" b="1">
                <a:solidFill>
                  <a:srgbClr val="11243D"/>
                </a:solidFill>
                <a:latin typeface="Aptos"/>
                <a:ea typeface="Aptos"/>
                <a:cs typeface="Aptos"/>
              </a:defRPr>
            </a:pPr>
            <a:r>
              <a:rPr sz="1500" b="1">
                <a:solidFill>
                  <a:srgbClr val="11243D"/>
                </a:solidFill>
                <a:latin typeface="Aptos"/>
                <a:ea typeface="Aptos"/>
                <a:cs typeface="Aptos"/>
              </a:rPr>
              <a:t>S3</a:t>
            </a:r>
          </a:p>
        </p:txBody>
      </p:sp>
      <p:sp>
        <p:nvSpPr>
          <p:cNvPr id="20" name="">
            <a:extLst xmlns:a="http://schemas.openxmlformats.org/drawingml/2006/main">
              <a:ext uri="{FF2B5EF4-FFF2-40B4-BE49-F238E27FC236}">
                <a16:creationId xmlns:a16="http://schemas.microsoft.com/office/drawing/2014/main" id="{7642733C-1AAC-4572-94CD-C5771BBB9252}"/>
              </a:ext>
            </a:extLst>
          </p:cNvPr>
          <p:cNvSpPr>
            <a:spLocks xmlns:a="http://schemas.openxmlformats.org/drawingml/2006/main" noGrp="1"/>
          </p:cNvSpPr>
          <p:nvPr/>
        </p:nvSpPr>
        <p:spPr>
          <a:xfrm xmlns:a="http://schemas.openxmlformats.org/drawingml/2006/main">
            <a:off x="5219700" y="2933700"/>
            <a:ext cx="12954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0">
                <a:solidFill>
                  <a:srgbClr val="2C3A4D"/>
                </a:solidFill>
                <a:latin typeface="Aptos"/>
                <a:ea typeface="Aptos"/>
                <a:cs typeface="Aptos"/>
              </a:defRPr>
            </a:pPr>
            <a:r>
              <a:rPr sz="1125" b="0">
                <a:solidFill>
                  <a:srgbClr val="2C3A4D"/>
                </a:solidFill>
                <a:latin typeface="Aptos"/>
                <a:ea typeface="Aptos"/>
                <a:cs typeface="Aptos"/>
              </a:rPr>
              <a:t>Raw MIME</a:t>
            </a:r>
          </a:p>
        </p:txBody>
      </p:sp>
      <p:sp>
        <p:nvSpPr>
          <p:cNvPr id="21" name="">
            <a:extLst xmlns:a="http://schemas.openxmlformats.org/drawingml/2006/main">
              <a:ext uri="{FF2B5EF4-FFF2-40B4-BE49-F238E27FC236}">
                <a16:creationId xmlns:a16="http://schemas.microsoft.com/office/drawing/2014/main" id="{9E202417-41B9-45E3-8EA1-3C36E2902D6B}"/>
              </a:ext>
            </a:extLst>
          </p:cNvPr>
          <p:cNvSpPr>
            <a:spLocks xmlns:a="http://schemas.openxmlformats.org/drawingml/2006/main" noGrp="1"/>
          </p:cNvSpPr>
          <p:nvPr/>
        </p:nvSpPr>
        <p:spPr>
          <a:xfrm xmlns:a="http://schemas.openxmlformats.org/drawingml/2006/main">
            <a:off x="6781800" y="2800350"/>
            <a:ext cx="285750" cy="209550"/>
          </a:xfrm>
          <a:prstGeom xmlns:a="http://schemas.openxmlformats.org/drawingml/2006/main" prst="rightArrow">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202995D3-EB23-4516-A15A-E08E478DFE64}"/>
              </a:ext>
            </a:extLst>
          </p:cNvPr>
          <p:cNvSpPr>
            <a:spLocks xmlns:a="http://schemas.openxmlformats.org/drawingml/2006/main" noGrp="1"/>
          </p:cNvSpPr>
          <p:nvPr/>
        </p:nvSpPr>
        <p:spPr>
          <a:xfrm xmlns:a="http://schemas.openxmlformats.org/drawingml/2006/main">
            <a:off x="7181850" y="2533650"/>
            <a:ext cx="16002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0B5CAD"/>
            </a:solidFill>
            <a:prstDash val="solid"/>
          </a:ln>
        </p:spPr>
      </p:sp>
      <p:sp>
        <p:nvSpPr>
          <p:cNvPr id="23" name="">
            <a:extLst xmlns:a="http://schemas.openxmlformats.org/drawingml/2006/main">
              <a:ext uri="{FF2B5EF4-FFF2-40B4-BE49-F238E27FC236}">
                <a16:creationId xmlns:a16="http://schemas.microsoft.com/office/drawing/2014/main" id="{9BD9D50F-256A-455B-860A-5F35755A927F}"/>
              </a:ext>
            </a:extLst>
          </p:cNvPr>
          <p:cNvSpPr>
            <a:spLocks xmlns:a="http://schemas.openxmlformats.org/drawingml/2006/main" noGrp="1"/>
          </p:cNvSpPr>
          <p:nvPr/>
        </p:nvSpPr>
        <p:spPr>
          <a:xfrm xmlns:a="http://schemas.openxmlformats.org/drawingml/2006/main">
            <a:off x="7334250" y="2619375"/>
            <a:ext cx="12954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500" b="1">
                <a:solidFill>
                  <a:srgbClr val="0B5CAD"/>
                </a:solidFill>
                <a:latin typeface="Aptos"/>
                <a:ea typeface="Aptos"/>
                <a:cs typeface="Aptos"/>
              </a:defRPr>
            </a:pPr>
            <a:r>
              <a:rPr sz="1500" b="1">
                <a:solidFill>
                  <a:srgbClr val="0B5CAD"/>
                </a:solidFill>
                <a:latin typeface="Aptos"/>
                <a:ea typeface="Aptos"/>
                <a:cs typeface="Aptos"/>
              </a:rPr>
              <a:t>Adapter</a:t>
            </a:r>
          </a:p>
        </p:txBody>
      </p:sp>
      <p:sp>
        <p:nvSpPr>
          <p:cNvPr id="24" name="">
            <a:extLst xmlns:a="http://schemas.openxmlformats.org/drawingml/2006/main">
              <a:ext uri="{FF2B5EF4-FFF2-40B4-BE49-F238E27FC236}">
                <a16:creationId xmlns:a16="http://schemas.microsoft.com/office/drawing/2014/main" id="{12EDADB4-AADE-494F-8A87-AB15D58AF810}"/>
              </a:ext>
            </a:extLst>
          </p:cNvPr>
          <p:cNvSpPr>
            <a:spLocks xmlns:a="http://schemas.openxmlformats.org/drawingml/2006/main" noGrp="1"/>
          </p:cNvSpPr>
          <p:nvPr/>
        </p:nvSpPr>
        <p:spPr>
          <a:xfrm xmlns:a="http://schemas.openxmlformats.org/drawingml/2006/main">
            <a:off x="7334250" y="2933700"/>
            <a:ext cx="12954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0">
                <a:solidFill>
                  <a:srgbClr val="2C3A4D"/>
                </a:solidFill>
                <a:latin typeface="Aptos"/>
                <a:ea typeface="Aptos"/>
                <a:cs typeface="Aptos"/>
              </a:defRPr>
            </a:pPr>
            <a:r>
              <a:rPr sz="1125" b="0">
                <a:solidFill>
                  <a:srgbClr val="2C3A4D"/>
                </a:solidFill>
                <a:latin typeface="Aptos"/>
                <a:ea typeface="Aptos"/>
                <a:cs typeface="Aptos"/>
              </a:rPr>
              <a:t>MailReceived</a:t>
            </a:r>
          </a:p>
        </p:txBody>
      </p:sp>
      <p:sp>
        <p:nvSpPr>
          <p:cNvPr id="25" name="">
            <a:extLst xmlns:a="http://schemas.openxmlformats.org/drawingml/2006/main">
              <a:ext uri="{FF2B5EF4-FFF2-40B4-BE49-F238E27FC236}">
                <a16:creationId xmlns:a16="http://schemas.microsoft.com/office/drawing/2014/main" id="{253516DE-6B15-48C6-A80D-37858D831E33}"/>
              </a:ext>
            </a:extLst>
          </p:cNvPr>
          <p:cNvSpPr>
            <a:spLocks xmlns:a="http://schemas.openxmlformats.org/drawingml/2006/main" noGrp="1"/>
          </p:cNvSpPr>
          <p:nvPr/>
        </p:nvSpPr>
        <p:spPr>
          <a:xfrm xmlns:a="http://schemas.openxmlformats.org/drawingml/2006/main">
            <a:off x="8896350" y="2800350"/>
            <a:ext cx="285750" cy="209550"/>
          </a:xfrm>
          <a:prstGeom xmlns:a="http://schemas.openxmlformats.org/drawingml/2006/main" prst="rightArrow">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4572E88D-2B36-4960-A33F-AB58BB94B6B0}"/>
              </a:ext>
            </a:extLst>
          </p:cNvPr>
          <p:cNvSpPr>
            <a:spLocks xmlns:a="http://schemas.openxmlformats.org/drawingml/2006/main" noGrp="1"/>
          </p:cNvSpPr>
          <p:nvPr/>
        </p:nvSpPr>
        <p:spPr>
          <a:xfrm xmlns:a="http://schemas.openxmlformats.org/drawingml/2006/main">
            <a:off x="9296400" y="2533650"/>
            <a:ext cx="16002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27" name="">
            <a:extLst xmlns:a="http://schemas.openxmlformats.org/drawingml/2006/main">
              <a:ext uri="{FF2B5EF4-FFF2-40B4-BE49-F238E27FC236}">
                <a16:creationId xmlns:a16="http://schemas.microsoft.com/office/drawing/2014/main" id="{551A1BBD-5117-4A30-B830-1A10285E0290}"/>
              </a:ext>
            </a:extLst>
          </p:cNvPr>
          <p:cNvSpPr>
            <a:spLocks xmlns:a="http://schemas.openxmlformats.org/drawingml/2006/main" noGrp="1"/>
          </p:cNvSpPr>
          <p:nvPr/>
        </p:nvSpPr>
        <p:spPr>
          <a:xfrm xmlns:a="http://schemas.openxmlformats.org/drawingml/2006/main">
            <a:off x="9448800" y="2619375"/>
            <a:ext cx="12954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500" b="1">
                <a:solidFill>
                  <a:srgbClr val="11243D"/>
                </a:solidFill>
                <a:latin typeface="Aptos"/>
                <a:ea typeface="Aptos"/>
                <a:cs typeface="Aptos"/>
              </a:defRPr>
            </a:pPr>
            <a:r>
              <a:rPr sz="1500" b="1">
                <a:solidFill>
                  <a:srgbClr val="11243D"/>
                </a:solidFill>
                <a:latin typeface="Aptos"/>
                <a:ea typeface="Aptos"/>
                <a:cs typeface="Aptos"/>
              </a:rPr>
              <a:t>EventBridge</a:t>
            </a:r>
          </a:p>
        </p:txBody>
      </p:sp>
      <p:sp>
        <p:nvSpPr>
          <p:cNvPr id="28" name="">
            <a:extLst xmlns:a="http://schemas.openxmlformats.org/drawingml/2006/main">
              <a:ext uri="{FF2B5EF4-FFF2-40B4-BE49-F238E27FC236}">
                <a16:creationId xmlns:a16="http://schemas.microsoft.com/office/drawing/2014/main" id="{4BF25811-0920-4150-8FA6-3EDD77DF188C}"/>
              </a:ext>
            </a:extLst>
          </p:cNvPr>
          <p:cNvSpPr>
            <a:spLocks xmlns:a="http://schemas.openxmlformats.org/drawingml/2006/main" noGrp="1"/>
          </p:cNvSpPr>
          <p:nvPr/>
        </p:nvSpPr>
        <p:spPr>
          <a:xfrm xmlns:a="http://schemas.openxmlformats.org/drawingml/2006/main">
            <a:off x="9448800" y="2933700"/>
            <a:ext cx="12954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0">
                <a:solidFill>
                  <a:srgbClr val="2C3A4D"/>
                </a:solidFill>
                <a:latin typeface="Aptos"/>
                <a:ea typeface="Aptos"/>
                <a:cs typeface="Aptos"/>
              </a:defRPr>
            </a:pPr>
            <a:r>
              <a:rPr sz="1125" b="0">
                <a:solidFill>
                  <a:srgbClr val="2C3A4D"/>
                </a:solidFill>
                <a:latin typeface="Aptos"/>
                <a:ea typeface="Aptos"/>
                <a:cs typeface="Aptos"/>
              </a:rPr>
              <a:t>Event bus</a:t>
            </a:r>
          </a:p>
        </p:txBody>
      </p:sp>
      <p:sp>
        <p:nvSpPr>
          <p:cNvPr id="29" name="">
            <a:extLst xmlns:a="http://schemas.openxmlformats.org/drawingml/2006/main">
              <a:ext uri="{FF2B5EF4-FFF2-40B4-BE49-F238E27FC236}">
                <a16:creationId xmlns:a16="http://schemas.microsoft.com/office/drawing/2014/main" id="{C2F30A4B-BAB8-4969-AE07-501101D6E50E}"/>
              </a:ext>
            </a:extLst>
          </p:cNvPr>
          <p:cNvSpPr>
            <a:spLocks xmlns:a="http://schemas.openxmlformats.org/drawingml/2006/main" noGrp="1"/>
          </p:cNvSpPr>
          <p:nvPr/>
        </p:nvSpPr>
        <p:spPr>
          <a:xfrm xmlns:a="http://schemas.openxmlformats.org/drawingml/2006/main">
            <a:off x="10420350" y="3524250"/>
            <a:ext cx="342900" cy="438150"/>
          </a:xfrm>
          <a:prstGeom xmlns:a="http://schemas.openxmlformats.org/drawingml/2006/main" prst="downArrow">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AFE1D059-A431-4A01-B57A-EC2A67A43AC5}"/>
              </a:ext>
            </a:extLst>
          </p:cNvPr>
          <p:cNvSpPr>
            <a:spLocks xmlns:a="http://schemas.openxmlformats.org/drawingml/2006/main" noGrp="1"/>
          </p:cNvSpPr>
          <p:nvPr/>
        </p:nvSpPr>
        <p:spPr>
          <a:xfrm xmlns:a="http://schemas.openxmlformats.org/drawingml/2006/main">
            <a:off x="647700" y="3905250"/>
            <a:ext cx="53340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650" b="1">
                <a:solidFill>
                  <a:srgbClr val="0B5CAD"/>
                </a:solidFill>
                <a:latin typeface="Aptos"/>
                <a:ea typeface="Aptos"/>
                <a:cs typeface="Aptos"/>
              </a:defRPr>
            </a:pPr>
            <a:r>
              <a:rPr sz="1650" b="1">
                <a:solidFill>
                  <a:srgbClr val="0B5CAD"/>
                </a:solidFill>
                <a:latin typeface="Aptos"/>
                <a:ea typeface="Aptos"/>
                <a:cs typeface="Aptos"/>
              </a:rPr>
              <a:t>Analysis, persistence, and review</a:t>
            </a:r>
          </a:p>
        </p:txBody>
      </p:sp>
      <p:sp>
        <p:nvSpPr>
          <p:cNvPr id="31" name="">
            <a:extLst xmlns:a="http://schemas.openxmlformats.org/drawingml/2006/main">
              <a:ext uri="{FF2B5EF4-FFF2-40B4-BE49-F238E27FC236}">
                <a16:creationId xmlns:a16="http://schemas.microsoft.com/office/drawing/2014/main" id="{EDFB6AC5-0C16-4872-99D4-9091BEF2AB12}"/>
              </a:ext>
            </a:extLst>
          </p:cNvPr>
          <p:cNvSpPr>
            <a:spLocks xmlns:a="http://schemas.openxmlformats.org/drawingml/2006/main" noGrp="1"/>
          </p:cNvSpPr>
          <p:nvPr/>
        </p:nvSpPr>
        <p:spPr>
          <a:xfrm xmlns:a="http://schemas.openxmlformats.org/drawingml/2006/main">
            <a:off x="609600" y="4267200"/>
            <a:ext cx="10972800" cy="1123950"/>
          </a:xfrm>
          <a:prstGeom xmlns:a="http://schemas.openxmlformats.org/drawingml/2006/main" prst="rect">
            <a:avLst/>
          </a:prstGeom>
          <a:solidFill xmlns:a="http://schemas.openxmlformats.org/drawingml/2006/main">
            <a:srgbClr val="F4FBF4"/>
          </a:solidFill>
          <a:ln xmlns:a="http://schemas.openxmlformats.org/drawingml/2006/main" w="9525">
            <a:solidFill>
              <a:srgbClr val="C7D2E1"/>
            </a:solidFill>
            <a:prstDash val="solid"/>
          </a:ln>
        </p:spPr>
      </p:sp>
      <p:sp>
        <p:nvSpPr>
          <p:cNvPr id="32" name="">
            <a:extLst xmlns:a="http://schemas.openxmlformats.org/drawingml/2006/main">
              <a:ext uri="{FF2B5EF4-FFF2-40B4-BE49-F238E27FC236}">
                <a16:creationId xmlns:a16="http://schemas.microsoft.com/office/drawing/2014/main" id="{F9F15C46-AE29-4D8F-9155-D10A2F2526DF}"/>
              </a:ext>
            </a:extLst>
          </p:cNvPr>
          <p:cNvSpPr>
            <a:spLocks xmlns:a="http://schemas.openxmlformats.org/drawingml/2006/main" noGrp="1"/>
          </p:cNvSpPr>
          <p:nvPr/>
        </p:nvSpPr>
        <p:spPr>
          <a:xfrm xmlns:a="http://schemas.openxmlformats.org/drawingml/2006/main">
            <a:off x="838200" y="4476750"/>
            <a:ext cx="16002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0B5CAD"/>
            </a:solidFill>
            <a:prstDash val="solid"/>
          </a:ln>
        </p:spPr>
      </p:sp>
      <p:sp>
        <p:nvSpPr>
          <p:cNvPr id="33" name="">
            <a:extLst xmlns:a="http://schemas.openxmlformats.org/drawingml/2006/main">
              <a:ext uri="{FF2B5EF4-FFF2-40B4-BE49-F238E27FC236}">
                <a16:creationId xmlns:a16="http://schemas.microsoft.com/office/drawing/2014/main" id="{31DE13BA-AD36-46F3-AB9F-D7A09689F30B}"/>
              </a:ext>
            </a:extLst>
          </p:cNvPr>
          <p:cNvSpPr>
            <a:spLocks xmlns:a="http://schemas.openxmlformats.org/drawingml/2006/main" noGrp="1"/>
          </p:cNvSpPr>
          <p:nvPr/>
        </p:nvSpPr>
        <p:spPr>
          <a:xfrm xmlns:a="http://schemas.openxmlformats.org/drawingml/2006/main">
            <a:off x="990600" y="4562475"/>
            <a:ext cx="12954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425" b="1">
                <a:solidFill>
                  <a:srgbClr val="0B5CAD"/>
                </a:solidFill>
                <a:latin typeface="Aptos"/>
                <a:ea typeface="Aptos"/>
                <a:cs typeface="Aptos"/>
              </a:defRPr>
            </a:pPr>
            <a:r>
              <a:rPr sz="1425" b="1">
                <a:solidFill>
                  <a:srgbClr val="0B5CAD"/>
                </a:solidFill>
                <a:latin typeface="Aptos"/>
                <a:ea typeface="Aptos"/>
                <a:cs typeface="Aptos"/>
              </a:rPr>
              <a:t>Step</a:t>
            </a:r>
          </a:p>
          <a:p xmlns:a="http://schemas.openxmlformats.org/drawingml/2006/main">
            <a:pPr algn="ctr">
              <a:defRPr sz="1425" b="1">
                <a:solidFill>
                  <a:srgbClr val="0B5CAD"/>
                </a:solidFill>
                <a:latin typeface="Aptos"/>
                <a:ea typeface="Aptos"/>
                <a:cs typeface="Aptos"/>
              </a:defRPr>
            </a:pPr>
            <a:r>
              <a:rPr sz="1425" b="1">
                <a:solidFill>
                  <a:srgbClr val="0B5CAD"/>
                </a:solidFill>
                <a:latin typeface="Aptos"/>
                <a:ea typeface="Aptos"/>
                <a:cs typeface="Aptos"/>
              </a:rPr>
              <a:t>Functions</a:t>
            </a:r>
          </a:p>
        </p:txBody>
      </p:sp>
      <p:sp>
        <p:nvSpPr>
          <p:cNvPr id="34" name="">
            <a:extLst xmlns:a="http://schemas.openxmlformats.org/drawingml/2006/main">
              <a:ext uri="{FF2B5EF4-FFF2-40B4-BE49-F238E27FC236}">
                <a16:creationId xmlns:a16="http://schemas.microsoft.com/office/drawing/2014/main" id="{5CC8EA0D-7419-4720-8DE9-11393B4D921E}"/>
              </a:ext>
            </a:extLst>
          </p:cNvPr>
          <p:cNvSpPr>
            <a:spLocks xmlns:a="http://schemas.openxmlformats.org/drawingml/2006/main" noGrp="1"/>
          </p:cNvSpPr>
          <p:nvPr/>
        </p:nvSpPr>
        <p:spPr>
          <a:xfrm xmlns:a="http://schemas.openxmlformats.org/drawingml/2006/main">
            <a:off x="990600" y="4876800"/>
            <a:ext cx="12954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0">
                <a:solidFill>
                  <a:srgbClr val="2C3A4D"/>
                </a:solidFill>
                <a:latin typeface="Aptos"/>
                <a:ea typeface="Aptos"/>
                <a:cs typeface="Aptos"/>
              </a:defRPr>
            </a:pPr>
            <a:r>
              <a:rPr sz="1125" b="0">
                <a:solidFill>
                  <a:srgbClr val="2C3A4D"/>
                </a:solidFill>
                <a:latin typeface="Aptos"/>
                <a:ea typeface="Aptos"/>
                <a:cs typeface="Aptos"/>
              </a:rPr>
              <a:t>Workflow</a:t>
            </a:r>
          </a:p>
        </p:txBody>
      </p:sp>
      <p:sp>
        <p:nvSpPr>
          <p:cNvPr id="35" name="">
            <a:extLst xmlns:a="http://schemas.openxmlformats.org/drawingml/2006/main">
              <a:ext uri="{FF2B5EF4-FFF2-40B4-BE49-F238E27FC236}">
                <a16:creationId xmlns:a16="http://schemas.microsoft.com/office/drawing/2014/main" id="{95BA2D8A-C68D-48A1-B130-9036171F1CF5}"/>
              </a:ext>
            </a:extLst>
          </p:cNvPr>
          <p:cNvSpPr>
            <a:spLocks xmlns:a="http://schemas.openxmlformats.org/drawingml/2006/main" noGrp="1"/>
          </p:cNvSpPr>
          <p:nvPr/>
        </p:nvSpPr>
        <p:spPr>
          <a:xfrm xmlns:a="http://schemas.openxmlformats.org/drawingml/2006/main">
            <a:off x="2552700" y="4743450"/>
            <a:ext cx="285750" cy="209550"/>
          </a:xfrm>
          <a:prstGeom xmlns:a="http://schemas.openxmlformats.org/drawingml/2006/main" prst="rightArrow">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62F57620-B3A7-4111-BD49-B7E3E0BC61B2}"/>
              </a:ext>
            </a:extLst>
          </p:cNvPr>
          <p:cNvSpPr>
            <a:spLocks xmlns:a="http://schemas.openxmlformats.org/drawingml/2006/main" noGrp="1"/>
          </p:cNvSpPr>
          <p:nvPr/>
        </p:nvSpPr>
        <p:spPr>
          <a:xfrm xmlns:a="http://schemas.openxmlformats.org/drawingml/2006/main">
            <a:off x="2952750" y="4476750"/>
            <a:ext cx="16002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37" name="">
            <a:extLst xmlns:a="http://schemas.openxmlformats.org/drawingml/2006/main">
              <a:ext uri="{FF2B5EF4-FFF2-40B4-BE49-F238E27FC236}">
                <a16:creationId xmlns:a16="http://schemas.microsoft.com/office/drawing/2014/main" id="{0B57F96F-4EE2-40A3-9E05-ECD2C4862F05}"/>
              </a:ext>
            </a:extLst>
          </p:cNvPr>
          <p:cNvSpPr>
            <a:spLocks xmlns:a="http://schemas.openxmlformats.org/drawingml/2006/main" noGrp="1"/>
          </p:cNvSpPr>
          <p:nvPr/>
        </p:nvSpPr>
        <p:spPr>
          <a:xfrm xmlns:a="http://schemas.openxmlformats.org/drawingml/2006/main">
            <a:off x="3105150" y="4562475"/>
            <a:ext cx="12954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425" b="1">
                <a:solidFill>
                  <a:srgbClr val="11243D"/>
                </a:solidFill>
                <a:latin typeface="Aptos"/>
                <a:ea typeface="Aptos"/>
                <a:cs typeface="Aptos"/>
              </a:defRPr>
            </a:pPr>
            <a:r>
              <a:rPr sz="1425" b="1">
                <a:solidFill>
                  <a:srgbClr val="11243D"/>
                </a:solidFill>
                <a:latin typeface="Aptos"/>
                <a:ea typeface="Aptos"/>
                <a:cs typeface="Aptos"/>
              </a:rPr>
              <a:t>Lambda</a:t>
            </a:r>
          </a:p>
        </p:txBody>
      </p:sp>
      <p:sp>
        <p:nvSpPr>
          <p:cNvPr id="38" name="">
            <a:extLst xmlns:a="http://schemas.openxmlformats.org/drawingml/2006/main">
              <a:ext uri="{FF2B5EF4-FFF2-40B4-BE49-F238E27FC236}">
                <a16:creationId xmlns:a16="http://schemas.microsoft.com/office/drawing/2014/main" id="{5591C968-1C8A-42F8-BAA2-725503BCB486}"/>
              </a:ext>
            </a:extLst>
          </p:cNvPr>
          <p:cNvSpPr>
            <a:spLocks xmlns:a="http://schemas.openxmlformats.org/drawingml/2006/main" noGrp="1"/>
          </p:cNvSpPr>
          <p:nvPr/>
        </p:nvSpPr>
        <p:spPr>
          <a:xfrm xmlns:a="http://schemas.openxmlformats.org/drawingml/2006/main">
            <a:off x="3105150" y="4876800"/>
            <a:ext cx="12954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0">
                <a:solidFill>
                  <a:srgbClr val="2C3A4D"/>
                </a:solidFill>
                <a:latin typeface="Aptos"/>
                <a:ea typeface="Aptos"/>
                <a:cs typeface="Aptos"/>
              </a:defRPr>
            </a:pPr>
            <a:r>
              <a:rPr sz="1125" b="0">
                <a:solidFill>
                  <a:srgbClr val="2C3A4D"/>
                </a:solidFill>
                <a:latin typeface="Aptos"/>
                <a:ea typeface="Aptos"/>
                <a:cs typeface="Aptos"/>
              </a:rPr>
              <a:t>Parse · ML · scan</a:t>
            </a:r>
          </a:p>
        </p:txBody>
      </p:sp>
      <p:sp>
        <p:nvSpPr>
          <p:cNvPr id="39" name="">
            <a:extLst xmlns:a="http://schemas.openxmlformats.org/drawingml/2006/main">
              <a:ext uri="{FF2B5EF4-FFF2-40B4-BE49-F238E27FC236}">
                <a16:creationId xmlns:a16="http://schemas.microsoft.com/office/drawing/2014/main" id="{04D90090-A674-452C-BE83-959FAE8DEB31}"/>
              </a:ext>
            </a:extLst>
          </p:cNvPr>
          <p:cNvSpPr>
            <a:spLocks xmlns:a="http://schemas.openxmlformats.org/drawingml/2006/main" noGrp="1"/>
          </p:cNvSpPr>
          <p:nvPr/>
        </p:nvSpPr>
        <p:spPr>
          <a:xfrm xmlns:a="http://schemas.openxmlformats.org/drawingml/2006/main">
            <a:off x="4667250" y="4743450"/>
            <a:ext cx="285750" cy="209550"/>
          </a:xfrm>
          <a:prstGeom xmlns:a="http://schemas.openxmlformats.org/drawingml/2006/main" prst="rightArrow">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40" name="">
            <a:extLst xmlns:a="http://schemas.openxmlformats.org/drawingml/2006/main">
              <a:ext uri="{FF2B5EF4-FFF2-40B4-BE49-F238E27FC236}">
                <a16:creationId xmlns:a16="http://schemas.microsoft.com/office/drawing/2014/main" id="{C986A8E5-FEBA-4B3D-B240-F3181580435B}"/>
              </a:ext>
            </a:extLst>
          </p:cNvPr>
          <p:cNvSpPr>
            <a:spLocks xmlns:a="http://schemas.openxmlformats.org/drawingml/2006/main" noGrp="1"/>
          </p:cNvSpPr>
          <p:nvPr/>
        </p:nvSpPr>
        <p:spPr>
          <a:xfrm xmlns:a="http://schemas.openxmlformats.org/drawingml/2006/main">
            <a:off x="5067300" y="4476750"/>
            <a:ext cx="16002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41" name="">
            <a:extLst xmlns:a="http://schemas.openxmlformats.org/drawingml/2006/main">
              <a:ext uri="{FF2B5EF4-FFF2-40B4-BE49-F238E27FC236}">
                <a16:creationId xmlns:a16="http://schemas.microsoft.com/office/drawing/2014/main" id="{88BC897C-3561-4DFE-B085-DB33E35F5F62}"/>
              </a:ext>
            </a:extLst>
          </p:cNvPr>
          <p:cNvSpPr>
            <a:spLocks xmlns:a="http://schemas.openxmlformats.org/drawingml/2006/main" noGrp="1"/>
          </p:cNvSpPr>
          <p:nvPr/>
        </p:nvSpPr>
        <p:spPr>
          <a:xfrm xmlns:a="http://schemas.openxmlformats.org/drawingml/2006/main">
            <a:off x="5219700" y="4562475"/>
            <a:ext cx="12954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425" b="1">
                <a:solidFill>
                  <a:srgbClr val="11243D"/>
                </a:solidFill>
                <a:latin typeface="Aptos"/>
                <a:ea typeface="Aptos"/>
                <a:cs typeface="Aptos"/>
              </a:defRPr>
            </a:pPr>
            <a:r>
              <a:rPr sz="1425" b="1">
                <a:solidFill>
                  <a:srgbClr val="11243D"/>
                </a:solidFill>
                <a:latin typeface="Aptos"/>
                <a:ea typeface="Aptos"/>
                <a:cs typeface="Aptos"/>
              </a:rPr>
              <a:t>S3 +</a:t>
            </a:r>
          </a:p>
          <a:p xmlns:a="http://schemas.openxmlformats.org/drawingml/2006/main">
            <a:pPr algn="ctr">
              <a:defRPr sz="1425" b="1">
                <a:solidFill>
                  <a:srgbClr val="11243D"/>
                </a:solidFill>
                <a:latin typeface="Aptos"/>
                <a:ea typeface="Aptos"/>
                <a:cs typeface="Aptos"/>
              </a:defRPr>
            </a:pPr>
            <a:r>
              <a:rPr sz="1425" b="1">
                <a:solidFill>
                  <a:srgbClr val="11243D"/>
                </a:solidFill>
                <a:latin typeface="Aptos"/>
                <a:ea typeface="Aptos"/>
                <a:cs typeface="Aptos"/>
              </a:rPr>
              <a:t>DynamoDB</a:t>
            </a:r>
          </a:p>
        </p:txBody>
      </p:sp>
      <p:sp>
        <p:nvSpPr>
          <p:cNvPr id="42" name="">
            <a:extLst xmlns:a="http://schemas.openxmlformats.org/drawingml/2006/main">
              <a:ext uri="{FF2B5EF4-FFF2-40B4-BE49-F238E27FC236}">
                <a16:creationId xmlns:a16="http://schemas.microsoft.com/office/drawing/2014/main" id="{F45A85F3-D4B9-401B-A0D7-0EDED920480D}"/>
              </a:ext>
            </a:extLst>
          </p:cNvPr>
          <p:cNvSpPr>
            <a:spLocks xmlns:a="http://schemas.openxmlformats.org/drawingml/2006/main" noGrp="1"/>
          </p:cNvSpPr>
          <p:nvPr/>
        </p:nvSpPr>
        <p:spPr>
          <a:xfrm xmlns:a="http://schemas.openxmlformats.org/drawingml/2006/main">
            <a:off x="5219700" y="4876800"/>
            <a:ext cx="12954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0">
                <a:solidFill>
                  <a:srgbClr val="2C3A4D"/>
                </a:solidFill>
                <a:latin typeface="Aptos"/>
                <a:ea typeface="Aptos"/>
                <a:cs typeface="Aptos"/>
              </a:defRPr>
            </a:pPr>
            <a:r>
              <a:rPr sz="1125" b="0">
                <a:solidFill>
                  <a:srgbClr val="2C3A4D"/>
                </a:solidFill>
                <a:latin typeface="Aptos"/>
                <a:ea typeface="Aptos"/>
                <a:cs typeface="Aptos"/>
              </a:rPr>
              <a:t>Artifacts · ledger</a:t>
            </a:r>
          </a:p>
        </p:txBody>
      </p:sp>
      <p:sp>
        <p:nvSpPr>
          <p:cNvPr id="43" name="">
            <a:extLst xmlns:a="http://schemas.openxmlformats.org/drawingml/2006/main">
              <a:ext uri="{FF2B5EF4-FFF2-40B4-BE49-F238E27FC236}">
                <a16:creationId xmlns:a16="http://schemas.microsoft.com/office/drawing/2014/main" id="{8DCDC04E-0D33-4EF6-9C2A-77179DA17BD2}"/>
              </a:ext>
            </a:extLst>
          </p:cNvPr>
          <p:cNvSpPr>
            <a:spLocks xmlns:a="http://schemas.openxmlformats.org/drawingml/2006/main" noGrp="1"/>
          </p:cNvSpPr>
          <p:nvPr/>
        </p:nvSpPr>
        <p:spPr>
          <a:xfrm xmlns:a="http://schemas.openxmlformats.org/drawingml/2006/main">
            <a:off x="6781800" y="4743450"/>
            <a:ext cx="285750" cy="209550"/>
          </a:xfrm>
          <a:prstGeom xmlns:a="http://schemas.openxmlformats.org/drawingml/2006/main" prst="rightArrow">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44" name="">
            <a:extLst xmlns:a="http://schemas.openxmlformats.org/drawingml/2006/main">
              <a:ext uri="{FF2B5EF4-FFF2-40B4-BE49-F238E27FC236}">
                <a16:creationId xmlns:a16="http://schemas.microsoft.com/office/drawing/2014/main" id="{2125737F-81C9-484B-9DA8-274AC37C84A0}"/>
              </a:ext>
            </a:extLst>
          </p:cNvPr>
          <p:cNvSpPr>
            <a:spLocks xmlns:a="http://schemas.openxmlformats.org/drawingml/2006/main" noGrp="1"/>
          </p:cNvSpPr>
          <p:nvPr/>
        </p:nvSpPr>
        <p:spPr>
          <a:xfrm xmlns:a="http://schemas.openxmlformats.org/drawingml/2006/main">
            <a:off x="7181850" y="4476750"/>
            <a:ext cx="16002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45" name="">
            <a:extLst xmlns:a="http://schemas.openxmlformats.org/drawingml/2006/main">
              <a:ext uri="{FF2B5EF4-FFF2-40B4-BE49-F238E27FC236}">
                <a16:creationId xmlns:a16="http://schemas.microsoft.com/office/drawing/2014/main" id="{35A3EEAB-50E1-4C34-84E8-3A1D05D3E309}"/>
              </a:ext>
            </a:extLst>
          </p:cNvPr>
          <p:cNvSpPr>
            <a:spLocks xmlns:a="http://schemas.openxmlformats.org/drawingml/2006/main" noGrp="1"/>
          </p:cNvSpPr>
          <p:nvPr/>
        </p:nvSpPr>
        <p:spPr>
          <a:xfrm xmlns:a="http://schemas.openxmlformats.org/drawingml/2006/main">
            <a:off x="7334250" y="4562475"/>
            <a:ext cx="12954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425" b="1">
                <a:solidFill>
                  <a:srgbClr val="11243D"/>
                </a:solidFill>
                <a:latin typeface="Aptos"/>
                <a:ea typeface="Aptos"/>
                <a:cs typeface="Aptos"/>
              </a:defRPr>
            </a:pPr>
            <a:r>
              <a:rPr sz="1425" b="1">
                <a:solidFill>
                  <a:srgbClr val="11243D"/>
                </a:solidFill>
                <a:latin typeface="Aptos"/>
                <a:ea typeface="Aptos"/>
                <a:cs typeface="Aptos"/>
              </a:rPr>
              <a:t>FastAPI</a:t>
            </a:r>
          </a:p>
        </p:txBody>
      </p:sp>
      <p:sp>
        <p:nvSpPr>
          <p:cNvPr id="46" name="">
            <a:extLst xmlns:a="http://schemas.openxmlformats.org/drawingml/2006/main">
              <a:ext uri="{FF2B5EF4-FFF2-40B4-BE49-F238E27FC236}">
                <a16:creationId xmlns:a16="http://schemas.microsoft.com/office/drawing/2014/main" id="{CFD1383A-6518-4E29-90D2-02969D529D8C}"/>
              </a:ext>
            </a:extLst>
          </p:cNvPr>
          <p:cNvSpPr>
            <a:spLocks xmlns:a="http://schemas.openxmlformats.org/drawingml/2006/main" noGrp="1"/>
          </p:cNvSpPr>
          <p:nvPr/>
        </p:nvSpPr>
        <p:spPr>
          <a:xfrm xmlns:a="http://schemas.openxmlformats.org/drawingml/2006/main">
            <a:off x="7334250" y="4876800"/>
            <a:ext cx="12954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0">
                <a:solidFill>
                  <a:srgbClr val="2C3A4D"/>
                </a:solidFill>
                <a:latin typeface="Aptos"/>
                <a:ea typeface="Aptos"/>
                <a:cs typeface="Aptos"/>
              </a:defRPr>
            </a:pPr>
            <a:r>
              <a:rPr sz="1125" b="0">
                <a:solidFill>
                  <a:srgbClr val="2C3A4D"/>
                </a:solidFill>
                <a:latin typeface="Aptos"/>
                <a:ea typeface="Aptos"/>
                <a:cs typeface="Aptos"/>
              </a:rPr>
              <a:t>Authenticated API</a:t>
            </a:r>
          </a:p>
        </p:txBody>
      </p:sp>
      <p:sp>
        <p:nvSpPr>
          <p:cNvPr id="47" name="">
            <a:extLst xmlns:a="http://schemas.openxmlformats.org/drawingml/2006/main">
              <a:ext uri="{FF2B5EF4-FFF2-40B4-BE49-F238E27FC236}">
                <a16:creationId xmlns:a16="http://schemas.microsoft.com/office/drawing/2014/main" id="{E4321CDD-60A9-46EC-B32A-C22872A10FF8}"/>
              </a:ext>
            </a:extLst>
          </p:cNvPr>
          <p:cNvSpPr>
            <a:spLocks xmlns:a="http://schemas.openxmlformats.org/drawingml/2006/main" noGrp="1"/>
          </p:cNvSpPr>
          <p:nvPr/>
        </p:nvSpPr>
        <p:spPr>
          <a:xfrm xmlns:a="http://schemas.openxmlformats.org/drawingml/2006/main">
            <a:off x="8896350" y="4743450"/>
            <a:ext cx="285750" cy="209550"/>
          </a:xfrm>
          <a:prstGeom xmlns:a="http://schemas.openxmlformats.org/drawingml/2006/main" prst="rightArrow">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48" name="">
            <a:extLst xmlns:a="http://schemas.openxmlformats.org/drawingml/2006/main">
              <a:ext uri="{FF2B5EF4-FFF2-40B4-BE49-F238E27FC236}">
                <a16:creationId xmlns:a16="http://schemas.microsoft.com/office/drawing/2014/main" id="{6DD69E10-94DA-4A78-840D-F468AC72B73C}"/>
              </a:ext>
            </a:extLst>
          </p:cNvPr>
          <p:cNvSpPr>
            <a:spLocks xmlns:a="http://schemas.openxmlformats.org/drawingml/2006/main" noGrp="1"/>
          </p:cNvSpPr>
          <p:nvPr/>
        </p:nvSpPr>
        <p:spPr>
          <a:xfrm xmlns:a="http://schemas.openxmlformats.org/drawingml/2006/main">
            <a:off x="9296400" y="4476750"/>
            <a:ext cx="16002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49" name="">
            <a:extLst xmlns:a="http://schemas.openxmlformats.org/drawingml/2006/main">
              <a:ext uri="{FF2B5EF4-FFF2-40B4-BE49-F238E27FC236}">
                <a16:creationId xmlns:a16="http://schemas.microsoft.com/office/drawing/2014/main" id="{02920835-4B3E-42F7-99DC-ED87A80DCBE2}"/>
              </a:ext>
            </a:extLst>
          </p:cNvPr>
          <p:cNvSpPr>
            <a:spLocks xmlns:a="http://schemas.openxmlformats.org/drawingml/2006/main" noGrp="1"/>
          </p:cNvSpPr>
          <p:nvPr/>
        </p:nvSpPr>
        <p:spPr>
          <a:xfrm xmlns:a="http://schemas.openxmlformats.org/drawingml/2006/main">
            <a:off x="9448800" y="4562475"/>
            <a:ext cx="12954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425" b="1">
                <a:solidFill>
                  <a:srgbClr val="11243D"/>
                </a:solidFill>
                <a:latin typeface="Aptos"/>
                <a:ea typeface="Aptos"/>
                <a:cs typeface="Aptos"/>
              </a:defRPr>
            </a:pPr>
            <a:r>
              <a:rPr sz="1425" b="1">
                <a:solidFill>
                  <a:srgbClr val="11243D"/>
                </a:solidFill>
                <a:latin typeface="Aptos"/>
                <a:ea typeface="Aptos"/>
                <a:cs typeface="Aptos"/>
              </a:rPr>
              <a:t>React</a:t>
            </a:r>
          </a:p>
        </p:txBody>
      </p:sp>
      <p:sp>
        <p:nvSpPr>
          <p:cNvPr id="50" name="">
            <a:extLst xmlns:a="http://schemas.openxmlformats.org/drawingml/2006/main">
              <a:ext uri="{FF2B5EF4-FFF2-40B4-BE49-F238E27FC236}">
                <a16:creationId xmlns:a16="http://schemas.microsoft.com/office/drawing/2014/main" id="{86F87C7B-061A-4EB3-AA19-FD20E5C055F6}"/>
              </a:ext>
            </a:extLst>
          </p:cNvPr>
          <p:cNvSpPr>
            <a:spLocks xmlns:a="http://schemas.openxmlformats.org/drawingml/2006/main" noGrp="1"/>
          </p:cNvSpPr>
          <p:nvPr/>
        </p:nvSpPr>
        <p:spPr>
          <a:xfrm xmlns:a="http://schemas.openxmlformats.org/drawingml/2006/main">
            <a:off x="9448800" y="4876800"/>
            <a:ext cx="12954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0">
                <a:solidFill>
                  <a:srgbClr val="2C3A4D"/>
                </a:solidFill>
                <a:latin typeface="Aptos"/>
                <a:ea typeface="Aptos"/>
                <a:cs typeface="Aptos"/>
              </a:defRPr>
            </a:pPr>
            <a:r>
              <a:rPr sz="1125" b="0">
                <a:solidFill>
                  <a:srgbClr val="2C3A4D"/>
                </a:solidFill>
                <a:latin typeface="Aptos"/>
                <a:ea typeface="Aptos"/>
                <a:cs typeface="Aptos"/>
              </a:rPr>
              <a:t>User/admin review</a:t>
            </a:r>
          </a:p>
        </p:txBody>
      </p:sp>
      <p:sp>
        <p:nvSpPr>
          <p:cNvPr id="51" name="">
            <a:extLst xmlns:a="http://schemas.openxmlformats.org/drawingml/2006/main">
              <a:ext uri="{FF2B5EF4-FFF2-40B4-BE49-F238E27FC236}">
                <a16:creationId xmlns:a16="http://schemas.microsoft.com/office/drawing/2014/main" id="{48D233AE-E7A8-4CDB-8BCF-E2CD0C1476F2}"/>
              </a:ext>
            </a:extLst>
          </p:cNvPr>
          <p:cNvSpPr>
            <a:spLocks xmlns:a="http://schemas.openxmlformats.org/drawingml/2006/main" noGrp="1"/>
          </p:cNvSpPr>
          <p:nvPr/>
        </p:nvSpPr>
        <p:spPr>
          <a:xfrm xmlns:a="http://schemas.openxmlformats.org/drawingml/2006/main">
            <a:off x="1485900" y="5657850"/>
            <a:ext cx="92202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2025" b="1">
                <a:solidFill>
                  <a:srgbClr val="11243D"/>
                </a:solidFill>
                <a:latin typeface="Aptos"/>
                <a:ea typeface="Aptos"/>
                <a:cs typeface="Aptos"/>
              </a:defRPr>
            </a:pPr>
            <a:r>
              <a:rPr sz="2025" b="1">
                <a:solidFill>
                  <a:srgbClr val="11243D"/>
                </a:solidFill>
                <a:latin typeface="Aptos"/>
                <a:ea typeface="Aptos"/>
                <a:cs typeface="Aptos"/>
              </a:rPr>
              <a:t>The event carries metadata and pointers; raw bodies and attachment bytes stay in S3.</a:t>
            </a:r>
          </a:p>
        </p:txBody>
      </p:sp>
    </p:spTree>
    <p:extLst>
      <p:ext uri="{BB962C8B-B14F-4D97-AF65-F5344CB8AC3E}">
        <p14:creationId xmlns:p14="http://schemas.microsoft.com/office/powerpoint/2010/main" val="753951567"/>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A8CC8D6-A855-4036-A52C-DD62CD94718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4EE"/>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AF1DA3B3-7411-4643-A7E5-16F92F326408}"/>
              </a:ext>
            </a:extLst>
          </p:cNvPr>
          <p:cNvSpPr>
            <a:spLocks xmlns:a="http://schemas.openxmlformats.org/drawingml/2006/main" noGrp="1"/>
          </p:cNvSpPr>
          <p:nvPr/>
        </p:nvSpPr>
        <p:spPr>
          <a:xfrm xmlns:a="http://schemas.openxmlformats.org/drawingml/2006/main">
            <a:off x="609600" y="514350"/>
            <a:ext cx="85725" cy="85725"/>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258255F7-AF78-4457-9F03-3F988D30EC08}"/>
              </a:ext>
            </a:extLst>
          </p:cNvPr>
          <p:cNvSpPr>
            <a:spLocks xmlns:a="http://schemas.openxmlformats.org/drawingml/2006/main" noGrp="1"/>
          </p:cNvSpPr>
          <p:nvPr/>
        </p:nvSpPr>
        <p:spPr>
          <a:xfrm xmlns:a="http://schemas.openxmlformats.org/drawingml/2006/main">
            <a:off x="781050" y="400050"/>
            <a:ext cx="49530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200" b="1">
                <a:solidFill>
                  <a:srgbClr val="0B5CAD"/>
                </a:solidFill>
                <a:latin typeface="Aptos"/>
                <a:ea typeface="Aptos"/>
                <a:cs typeface="Aptos"/>
              </a:defRPr>
            </a:pPr>
            <a:r>
              <a:rPr sz="1200" b="1">
                <a:solidFill>
                  <a:srgbClr val="0B5CAD"/>
                </a:solidFill>
                <a:latin typeface="Aptos"/>
                <a:ea typeface="Aptos"/>
                <a:cs typeface="Aptos"/>
              </a:rPr>
              <a:t>WORKFLOW</a:t>
            </a:r>
          </a:p>
        </p:txBody>
      </p:sp>
      <p:sp>
        <p:nvSpPr>
          <p:cNvPr id="4" name="">
            <a:extLst xmlns:a="http://schemas.openxmlformats.org/drawingml/2006/main">
              <a:ext uri="{FF2B5EF4-FFF2-40B4-BE49-F238E27FC236}">
                <a16:creationId xmlns:a16="http://schemas.microsoft.com/office/drawing/2014/main" id="{6771F1B6-9F5E-421D-8D92-EEBDC2588C83}"/>
              </a:ext>
            </a:extLst>
          </p:cNvPr>
          <p:cNvSpPr>
            <a:spLocks xmlns:a="http://schemas.openxmlformats.org/drawingml/2006/main" noGrp="1"/>
          </p:cNvSpPr>
          <p:nvPr/>
        </p:nvSpPr>
        <p:spPr>
          <a:xfrm xmlns:a="http://schemas.openxmlformats.org/drawingml/2006/main">
            <a:off x="609600" y="781050"/>
            <a:ext cx="10001250" cy="1009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600" b="1">
                <a:solidFill>
                  <a:srgbClr val="11243D"/>
                </a:solidFill>
                <a:latin typeface="Aptos Display"/>
                <a:ea typeface="Aptos Display"/>
                <a:cs typeface="Aptos Display"/>
              </a:defRPr>
            </a:pPr>
            <a:r>
              <a:rPr sz="3600" b="1">
                <a:solidFill>
                  <a:srgbClr val="11243D"/>
                </a:solidFill>
                <a:latin typeface="Aptos Display"/>
                <a:ea typeface="Aptos Display"/>
                <a:cs typeface="Aptos Display"/>
              </a:rPr>
              <a:t>Each stage leaves evidence for the next decision.</a:t>
            </a:r>
          </a:p>
        </p:txBody>
      </p:sp>
      <p:sp>
        <p:nvSpPr>
          <p:cNvPr id="5" name="">
            <a:extLst xmlns:a="http://schemas.openxmlformats.org/drawingml/2006/main">
              <a:ext uri="{FF2B5EF4-FFF2-40B4-BE49-F238E27FC236}">
                <a16:creationId xmlns:a16="http://schemas.microsoft.com/office/drawing/2014/main" id="{58382E37-DD31-4863-B785-00983F82B632}"/>
              </a:ext>
            </a:extLst>
          </p:cNvPr>
          <p:cNvSpPr>
            <a:spLocks xmlns:a="http://schemas.openxmlformats.org/drawingml/2006/main" noGrp="1"/>
          </p:cNvSpPr>
          <p:nvPr/>
        </p:nvSpPr>
        <p:spPr>
          <a:xfrm xmlns:a="http://schemas.openxmlformats.org/drawingml/2006/main">
            <a:off x="609600" y="6400800"/>
            <a:ext cx="9810750" cy="9525"/>
          </a:xfrm>
          <a:prstGeom xmlns:a="http://schemas.openxmlformats.org/drawingml/2006/main" prst="rect">
            <a:avLst/>
          </a:prstGeom>
          <a:solidFill xmlns:a="http://schemas.openxmlformats.org/drawingml/2006/main">
            <a:srgbClr val="C7D2E1"/>
          </a:solidFill>
          <a:ln xmlns:a="http://schemas.openxmlformats.org/drawingml/2006/main" w="0">
            <a:solidFill>
              <a:srgbClr val="000000">
                <a:alpha val="0"/>
              </a:srgbClr>
            </a:solidFill>
            <a:prstDash val="solid"/>
          </a:ln>
        </p:spPr>
      </p:sp>
      <p:sp>
        <p:nvSpPr>
          <p:cNvPr id="6" name="">
            <a:extLst xmlns:a="http://schemas.openxmlformats.org/drawingml/2006/main">
              <a:ext uri="{FF2B5EF4-FFF2-40B4-BE49-F238E27FC236}">
                <a16:creationId xmlns:a16="http://schemas.microsoft.com/office/drawing/2014/main" id="{A892F674-3E0A-46AD-8484-737EEDCEF414}"/>
              </a:ext>
            </a:extLst>
          </p:cNvPr>
          <p:cNvSpPr>
            <a:spLocks xmlns:a="http://schemas.openxmlformats.org/drawingml/2006/main" noGrp="1"/>
          </p:cNvSpPr>
          <p:nvPr/>
        </p:nvSpPr>
        <p:spPr>
          <a:xfrm xmlns:a="http://schemas.openxmlformats.org/drawingml/2006/main">
            <a:off x="609600" y="6457950"/>
            <a:ext cx="3429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2C3A4D"/>
                </a:solidFill>
                <a:latin typeface="Aptos"/>
                <a:ea typeface="Aptos"/>
                <a:cs typeface="Aptos"/>
              </a:defRPr>
            </a:pPr>
            <a:r>
              <a:rPr sz="1050" b="0">
                <a:solidFill>
                  <a:srgbClr val="2C3A4D"/>
                </a:solidFill>
                <a:latin typeface="Aptos"/>
                <a:ea typeface="Aptos"/>
                <a:cs typeface="Aptos"/>
              </a:rPr>
              <a:t>Cloud Email Analyzer</a:t>
            </a:r>
          </a:p>
        </p:txBody>
      </p:sp>
      <p:sp>
        <p:nvSpPr>
          <p:cNvPr id="7" name="">
            <a:extLst xmlns:a="http://schemas.openxmlformats.org/drawingml/2006/main">
              <a:ext uri="{FF2B5EF4-FFF2-40B4-BE49-F238E27FC236}">
                <a16:creationId xmlns:a16="http://schemas.microsoft.com/office/drawing/2014/main" id="{E0CE081D-B8E6-4C27-96E8-73DDABF1A269}"/>
              </a:ext>
            </a:extLst>
          </p:cNvPr>
          <p:cNvSpPr>
            <a:spLocks xmlns:a="http://schemas.openxmlformats.org/drawingml/2006/main" noGrp="1"/>
          </p:cNvSpPr>
          <p:nvPr/>
        </p:nvSpPr>
        <p:spPr>
          <a:xfrm xmlns:a="http://schemas.openxmlformats.org/drawingml/2006/main">
            <a:off x="11001375" y="6438900"/>
            <a:ext cx="571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1050" b="0">
                <a:solidFill>
                  <a:srgbClr val="2C3A4D"/>
                </a:solidFill>
                <a:latin typeface="Aptos"/>
                <a:ea typeface="Aptos"/>
                <a:cs typeface="Aptos"/>
              </a:defRPr>
            </a:pPr>
            <a:r>
              <a:rPr sz="1050" b="0">
                <a:solidFill>
                  <a:srgbClr val="2C3A4D"/>
                </a:solidFill>
                <a:latin typeface="Aptos"/>
                <a:ea typeface="Aptos"/>
                <a:cs typeface="Aptos"/>
              </a:rPr>
              <a:t>05</a:t>
            </a:r>
          </a:p>
        </p:txBody>
      </p:sp>
      <p:sp>
        <p:nvSpPr>
          <p:cNvPr id="8" name="">
            <a:extLst xmlns:a="http://schemas.openxmlformats.org/drawingml/2006/main">
              <a:ext uri="{FF2B5EF4-FFF2-40B4-BE49-F238E27FC236}">
                <a16:creationId xmlns:a16="http://schemas.microsoft.com/office/drawing/2014/main" id="{EEE14B93-6F79-4F89-A400-C7E1FA481C90}"/>
              </a:ext>
            </a:extLst>
          </p:cNvPr>
          <p:cNvSpPr>
            <a:spLocks xmlns:a="http://schemas.openxmlformats.org/drawingml/2006/main" noGrp="1"/>
          </p:cNvSpPr>
          <p:nvPr/>
        </p:nvSpPr>
        <p:spPr>
          <a:xfrm xmlns:a="http://schemas.openxmlformats.org/drawingml/2006/main">
            <a:off x="419100" y="2266950"/>
            <a:ext cx="139065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0B5CAD"/>
            </a:solidFill>
            <a:prstDash val="solid"/>
          </a:ln>
        </p:spPr>
      </p:sp>
      <p:sp>
        <p:nvSpPr>
          <p:cNvPr id="9" name="">
            <a:extLst xmlns:a="http://schemas.openxmlformats.org/drawingml/2006/main">
              <a:ext uri="{FF2B5EF4-FFF2-40B4-BE49-F238E27FC236}">
                <a16:creationId xmlns:a16="http://schemas.microsoft.com/office/drawing/2014/main" id="{D7A70837-9752-47BC-821D-F0794953A25F}"/>
              </a:ext>
            </a:extLst>
          </p:cNvPr>
          <p:cNvSpPr>
            <a:spLocks xmlns:a="http://schemas.openxmlformats.org/drawingml/2006/main" noGrp="1"/>
          </p:cNvSpPr>
          <p:nvPr/>
        </p:nvSpPr>
        <p:spPr>
          <a:xfrm xmlns:a="http://schemas.openxmlformats.org/drawingml/2006/main">
            <a:off x="514350" y="2390775"/>
            <a:ext cx="12001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350" b="1">
                <a:solidFill>
                  <a:srgbClr val="0B5CAD"/>
                </a:solidFill>
                <a:latin typeface="Aptos"/>
                <a:ea typeface="Aptos"/>
                <a:cs typeface="Aptos"/>
              </a:defRPr>
            </a:pPr>
            <a:r>
              <a:rPr sz="1350" b="1">
                <a:solidFill>
                  <a:srgbClr val="0B5CAD"/>
                </a:solidFill>
                <a:latin typeface="Aptos"/>
                <a:ea typeface="Aptos"/>
                <a:cs typeface="Aptos"/>
              </a:rPr>
              <a:t>Mail</a:t>
            </a:r>
          </a:p>
          <a:p xmlns:a="http://schemas.openxmlformats.org/drawingml/2006/main">
            <a:pPr algn="ctr">
              <a:defRPr sz="1350" b="1">
                <a:solidFill>
                  <a:srgbClr val="0B5CAD"/>
                </a:solidFill>
                <a:latin typeface="Aptos"/>
                <a:ea typeface="Aptos"/>
                <a:cs typeface="Aptos"/>
              </a:defRPr>
            </a:pPr>
            <a:r>
              <a:rPr sz="1350" b="1">
                <a:solidFill>
                  <a:srgbClr val="0B5CAD"/>
                </a:solidFill>
                <a:latin typeface="Aptos"/>
                <a:ea typeface="Aptos"/>
                <a:cs typeface="Aptos"/>
              </a:rPr>
              <a:t>Received</a:t>
            </a:r>
          </a:p>
        </p:txBody>
      </p:sp>
      <p:sp>
        <p:nvSpPr>
          <p:cNvPr id="10" name="">
            <a:extLst xmlns:a="http://schemas.openxmlformats.org/drawingml/2006/main">
              <a:ext uri="{FF2B5EF4-FFF2-40B4-BE49-F238E27FC236}">
                <a16:creationId xmlns:a16="http://schemas.microsoft.com/office/drawing/2014/main" id="{958CA860-E9CD-42D9-9ED8-3BE8398D2733}"/>
              </a:ext>
            </a:extLst>
          </p:cNvPr>
          <p:cNvSpPr>
            <a:spLocks xmlns:a="http://schemas.openxmlformats.org/drawingml/2006/main" noGrp="1"/>
          </p:cNvSpPr>
          <p:nvPr/>
        </p:nvSpPr>
        <p:spPr>
          <a:xfrm xmlns:a="http://schemas.openxmlformats.org/drawingml/2006/main">
            <a:off x="514350" y="2914650"/>
            <a:ext cx="12001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125" b="0">
                <a:solidFill>
                  <a:srgbClr val="2C3A4D"/>
                </a:solidFill>
                <a:latin typeface="Aptos"/>
                <a:ea typeface="Aptos"/>
                <a:cs typeface="Aptos"/>
              </a:defRPr>
            </a:pPr>
            <a:r>
              <a:rPr sz="1125" b="0">
                <a:solidFill>
                  <a:srgbClr val="2C3A4D"/>
                </a:solidFill>
                <a:latin typeface="Aptos"/>
                <a:ea typeface="Aptos"/>
                <a:cs typeface="Aptos"/>
              </a:rPr>
              <a:t>Canonical event</a:t>
            </a:r>
          </a:p>
        </p:txBody>
      </p:sp>
      <p:sp>
        <p:nvSpPr>
          <p:cNvPr id="11" name="">
            <a:extLst xmlns:a="http://schemas.openxmlformats.org/drawingml/2006/main">
              <a:ext uri="{FF2B5EF4-FFF2-40B4-BE49-F238E27FC236}">
                <a16:creationId xmlns:a16="http://schemas.microsoft.com/office/drawing/2014/main" id="{54F6FF0F-7EEC-4D25-A2F4-418BC4C7ABB9}"/>
              </a:ext>
            </a:extLst>
          </p:cNvPr>
          <p:cNvSpPr>
            <a:spLocks xmlns:a="http://schemas.openxmlformats.org/drawingml/2006/main" noGrp="1"/>
          </p:cNvSpPr>
          <p:nvPr/>
        </p:nvSpPr>
        <p:spPr>
          <a:xfrm xmlns:a="http://schemas.openxmlformats.org/drawingml/2006/main">
            <a:off x="1866900" y="2676525"/>
            <a:ext cx="171450" cy="171450"/>
          </a:xfrm>
          <a:prstGeom xmlns:a="http://schemas.openxmlformats.org/drawingml/2006/main" prst="rightArrow">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B7D7AD63-C86D-428E-BFB3-A824BEDBC79D}"/>
              </a:ext>
            </a:extLst>
          </p:cNvPr>
          <p:cNvSpPr>
            <a:spLocks xmlns:a="http://schemas.openxmlformats.org/drawingml/2006/main" noGrp="1"/>
          </p:cNvSpPr>
          <p:nvPr/>
        </p:nvSpPr>
        <p:spPr>
          <a:xfrm xmlns:a="http://schemas.openxmlformats.org/drawingml/2006/main">
            <a:off x="2019300" y="2266950"/>
            <a:ext cx="139065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13" name="">
            <a:extLst xmlns:a="http://schemas.openxmlformats.org/drawingml/2006/main">
              <a:ext uri="{FF2B5EF4-FFF2-40B4-BE49-F238E27FC236}">
                <a16:creationId xmlns:a16="http://schemas.microsoft.com/office/drawing/2014/main" id="{76B46BC2-B56B-4B53-BB7C-B672DA9065A6}"/>
              </a:ext>
            </a:extLst>
          </p:cNvPr>
          <p:cNvSpPr>
            <a:spLocks xmlns:a="http://schemas.openxmlformats.org/drawingml/2006/main" noGrp="1"/>
          </p:cNvSpPr>
          <p:nvPr/>
        </p:nvSpPr>
        <p:spPr>
          <a:xfrm xmlns:a="http://schemas.openxmlformats.org/drawingml/2006/main">
            <a:off x="2114550" y="2390775"/>
            <a:ext cx="12001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350" b="1">
                <a:solidFill>
                  <a:srgbClr val="11243D"/>
                </a:solidFill>
                <a:latin typeface="Aptos"/>
                <a:ea typeface="Aptos"/>
                <a:cs typeface="Aptos"/>
              </a:defRPr>
            </a:pPr>
            <a:r>
              <a:rPr sz="1350" b="1">
                <a:solidFill>
                  <a:srgbClr val="11243D"/>
                </a:solidFill>
                <a:latin typeface="Aptos"/>
                <a:ea typeface="Aptos"/>
                <a:cs typeface="Aptos"/>
              </a:rPr>
              <a:t>Init</a:t>
            </a:r>
          </a:p>
          <a:p xmlns:a="http://schemas.openxmlformats.org/drawingml/2006/main">
            <a:pPr algn="ctr">
              <a:defRPr sz="1350" b="1">
                <a:solidFill>
                  <a:srgbClr val="11243D"/>
                </a:solidFill>
                <a:latin typeface="Aptos"/>
                <a:ea typeface="Aptos"/>
                <a:cs typeface="Aptos"/>
              </a:defRPr>
            </a:pPr>
            <a:r>
              <a:rPr sz="1350" b="1">
                <a:solidFill>
                  <a:srgbClr val="11243D"/>
                </a:solidFill>
                <a:latin typeface="Aptos"/>
                <a:ea typeface="Aptos"/>
                <a:cs typeface="Aptos"/>
              </a:rPr>
              <a:t>Ledger</a:t>
            </a:r>
          </a:p>
        </p:txBody>
      </p:sp>
      <p:sp>
        <p:nvSpPr>
          <p:cNvPr id="14" name="">
            <a:extLst xmlns:a="http://schemas.openxmlformats.org/drawingml/2006/main">
              <a:ext uri="{FF2B5EF4-FFF2-40B4-BE49-F238E27FC236}">
                <a16:creationId xmlns:a16="http://schemas.microsoft.com/office/drawing/2014/main" id="{9114CCFC-2B3F-4945-A162-2617DA4C908F}"/>
              </a:ext>
            </a:extLst>
          </p:cNvPr>
          <p:cNvSpPr>
            <a:spLocks xmlns:a="http://schemas.openxmlformats.org/drawingml/2006/main" noGrp="1"/>
          </p:cNvSpPr>
          <p:nvPr/>
        </p:nvSpPr>
        <p:spPr>
          <a:xfrm xmlns:a="http://schemas.openxmlformats.org/drawingml/2006/main">
            <a:off x="2114550" y="2914650"/>
            <a:ext cx="12001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125" b="0">
                <a:solidFill>
                  <a:srgbClr val="2C3A4D"/>
                </a:solidFill>
                <a:latin typeface="Aptos"/>
                <a:ea typeface="Aptos"/>
                <a:cs typeface="Aptos"/>
              </a:defRPr>
            </a:pPr>
            <a:r>
              <a:rPr sz="1125" b="0">
                <a:solidFill>
                  <a:srgbClr val="2C3A4D"/>
                </a:solidFill>
                <a:latin typeface="Aptos"/>
                <a:ea typeface="Aptos"/>
                <a:cs typeface="Aptos"/>
              </a:rPr>
              <a:t>RECEIVED row</a:t>
            </a:r>
          </a:p>
        </p:txBody>
      </p:sp>
      <p:sp>
        <p:nvSpPr>
          <p:cNvPr id="15" name="">
            <a:extLst xmlns:a="http://schemas.openxmlformats.org/drawingml/2006/main">
              <a:ext uri="{FF2B5EF4-FFF2-40B4-BE49-F238E27FC236}">
                <a16:creationId xmlns:a16="http://schemas.microsoft.com/office/drawing/2014/main" id="{07B1C80D-0DC9-4A49-83EB-0D50DC7F3394}"/>
              </a:ext>
            </a:extLst>
          </p:cNvPr>
          <p:cNvSpPr>
            <a:spLocks xmlns:a="http://schemas.openxmlformats.org/drawingml/2006/main" noGrp="1"/>
          </p:cNvSpPr>
          <p:nvPr/>
        </p:nvSpPr>
        <p:spPr>
          <a:xfrm xmlns:a="http://schemas.openxmlformats.org/drawingml/2006/main">
            <a:off x="3467100" y="2676525"/>
            <a:ext cx="171450" cy="171450"/>
          </a:xfrm>
          <a:prstGeom xmlns:a="http://schemas.openxmlformats.org/drawingml/2006/main" prst="rightArrow">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177552D8-C458-481D-A4DF-5501060F6A39}"/>
              </a:ext>
            </a:extLst>
          </p:cNvPr>
          <p:cNvSpPr>
            <a:spLocks xmlns:a="http://schemas.openxmlformats.org/drawingml/2006/main" noGrp="1"/>
          </p:cNvSpPr>
          <p:nvPr/>
        </p:nvSpPr>
        <p:spPr>
          <a:xfrm xmlns:a="http://schemas.openxmlformats.org/drawingml/2006/main">
            <a:off x="3619500" y="2266950"/>
            <a:ext cx="139065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17" name="">
            <a:extLst xmlns:a="http://schemas.openxmlformats.org/drawingml/2006/main">
              <a:ext uri="{FF2B5EF4-FFF2-40B4-BE49-F238E27FC236}">
                <a16:creationId xmlns:a16="http://schemas.microsoft.com/office/drawing/2014/main" id="{41967AB8-DF67-4E3F-9559-C5ACCFD4C9E4}"/>
              </a:ext>
            </a:extLst>
          </p:cNvPr>
          <p:cNvSpPr>
            <a:spLocks xmlns:a="http://schemas.openxmlformats.org/drawingml/2006/main" noGrp="1"/>
          </p:cNvSpPr>
          <p:nvPr/>
        </p:nvSpPr>
        <p:spPr>
          <a:xfrm xmlns:a="http://schemas.openxmlformats.org/drawingml/2006/main">
            <a:off x="3714750" y="2390775"/>
            <a:ext cx="12001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350" b="1">
                <a:solidFill>
                  <a:srgbClr val="11243D"/>
                </a:solidFill>
                <a:latin typeface="Aptos"/>
                <a:ea typeface="Aptos"/>
                <a:cs typeface="Aptos"/>
              </a:defRPr>
            </a:pPr>
            <a:r>
              <a:rPr sz="1350" b="1">
                <a:solidFill>
                  <a:srgbClr val="11243D"/>
                </a:solidFill>
                <a:latin typeface="Aptos"/>
                <a:ea typeface="Aptos"/>
                <a:cs typeface="Aptos"/>
              </a:rPr>
              <a:t>Resolve</a:t>
            </a:r>
          </a:p>
          <a:p xmlns:a="http://schemas.openxmlformats.org/drawingml/2006/main">
            <a:pPr algn="ctr">
              <a:defRPr sz="1350" b="1">
                <a:solidFill>
                  <a:srgbClr val="11243D"/>
                </a:solidFill>
                <a:latin typeface="Aptos"/>
                <a:ea typeface="Aptos"/>
                <a:cs typeface="Aptos"/>
              </a:defRPr>
            </a:pPr>
            <a:r>
              <a:rPr sz="1350" b="1">
                <a:solidFill>
                  <a:srgbClr val="11243D"/>
                </a:solidFill>
                <a:latin typeface="Aptos"/>
                <a:ea typeface="Aptos"/>
                <a:cs typeface="Aptos"/>
              </a:rPr>
              <a:t>Recipients</a:t>
            </a:r>
          </a:p>
        </p:txBody>
      </p:sp>
      <p:sp>
        <p:nvSpPr>
          <p:cNvPr id="18" name="">
            <a:extLst xmlns:a="http://schemas.openxmlformats.org/drawingml/2006/main">
              <a:ext uri="{FF2B5EF4-FFF2-40B4-BE49-F238E27FC236}">
                <a16:creationId xmlns:a16="http://schemas.microsoft.com/office/drawing/2014/main" id="{34774205-0E0F-4CDE-87BB-871430B4FD87}"/>
              </a:ext>
            </a:extLst>
          </p:cNvPr>
          <p:cNvSpPr>
            <a:spLocks xmlns:a="http://schemas.openxmlformats.org/drawingml/2006/main" noGrp="1"/>
          </p:cNvSpPr>
          <p:nvPr/>
        </p:nvSpPr>
        <p:spPr>
          <a:xfrm xmlns:a="http://schemas.openxmlformats.org/drawingml/2006/main">
            <a:off x="3714750" y="2914650"/>
            <a:ext cx="12001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125" b="0">
                <a:solidFill>
                  <a:srgbClr val="2C3A4D"/>
                </a:solidFill>
                <a:latin typeface="Aptos"/>
                <a:ea typeface="Aptos"/>
                <a:cs typeface="Aptos"/>
              </a:defRPr>
            </a:pPr>
            <a:r>
              <a:rPr sz="1125" b="0">
                <a:solidFill>
                  <a:srgbClr val="2C3A4D"/>
                </a:solidFill>
                <a:latin typeface="Aptos"/>
                <a:ea typeface="Aptos"/>
                <a:cs typeface="Aptos"/>
              </a:rPr>
              <a:t>Owner rows</a:t>
            </a:r>
          </a:p>
        </p:txBody>
      </p:sp>
      <p:sp>
        <p:nvSpPr>
          <p:cNvPr id="19" name="">
            <a:extLst xmlns:a="http://schemas.openxmlformats.org/drawingml/2006/main">
              <a:ext uri="{FF2B5EF4-FFF2-40B4-BE49-F238E27FC236}">
                <a16:creationId xmlns:a16="http://schemas.microsoft.com/office/drawing/2014/main" id="{346DFEC7-FFB4-4DB1-8924-0C7F6BA9B99F}"/>
              </a:ext>
            </a:extLst>
          </p:cNvPr>
          <p:cNvSpPr>
            <a:spLocks xmlns:a="http://schemas.openxmlformats.org/drawingml/2006/main" noGrp="1"/>
          </p:cNvSpPr>
          <p:nvPr/>
        </p:nvSpPr>
        <p:spPr>
          <a:xfrm xmlns:a="http://schemas.openxmlformats.org/drawingml/2006/main">
            <a:off x="5067300" y="2676525"/>
            <a:ext cx="171450" cy="171450"/>
          </a:xfrm>
          <a:prstGeom xmlns:a="http://schemas.openxmlformats.org/drawingml/2006/main" prst="rightArrow">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5CB0CA82-E842-4EF8-8F74-5D7BF6A7B788}"/>
              </a:ext>
            </a:extLst>
          </p:cNvPr>
          <p:cNvSpPr>
            <a:spLocks xmlns:a="http://schemas.openxmlformats.org/drawingml/2006/main" noGrp="1"/>
          </p:cNvSpPr>
          <p:nvPr/>
        </p:nvSpPr>
        <p:spPr>
          <a:xfrm xmlns:a="http://schemas.openxmlformats.org/drawingml/2006/main">
            <a:off x="5219700" y="2266950"/>
            <a:ext cx="139065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21" name="">
            <a:extLst xmlns:a="http://schemas.openxmlformats.org/drawingml/2006/main">
              <a:ext uri="{FF2B5EF4-FFF2-40B4-BE49-F238E27FC236}">
                <a16:creationId xmlns:a16="http://schemas.microsoft.com/office/drawing/2014/main" id="{5C2694A0-E803-4CF8-9386-D7A3F0C06D6D}"/>
              </a:ext>
            </a:extLst>
          </p:cNvPr>
          <p:cNvSpPr>
            <a:spLocks xmlns:a="http://schemas.openxmlformats.org/drawingml/2006/main" noGrp="1"/>
          </p:cNvSpPr>
          <p:nvPr/>
        </p:nvSpPr>
        <p:spPr>
          <a:xfrm xmlns:a="http://schemas.openxmlformats.org/drawingml/2006/main">
            <a:off x="5314950" y="2390775"/>
            <a:ext cx="12001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350" b="1">
                <a:solidFill>
                  <a:srgbClr val="11243D"/>
                </a:solidFill>
                <a:latin typeface="Aptos"/>
                <a:ea typeface="Aptos"/>
                <a:cs typeface="Aptos"/>
              </a:defRPr>
            </a:pPr>
            <a:r>
              <a:rPr sz="1350" b="1">
                <a:solidFill>
                  <a:srgbClr val="11243D"/>
                </a:solidFill>
                <a:latin typeface="Aptos"/>
                <a:ea typeface="Aptos"/>
                <a:cs typeface="Aptos"/>
              </a:rPr>
              <a:t>Parse</a:t>
            </a:r>
          </a:p>
          <a:p xmlns:a="http://schemas.openxmlformats.org/drawingml/2006/main">
            <a:pPr algn="ctr">
              <a:defRPr sz="1350" b="1">
                <a:solidFill>
                  <a:srgbClr val="11243D"/>
                </a:solidFill>
                <a:latin typeface="Aptos"/>
                <a:ea typeface="Aptos"/>
                <a:cs typeface="Aptos"/>
              </a:defRPr>
            </a:pPr>
            <a:r>
              <a:rPr sz="1350" b="1">
                <a:solidFill>
                  <a:srgbClr val="11243D"/>
                </a:solidFill>
                <a:latin typeface="Aptos"/>
                <a:ea typeface="Aptos"/>
                <a:cs typeface="Aptos"/>
              </a:rPr>
              <a:t>Email</a:t>
            </a:r>
          </a:p>
        </p:txBody>
      </p:sp>
      <p:sp>
        <p:nvSpPr>
          <p:cNvPr id="22" name="">
            <a:extLst xmlns:a="http://schemas.openxmlformats.org/drawingml/2006/main">
              <a:ext uri="{FF2B5EF4-FFF2-40B4-BE49-F238E27FC236}">
                <a16:creationId xmlns:a16="http://schemas.microsoft.com/office/drawing/2014/main" id="{E7B826F7-2913-4574-8BD8-C3CF46155230}"/>
              </a:ext>
            </a:extLst>
          </p:cNvPr>
          <p:cNvSpPr>
            <a:spLocks xmlns:a="http://schemas.openxmlformats.org/drawingml/2006/main" noGrp="1"/>
          </p:cNvSpPr>
          <p:nvPr/>
        </p:nvSpPr>
        <p:spPr>
          <a:xfrm xmlns:a="http://schemas.openxmlformats.org/drawingml/2006/main">
            <a:off x="5314950" y="2914650"/>
            <a:ext cx="12001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125" b="0">
                <a:solidFill>
                  <a:srgbClr val="2C3A4D"/>
                </a:solidFill>
                <a:latin typeface="Aptos"/>
                <a:ea typeface="Aptos"/>
                <a:cs typeface="Aptos"/>
              </a:defRPr>
            </a:pPr>
            <a:r>
              <a:rPr sz="1125" b="0">
                <a:solidFill>
                  <a:srgbClr val="2C3A4D"/>
                </a:solidFill>
                <a:latin typeface="Aptos"/>
                <a:ea typeface="Aptos"/>
                <a:cs typeface="Aptos"/>
              </a:rPr>
              <a:t>Bodies/files</a:t>
            </a:r>
          </a:p>
        </p:txBody>
      </p:sp>
      <p:sp>
        <p:nvSpPr>
          <p:cNvPr id="23" name="">
            <a:extLst xmlns:a="http://schemas.openxmlformats.org/drawingml/2006/main">
              <a:ext uri="{FF2B5EF4-FFF2-40B4-BE49-F238E27FC236}">
                <a16:creationId xmlns:a16="http://schemas.microsoft.com/office/drawing/2014/main" id="{2B378D4A-3D12-46EF-BA79-28CA6056E9A1}"/>
              </a:ext>
            </a:extLst>
          </p:cNvPr>
          <p:cNvSpPr>
            <a:spLocks xmlns:a="http://schemas.openxmlformats.org/drawingml/2006/main" noGrp="1"/>
          </p:cNvSpPr>
          <p:nvPr/>
        </p:nvSpPr>
        <p:spPr>
          <a:xfrm xmlns:a="http://schemas.openxmlformats.org/drawingml/2006/main">
            <a:off x="6667500" y="2676525"/>
            <a:ext cx="171450" cy="171450"/>
          </a:xfrm>
          <a:prstGeom xmlns:a="http://schemas.openxmlformats.org/drawingml/2006/main" prst="rightArrow">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3A472523-0AA5-493B-BE8D-E33A71135122}"/>
              </a:ext>
            </a:extLst>
          </p:cNvPr>
          <p:cNvSpPr>
            <a:spLocks xmlns:a="http://schemas.openxmlformats.org/drawingml/2006/main" noGrp="1"/>
          </p:cNvSpPr>
          <p:nvPr/>
        </p:nvSpPr>
        <p:spPr>
          <a:xfrm xmlns:a="http://schemas.openxmlformats.org/drawingml/2006/main">
            <a:off x="6819900" y="2266950"/>
            <a:ext cx="139065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25" name="">
            <a:extLst xmlns:a="http://schemas.openxmlformats.org/drawingml/2006/main">
              <a:ext uri="{FF2B5EF4-FFF2-40B4-BE49-F238E27FC236}">
                <a16:creationId xmlns:a16="http://schemas.microsoft.com/office/drawing/2014/main" id="{BF780D03-7711-46FE-A9F9-CA827CAD812B}"/>
              </a:ext>
            </a:extLst>
          </p:cNvPr>
          <p:cNvSpPr>
            <a:spLocks xmlns:a="http://schemas.openxmlformats.org/drawingml/2006/main" noGrp="1"/>
          </p:cNvSpPr>
          <p:nvPr/>
        </p:nvSpPr>
        <p:spPr>
          <a:xfrm xmlns:a="http://schemas.openxmlformats.org/drawingml/2006/main">
            <a:off x="6915150" y="2390775"/>
            <a:ext cx="12001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350" b="1">
                <a:solidFill>
                  <a:srgbClr val="11243D"/>
                </a:solidFill>
                <a:latin typeface="Aptos"/>
                <a:ea typeface="Aptos"/>
                <a:cs typeface="Aptos"/>
              </a:defRPr>
            </a:pPr>
            <a:r>
              <a:rPr sz="1350" b="1">
                <a:solidFill>
                  <a:srgbClr val="11243D"/>
                </a:solidFill>
                <a:latin typeface="Aptos"/>
                <a:ea typeface="Aptos"/>
                <a:cs typeface="Aptos"/>
              </a:rPr>
              <a:t>Phishing</a:t>
            </a:r>
          </a:p>
          <a:p xmlns:a="http://schemas.openxmlformats.org/drawingml/2006/main">
            <a:pPr algn="ctr">
              <a:defRPr sz="1350" b="1">
                <a:solidFill>
                  <a:srgbClr val="11243D"/>
                </a:solidFill>
                <a:latin typeface="Aptos"/>
                <a:ea typeface="Aptos"/>
                <a:cs typeface="Aptos"/>
              </a:defRPr>
            </a:pPr>
            <a:r>
              <a:rPr sz="1350" b="1">
                <a:solidFill>
                  <a:srgbClr val="11243D"/>
                </a:solidFill>
                <a:latin typeface="Aptos"/>
                <a:ea typeface="Aptos"/>
                <a:cs typeface="Aptos"/>
              </a:rPr>
              <a:t>ML</a:t>
            </a:r>
          </a:p>
        </p:txBody>
      </p:sp>
      <p:sp>
        <p:nvSpPr>
          <p:cNvPr id="26" name="">
            <a:extLst xmlns:a="http://schemas.openxmlformats.org/drawingml/2006/main">
              <a:ext uri="{FF2B5EF4-FFF2-40B4-BE49-F238E27FC236}">
                <a16:creationId xmlns:a16="http://schemas.microsoft.com/office/drawing/2014/main" id="{E4C990EA-E2F8-4729-B49C-AF58DA0D0C6A}"/>
              </a:ext>
            </a:extLst>
          </p:cNvPr>
          <p:cNvSpPr>
            <a:spLocks xmlns:a="http://schemas.openxmlformats.org/drawingml/2006/main" noGrp="1"/>
          </p:cNvSpPr>
          <p:nvPr/>
        </p:nvSpPr>
        <p:spPr>
          <a:xfrm xmlns:a="http://schemas.openxmlformats.org/drawingml/2006/main">
            <a:off x="6915150" y="2914650"/>
            <a:ext cx="12001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125" b="0">
                <a:solidFill>
                  <a:srgbClr val="2C3A4D"/>
                </a:solidFill>
                <a:latin typeface="Aptos"/>
                <a:ea typeface="Aptos"/>
                <a:cs typeface="Aptos"/>
              </a:defRPr>
            </a:pPr>
            <a:r>
              <a:rPr sz="1125" b="0">
                <a:solidFill>
                  <a:srgbClr val="2C3A4D"/>
                </a:solidFill>
                <a:latin typeface="Aptos"/>
                <a:ea typeface="Aptos"/>
                <a:cs typeface="Aptos"/>
              </a:rPr>
              <a:t>Text verdict</a:t>
            </a:r>
          </a:p>
        </p:txBody>
      </p:sp>
      <p:sp>
        <p:nvSpPr>
          <p:cNvPr id="27" name="">
            <a:extLst xmlns:a="http://schemas.openxmlformats.org/drawingml/2006/main">
              <a:ext uri="{FF2B5EF4-FFF2-40B4-BE49-F238E27FC236}">
                <a16:creationId xmlns:a16="http://schemas.microsoft.com/office/drawing/2014/main" id="{623CBD53-2E43-4610-B089-28BE55B3E9FF}"/>
              </a:ext>
            </a:extLst>
          </p:cNvPr>
          <p:cNvSpPr>
            <a:spLocks xmlns:a="http://schemas.openxmlformats.org/drawingml/2006/main" noGrp="1"/>
          </p:cNvSpPr>
          <p:nvPr/>
        </p:nvSpPr>
        <p:spPr>
          <a:xfrm xmlns:a="http://schemas.openxmlformats.org/drawingml/2006/main">
            <a:off x="8267700" y="2676525"/>
            <a:ext cx="171450" cy="171450"/>
          </a:xfrm>
          <a:prstGeom xmlns:a="http://schemas.openxmlformats.org/drawingml/2006/main" prst="rightArrow">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7C65B8C0-1FC1-4BFA-9E8F-F67EC388C546}"/>
              </a:ext>
            </a:extLst>
          </p:cNvPr>
          <p:cNvSpPr>
            <a:spLocks xmlns:a="http://schemas.openxmlformats.org/drawingml/2006/main" noGrp="1"/>
          </p:cNvSpPr>
          <p:nvPr/>
        </p:nvSpPr>
        <p:spPr>
          <a:xfrm xmlns:a="http://schemas.openxmlformats.org/drawingml/2006/main">
            <a:off x="8420100" y="2266950"/>
            <a:ext cx="139065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29" name="">
            <a:extLst xmlns:a="http://schemas.openxmlformats.org/drawingml/2006/main">
              <a:ext uri="{FF2B5EF4-FFF2-40B4-BE49-F238E27FC236}">
                <a16:creationId xmlns:a16="http://schemas.microsoft.com/office/drawing/2014/main" id="{CC487E4A-99C7-4B48-801F-A2F7D802DD78}"/>
              </a:ext>
            </a:extLst>
          </p:cNvPr>
          <p:cNvSpPr>
            <a:spLocks xmlns:a="http://schemas.openxmlformats.org/drawingml/2006/main" noGrp="1"/>
          </p:cNvSpPr>
          <p:nvPr/>
        </p:nvSpPr>
        <p:spPr>
          <a:xfrm xmlns:a="http://schemas.openxmlformats.org/drawingml/2006/main">
            <a:off x="8515350" y="2390775"/>
            <a:ext cx="12001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350" b="1">
                <a:solidFill>
                  <a:srgbClr val="11243D"/>
                </a:solidFill>
                <a:latin typeface="Aptos"/>
                <a:ea typeface="Aptos"/>
                <a:cs typeface="Aptos"/>
              </a:defRPr>
            </a:pPr>
            <a:r>
              <a:rPr sz="1350" b="1">
                <a:solidFill>
                  <a:srgbClr val="11243D"/>
                </a:solidFill>
                <a:latin typeface="Aptos"/>
                <a:ea typeface="Aptos"/>
                <a:cs typeface="Aptos"/>
              </a:rPr>
              <a:t>Attachment</a:t>
            </a:r>
          </a:p>
          <a:p xmlns:a="http://schemas.openxmlformats.org/drawingml/2006/main">
            <a:pPr algn="ctr">
              <a:defRPr sz="1350" b="1">
                <a:solidFill>
                  <a:srgbClr val="11243D"/>
                </a:solidFill>
                <a:latin typeface="Aptos"/>
                <a:ea typeface="Aptos"/>
                <a:cs typeface="Aptos"/>
              </a:defRPr>
            </a:pPr>
            <a:r>
              <a:rPr sz="1350" b="1">
                <a:solidFill>
                  <a:srgbClr val="11243D"/>
                </a:solidFill>
                <a:latin typeface="Aptos"/>
                <a:ea typeface="Aptos"/>
                <a:cs typeface="Aptos"/>
              </a:rPr>
              <a:t>Scan</a:t>
            </a:r>
          </a:p>
        </p:txBody>
      </p:sp>
      <p:sp>
        <p:nvSpPr>
          <p:cNvPr id="30" name="">
            <a:extLst xmlns:a="http://schemas.openxmlformats.org/drawingml/2006/main">
              <a:ext uri="{FF2B5EF4-FFF2-40B4-BE49-F238E27FC236}">
                <a16:creationId xmlns:a16="http://schemas.microsoft.com/office/drawing/2014/main" id="{0F2786CB-6DB5-4A7F-AB15-F66436AF16A2}"/>
              </a:ext>
            </a:extLst>
          </p:cNvPr>
          <p:cNvSpPr>
            <a:spLocks xmlns:a="http://schemas.openxmlformats.org/drawingml/2006/main" noGrp="1"/>
          </p:cNvSpPr>
          <p:nvPr/>
        </p:nvSpPr>
        <p:spPr>
          <a:xfrm xmlns:a="http://schemas.openxmlformats.org/drawingml/2006/main">
            <a:off x="8515350" y="2914650"/>
            <a:ext cx="12001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125" b="0">
                <a:solidFill>
                  <a:srgbClr val="2C3A4D"/>
                </a:solidFill>
                <a:latin typeface="Aptos"/>
                <a:ea typeface="Aptos"/>
                <a:cs typeface="Aptos"/>
              </a:defRPr>
            </a:pPr>
            <a:r>
              <a:rPr sz="1125" b="0">
                <a:solidFill>
                  <a:srgbClr val="2C3A4D"/>
                </a:solidFill>
                <a:latin typeface="Aptos"/>
                <a:ea typeface="Aptos"/>
                <a:cs typeface="Aptos"/>
              </a:rPr>
              <a:t>File verdicts</a:t>
            </a:r>
          </a:p>
        </p:txBody>
      </p:sp>
      <p:sp>
        <p:nvSpPr>
          <p:cNvPr id="31" name="">
            <a:extLst xmlns:a="http://schemas.openxmlformats.org/drawingml/2006/main">
              <a:ext uri="{FF2B5EF4-FFF2-40B4-BE49-F238E27FC236}">
                <a16:creationId xmlns:a16="http://schemas.microsoft.com/office/drawing/2014/main" id="{85B2EA63-5650-41D3-8193-8FB503BE90A7}"/>
              </a:ext>
            </a:extLst>
          </p:cNvPr>
          <p:cNvSpPr>
            <a:spLocks xmlns:a="http://schemas.openxmlformats.org/drawingml/2006/main" noGrp="1"/>
          </p:cNvSpPr>
          <p:nvPr/>
        </p:nvSpPr>
        <p:spPr>
          <a:xfrm xmlns:a="http://schemas.openxmlformats.org/drawingml/2006/main">
            <a:off x="9867900" y="2676525"/>
            <a:ext cx="171450" cy="171450"/>
          </a:xfrm>
          <a:prstGeom xmlns:a="http://schemas.openxmlformats.org/drawingml/2006/main" prst="rightArrow">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3C840785-8A94-472E-A437-DEFB6B3FF171}"/>
              </a:ext>
            </a:extLst>
          </p:cNvPr>
          <p:cNvSpPr>
            <a:spLocks xmlns:a="http://schemas.openxmlformats.org/drawingml/2006/main" noGrp="1"/>
          </p:cNvSpPr>
          <p:nvPr/>
        </p:nvSpPr>
        <p:spPr>
          <a:xfrm xmlns:a="http://schemas.openxmlformats.org/drawingml/2006/main">
            <a:off x="10020300" y="2266950"/>
            <a:ext cx="1390650" cy="990600"/>
          </a:xfrm>
          <a:prstGeom xmlns:a="http://schemas.openxmlformats.org/drawingml/2006/main" prst="rect">
            <a:avLst/>
          </a:prstGeom>
          <a:solidFill xmlns:a="http://schemas.openxmlformats.org/drawingml/2006/main">
            <a:srgbClr val="EAF2FB"/>
          </a:solidFill>
          <a:ln xmlns:a="http://schemas.openxmlformats.org/drawingml/2006/main" w="9525">
            <a:solidFill>
              <a:srgbClr val="0B5CAD"/>
            </a:solidFill>
            <a:prstDash val="solid"/>
          </a:ln>
        </p:spPr>
      </p:sp>
      <p:sp>
        <p:nvSpPr>
          <p:cNvPr id="33" name="">
            <a:extLst xmlns:a="http://schemas.openxmlformats.org/drawingml/2006/main">
              <a:ext uri="{FF2B5EF4-FFF2-40B4-BE49-F238E27FC236}">
                <a16:creationId xmlns:a16="http://schemas.microsoft.com/office/drawing/2014/main" id="{5B01D558-10E3-4960-8B78-1B634C9D29CD}"/>
              </a:ext>
            </a:extLst>
          </p:cNvPr>
          <p:cNvSpPr>
            <a:spLocks xmlns:a="http://schemas.openxmlformats.org/drawingml/2006/main" noGrp="1"/>
          </p:cNvSpPr>
          <p:nvPr/>
        </p:nvSpPr>
        <p:spPr>
          <a:xfrm xmlns:a="http://schemas.openxmlformats.org/drawingml/2006/main">
            <a:off x="10115550" y="2390775"/>
            <a:ext cx="12001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350" b="1">
                <a:solidFill>
                  <a:srgbClr val="0B5CAD"/>
                </a:solidFill>
                <a:latin typeface="Aptos"/>
                <a:ea typeface="Aptos"/>
                <a:cs typeface="Aptos"/>
              </a:defRPr>
            </a:pPr>
            <a:r>
              <a:rPr sz="1350" b="1">
                <a:solidFill>
                  <a:srgbClr val="0B5CAD"/>
                </a:solidFill>
                <a:latin typeface="Aptos"/>
                <a:ea typeface="Aptos"/>
                <a:cs typeface="Aptos"/>
              </a:rPr>
              <a:t>Aggregate</a:t>
            </a:r>
          </a:p>
          <a:p xmlns:a="http://schemas.openxmlformats.org/drawingml/2006/main">
            <a:pPr algn="ctr">
              <a:defRPr sz="1350" b="1">
                <a:solidFill>
                  <a:srgbClr val="0B5CAD"/>
                </a:solidFill>
                <a:latin typeface="Aptos"/>
                <a:ea typeface="Aptos"/>
                <a:cs typeface="Aptos"/>
              </a:defRPr>
            </a:pPr>
            <a:r>
              <a:rPr sz="1350" b="1">
                <a:solidFill>
                  <a:srgbClr val="0B5CAD"/>
                </a:solidFill>
                <a:latin typeface="Aptos"/>
                <a:ea typeface="Aptos"/>
                <a:cs typeface="Aptos"/>
              </a:rPr>
              <a:t>Verdict</a:t>
            </a:r>
          </a:p>
        </p:txBody>
      </p:sp>
      <p:sp>
        <p:nvSpPr>
          <p:cNvPr id="34" name="">
            <a:extLst xmlns:a="http://schemas.openxmlformats.org/drawingml/2006/main">
              <a:ext uri="{FF2B5EF4-FFF2-40B4-BE49-F238E27FC236}">
                <a16:creationId xmlns:a16="http://schemas.microsoft.com/office/drawing/2014/main" id="{D9720607-1697-4B7C-A42F-6365C0CA4B8C}"/>
              </a:ext>
            </a:extLst>
          </p:cNvPr>
          <p:cNvSpPr>
            <a:spLocks xmlns:a="http://schemas.openxmlformats.org/drawingml/2006/main" noGrp="1"/>
          </p:cNvSpPr>
          <p:nvPr/>
        </p:nvSpPr>
        <p:spPr>
          <a:xfrm xmlns:a="http://schemas.openxmlformats.org/drawingml/2006/main">
            <a:off x="10115550" y="2914650"/>
            <a:ext cx="12001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125" b="0">
                <a:solidFill>
                  <a:srgbClr val="2C3A4D"/>
                </a:solidFill>
                <a:latin typeface="Aptos"/>
                <a:ea typeface="Aptos"/>
                <a:cs typeface="Aptos"/>
              </a:defRPr>
            </a:pPr>
            <a:r>
              <a:rPr sz="1125" b="0">
                <a:solidFill>
                  <a:srgbClr val="2C3A4D"/>
                </a:solidFill>
                <a:latin typeface="Aptos"/>
                <a:ea typeface="Aptos"/>
                <a:cs typeface="Aptos"/>
              </a:rPr>
              <a:t>Final state</a:t>
            </a:r>
          </a:p>
        </p:txBody>
      </p:sp>
      <p:sp>
        <p:nvSpPr>
          <p:cNvPr id="35" name="">
            <a:extLst xmlns:a="http://schemas.openxmlformats.org/drawingml/2006/main">
              <a:ext uri="{FF2B5EF4-FFF2-40B4-BE49-F238E27FC236}">
                <a16:creationId xmlns:a16="http://schemas.microsoft.com/office/drawing/2014/main" id="{6FA7C3E4-B74F-4AAB-B275-58BEA8FE437B}"/>
              </a:ext>
            </a:extLst>
          </p:cNvPr>
          <p:cNvSpPr>
            <a:spLocks xmlns:a="http://schemas.openxmlformats.org/drawingml/2006/main" noGrp="1"/>
          </p:cNvSpPr>
          <p:nvPr/>
        </p:nvSpPr>
        <p:spPr>
          <a:xfrm xmlns:a="http://schemas.openxmlformats.org/drawingml/2006/main">
            <a:off x="2552700" y="3352800"/>
            <a:ext cx="323850" cy="476250"/>
          </a:xfrm>
          <a:prstGeom xmlns:a="http://schemas.openxmlformats.org/drawingml/2006/main" prst="downArrow">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DD0BDEDF-0DB5-43B8-96C6-9C84D33A5B31}"/>
              </a:ext>
            </a:extLst>
          </p:cNvPr>
          <p:cNvSpPr>
            <a:spLocks xmlns:a="http://schemas.openxmlformats.org/drawingml/2006/main" noGrp="1"/>
          </p:cNvSpPr>
          <p:nvPr/>
        </p:nvSpPr>
        <p:spPr>
          <a:xfrm xmlns:a="http://schemas.openxmlformats.org/drawingml/2006/main">
            <a:off x="5753100" y="3352800"/>
            <a:ext cx="323850" cy="476250"/>
          </a:xfrm>
          <a:prstGeom xmlns:a="http://schemas.openxmlformats.org/drawingml/2006/main" prst="downArrow">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FA00C14A-ABF1-495F-A1DA-350904DD136D}"/>
              </a:ext>
            </a:extLst>
          </p:cNvPr>
          <p:cNvSpPr>
            <a:spLocks xmlns:a="http://schemas.openxmlformats.org/drawingml/2006/main" noGrp="1"/>
          </p:cNvSpPr>
          <p:nvPr/>
        </p:nvSpPr>
        <p:spPr>
          <a:xfrm xmlns:a="http://schemas.openxmlformats.org/drawingml/2006/main">
            <a:off x="8953500" y="3352800"/>
            <a:ext cx="323850" cy="476250"/>
          </a:xfrm>
          <a:prstGeom xmlns:a="http://schemas.openxmlformats.org/drawingml/2006/main" prst="downArrow">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38" name="">
            <a:extLst xmlns:a="http://schemas.openxmlformats.org/drawingml/2006/main">
              <a:ext uri="{FF2B5EF4-FFF2-40B4-BE49-F238E27FC236}">
                <a16:creationId xmlns:a16="http://schemas.microsoft.com/office/drawing/2014/main" id="{05AFC38B-2DA4-4A39-9E18-2C1C9C4BB5EC}"/>
              </a:ext>
            </a:extLst>
          </p:cNvPr>
          <p:cNvSpPr>
            <a:spLocks xmlns:a="http://schemas.openxmlformats.org/drawingml/2006/main" noGrp="1"/>
          </p:cNvSpPr>
          <p:nvPr/>
        </p:nvSpPr>
        <p:spPr>
          <a:xfrm xmlns:a="http://schemas.openxmlformats.org/drawingml/2006/main">
            <a:off x="1466850" y="4019550"/>
            <a:ext cx="2971800" cy="819150"/>
          </a:xfrm>
          <a:prstGeom xmlns:a="http://schemas.openxmlformats.org/drawingml/2006/main" prst="rect">
            <a:avLst/>
          </a:prstGeom>
          <a:solidFill xmlns:a="http://schemas.openxmlformats.org/drawingml/2006/main">
            <a:srgbClr val="F3F5FF"/>
          </a:solidFill>
          <a:ln xmlns:a="http://schemas.openxmlformats.org/drawingml/2006/main" w="9525">
            <a:solidFill>
              <a:srgbClr val="C7D2E1"/>
            </a:solidFill>
            <a:prstDash val="solid"/>
          </a:ln>
        </p:spPr>
      </p:sp>
      <p:sp>
        <p:nvSpPr>
          <p:cNvPr id="39" name="">
            <a:extLst xmlns:a="http://schemas.openxmlformats.org/drawingml/2006/main">
              <a:ext uri="{FF2B5EF4-FFF2-40B4-BE49-F238E27FC236}">
                <a16:creationId xmlns:a16="http://schemas.microsoft.com/office/drawing/2014/main" id="{8C1DE2DE-9752-4CD1-9874-4CD280E875B2}"/>
              </a:ext>
            </a:extLst>
          </p:cNvPr>
          <p:cNvSpPr>
            <a:spLocks xmlns:a="http://schemas.openxmlformats.org/drawingml/2006/main" noGrp="1"/>
          </p:cNvSpPr>
          <p:nvPr/>
        </p:nvSpPr>
        <p:spPr>
          <a:xfrm xmlns:a="http://schemas.openxmlformats.org/drawingml/2006/main">
            <a:off x="1676400" y="4152900"/>
            <a:ext cx="25527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875" b="1">
                <a:solidFill>
                  <a:srgbClr val="11243D"/>
                </a:solidFill>
                <a:latin typeface="Aptos"/>
                <a:ea typeface="Aptos"/>
                <a:cs typeface="Aptos"/>
              </a:defRPr>
            </a:pPr>
            <a:r>
              <a:rPr sz="1875" b="1">
                <a:solidFill>
                  <a:srgbClr val="11243D"/>
                </a:solidFill>
                <a:latin typeface="Aptos"/>
                <a:ea typeface="Aptos"/>
                <a:cs typeface="Aptos"/>
              </a:rPr>
              <a:t>DynamoDB ledger</a:t>
            </a:r>
          </a:p>
        </p:txBody>
      </p:sp>
      <p:sp>
        <p:nvSpPr>
          <p:cNvPr id="40" name="">
            <a:extLst xmlns:a="http://schemas.openxmlformats.org/drawingml/2006/main">
              <a:ext uri="{FF2B5EF4-FFF2-40B4-BE49-F238E27FC236}">
                <a16:creationId xmlns:a16="http://schemas.microsoft.com/office/drawing/2014/main" id="{EC8717FE-69B2-4FC6-8191-A2DA10EF6F2F}"/>
              </a:ext>
            </a:extLst>
          </p:cNvPr>
          <p:cNvSpPr>
            <a:spLocks xmlns:a="http://schemas.openxmlformats.org/drawingml/2006/main" noGrp="1"/>
          </p:cNvSpPr>
          <p:nvPr/>
        </p:nvSpPr>
        <p:spPr>
          <a:xfrm xmlns:a="http://schemas.openxmlformats.org/drawingml/2006/main">
            <a:off x="1676400" y="4476750"/>
            <a:ext cx="2552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500" b="0">
                <a:solidFill>
                  <a:srgbClr val="2C3A4D"/>
                </a:solidFill>
                <a:latin typeface="Aptos"/>
                <a:ea typeface="Aptos"/>
                <a:cs typeface="Aptos"/>
              </a:defRPr>
            </a:pPr>
            <a:r>
              <a:rPr sz="1500" b="0">
                <a:solidFill>
                  <a:srgbClr val="2C3A4D"/>
                </a:solidFill>
                <a:latin typeface="Aptos"/>
                <a:ea typeface="Aptos"/>
                <a:cs typeface="Aptos"/>
              </a:rPr>
              <a:t>messages · inbox · attachments</a:t>
            </a:r>
          </a:p>
        </p:txBody>
      </p:sp>
      <p:sp>
        <p:nvSpPr>
          <p:cNvPr id="41" name="">
            <a:extLst xmlns:a="http://schemas.openxmlformats.org/drawingml/2006/main">
              <a:ext uri="{FF2B5EF4-FFF2-40B4-BE49-F238E27FC236}">
                <a16:creationId xmlns:a16="http://schemas.microsoft.com/office/drawing/2014/main" id="{C59E861E-1394-4401-8DCE-B14499E1D892}"/>
              </a:ext>
            </a:extLst>
          </p:cNvPr>
          <p:cNvSpPr>
            <a:spLocks xmlns:a="http://schemas.openxmlformats.org/drawingml/2006/main" noGrp="1"/>
          </p:cNvSpPr>
          <p:nvPr/>
        </p:nvSpPr>
        <p:spPr>
          <a:xfrm xmlns:a="http://schemas.openxmlformats.org/drawingml/2006/main">
            <a:off x="5257800" y="4019550"/>
            <a:ext cx="3048000" cy="819150"/>
          </a:xfrm>
          <a:prstGeom xmlns:a="http://schemas.openxmlformats.org/drawingml/2006/main" prst="rect">
            <a:avLst/>
          </a:prstGeom>
          <a:solidFill xmlns:a="http://schemas.openxmlformats.org/drawingml/2006/main">
            <a:srgbClr val="F3F5FF"/>
          </a:solidFill>
          <a:ln xmlns:a="http://schemas.openxmlformats.org/drawingml/2006/main" w="9525">
            <a:solidFill>
              <a:srgbClr val="C7D2E1"/>
            </a:solidFill>
            <a:prstDash val="solid"/>
          </a:ln>
        </p:spPr>
      </p:sp>
      <p:sp>
        <p:nvSpPr>
          <p:cNvPr id="42" name="">
            <a:extLst xmlns:a="http://schemas.openxmlformats.org/drawingml/2006/main">
              <a:ext uri="{FF2B5EF4-FFF2-40B4-BE49-F238E27FC236}">
                <a16:creationId xmlns:a16="http://schemas.microsoft.com/office/drawing/2014/main" id="{58C61B08-9E65-487F-BB98-0E4F87D316A5}"/>
              </a:ext>
            </a:extLst>
          </p:cNvPr>
          <p:cNvSpPr>
            <a:spLocks xmlns:a="http://schemas.openxmlformats.org/drawingml/2006/main" noGrp="1"/>
          </p:cNvSpPr>
          <p:nvPr/>
        </p:nvSpPr>
        <p:spPr>
          <a:xfrm xmlns:a="http://schemas.openxmlformats.org/drawingml/2006/main">
            <a:off x="5505450" y="4152900"/>
            <a:ext cx="25527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875" b="1">
                <a:solidFill>
                  <a:srgbClr val="11243D"/>
                </a:solidFill>
                <a:latin typeface="Aptos"/>
                <a:ea typeface="Aptos"/>
                <a:cs typeface="Aptos"/>
              </a:defRPr>
            </a:pPr>
            <a:r>
              <a:rPr sz="1875" b="1">
                <a:solidFill>
                  <a:srgbClr val="11243D"/>
                </a:solidFill>
                <a:latin typeface="Aptos"/>
                <a:ea typeface="Aptos"/>
                <a:cs typeface="Aptos"/>
              </a:rPr>
              <a:t>S3 artifacts</a:t>
            </a:r>
          </a:p>
        </p:txBody>
      </p:sp>
      <p:sp>
        <p:nvSpPr>
          <p:cNvPr id="43" name="">
            <a:extLst xmlns:a="http://schemas.openxmlformats.org/drawingml/2006/main">
              <a:ext uri="{FF2B5EF4-FFF2-40B4-BE49-F238E27FC236}">
                <a16:creationId xmlns:a16="http://schemas.microsoft.com/office/drawing/2014/main" id="{A13B7D6D-0C4B-47C2-A4EC-348F00C5EE96}"/>
              </a:ext>
            </a:extLst>
          </p:cNvPr>
          <p:cNvSpPr>
            <a:spLocks xmlns:a="http://schemas.openxmlformats.org/drawingml/2006/main" noGrp="1"/>
          </p:cNvSpPr>
          <p:nvPr/>
        </p:nvSpPr>
        <p:spPr>
          <a:xfrm xmlns:a="http://schemas.openxmlformats.org/drawingml/2006/main">
            <a:off x="5505450" y="4476750"/>
            <a:ext cx="2552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500" b="0">
                <a:solidFill>
                  <a:srgbClr val="2C3A4D"/>
                </a:solidFill>
                <a:latin typeface="Aptos"/>
                <a:ea typeface="Aptos"/>
                <a:cs typeface="Aptos"/>
              </a:defRPr>
            </a:pPr>
            <a:r>
              <a:rPr sz="1500" b="0">
                <a:solidFill>
                  <a:srgbClr val="2C3A4D"/>
                </a:solidFill>
                <a:latin typeface="Aptos"/>
                <a:ea typeface="Aptos"/>
                <a:cs typeface="Aptos"/>
              </a:rPr>
              <a:t>raw · parsed · attachments</a:t>
            </a:r>
          </a:p>
        </p:txBody>
      </p:sp>
      <p:sp>
        <p:nvSpPr>
          <p:cNvPr id="44" name="">
            <a:extLst xmlns:a="http://schemas.openxmlformats.org/drawingml/2006/main">
              <a:ext uri="{FF2B5EF4-FFF2-40B4-BE49-F238E27FC236}">
                <a16:creationId xmlns:a16="http://schemas.microsoft.com/office/drawing/2014/main" id="{B85D2362-FCE1-4A0A-BDB0-348D9E7C07FB}"/>
              </a:ext>
            </a:extLst>
          </p:cNvPr>
          <p:cNvSpPr>
            <a:spLocks xmlns:a="http://schemas.openxmlformats.org/drawingml/2006/main" noGrp="1"/>
          </p:cNvSpPr>
          <p:nvPr/>
        </p:nvSpPr>
        <p:spPr>
          <a:xfrm xmlns:a="http://schemas.openxmlformats.org/drawingml/2006/main">
            <a:off x="9029700" y="4019550"/>
            <a:ext cx="2190750" cy="819150"/>
          </a:xfrm>
          <a:prstGeom xmlns:a="http://schemas.openxmlformats.org/drawingml/2006/main" prst="rect">
            <a:avLst/>
          </a:prstGeom>
          <a:solidFill xmlns:a="http://schemas.openxmlformats.org/drawingml/2006/main">
            <a:srgbClr val="F3F5FF"/>
          </a:solidFill>
          <a:ln xmlns:a="http://schemas.openxmlformats.org/drawingml/2006/main" w="9525">
            <a:solidFill>
              <a:srgbClr val="C7D2E1"/>
            </a:solidFill>
            <a:prstDash val="solid"/>
          </a:ln>
        </p:spPr>
      </p:sp>
      <p:sp>
        <p:nvSpPr>
          <p:cNvPr id="45" name="">
            <a:extLst xmlns:a="http://schemas.openxmlformats.org/drawingml/2006/main">
              <a:ext uri="{FF2B5EF4-FFF2-40B4-BE49-F238E27FC236}">
                <a16:creationId xmlns:a16="http://schemas.microsoft.com/office/drawing/2014/main" id="{257222B8-A2F8-44F8-8C0B-EDFBDAFA1282}"/>
              </a:ext>
            </a:extLst>
          </p:cNvPr>
          <p:cNvSpPr>
            <a:spLocks xmlns:a="http://schemas.openxmlformats.org/drawingml/2006/main" noGrp="1"/>
          </p:cNvSpPr>
          <p:nvPr/>
        </p:nvSpPr>
        <p:spPr>
          <a:xfrm xmlns:a="http://schemas.openxmlformats.org/drawingml/2006/main">
            <a:off x="9258300" y="4152900"/>
            <a:ext cx="17335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875" b="1">
                <a:solidFill>
                  <a:srgbClr val="11243D"/>
                </a:solidFill>
                <a:latin typeface="Aptos"/>
                <a:ea typeface="Aptos"/>
                <a:cs typeface="Aptos"/>
              </a:defRPr>
            </a:pPr>
            <a:r>
              <a:rPr sz="1875" b="1">
                <a:solidFill>
                  <a:srgbClr val="11243D"/>
                </a:solidFill>
                <a:latin typeface="Aptos"/>
                <a:ea typeface="Aptos"/>
                <a:cs typeface="Aptos"/>
              </a:rPr>
              <a:t>Final verdict</a:t>
            </a:r>
          </a:p>
        </p:txBody>
      </p:sp>
      <p:sp>
        <p:nvSpPr>
          <p:cNvPr id="46" name="">
            <a:extLst xmlns:a="http://schemas.openxmlformats.org/drawingml/2006/main">
              <a:ext uri="{FF2B5EF4-FFF2-40B4-BE49-F238E27FC236}">
                <a16:creationId xmlns:a16="http://schemas.microsoft.com/office/drawing/2014/main" id="{84221F66-FE1F-47C2-9266-019A7CEA27EF}"/>
              </a:ext>
            </a:extLst>
          </p:cNvPr>
          <p:cNvSpPr>
            <a:spLocks xmlns:a="http://schemas.openxmlformats.org/drawingml/2006/main" noGrp="1"/>
          </p:cNvSpPr>
          <p:nvPr/>
        </p:nvSpPr>
        <p:spPr>
          <a:xfrm xmlns:a="http://schemas.openxmlformats.org/drawingml/2006/main">
            <a:off x="9220200" y="4476750"/>
            <a:ext cx="1809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425" b="0">
                <a:solidFill>
                  <a:srgbClr val="2C3A4D"/>
                </a:solidFill>
                <a:latin typeface="Aptos"/>
                <a:ea typeface="Aptos"/>
                <a:cs typeface="Aptos"/>
              </a:defRPr>
            </a:pPr>
            <a:r>
              <a:rPr sz="1425" b="0">
                <a:solidFill>
                  <a:srgbClr val="2C3A4D"/>
                </a:solidFill>
                <a:latin typeface="Aptos"/>
                <a:ea typeface="Aptos"/>
                <a:cs typeface="Aptos"/>
              </a:rPr>
              <a:t>safe · suspicious · unsafe</a:t>
            </a:r>
          </a:p>
        </p:txBody>
      </p:sp>
      <p:sp>
        <p:nvSpPr>
          <p:cNvPr id="47" name="">
            <a:extLst xmlns:a="http://schemas.openxmlformats.org/drawingml/2006/main">
              <a:ext uri="{FF2B5EF4-FFF2-40B4-BE49-F238E27FC236}">
                <a16:creationId xmlns:a16="http://schemas.microsoft.com/office/drawing/2014/main" id="{FCAE76CF-235A-41D9-AE42-4BCD74D5E377}"/>
              </a:ext>
            </a:extLst>
          </p:cNvPr>
          <p:cNvSpPr>
            <a:spLocks xmlns:a="http://schemas.openxmlformats.org/drawingml/2006/main" noGrp="1"/>
          </p:cNvSpPr>
          <p:nvPr/>
        </p:nvSpPr>
        <p:spPr>
          <a:xfrm xmlns:a="http://schemas.openxmlformats.org/drawingml/2006/main">
            <a:off x="933450" y="5295900"/>
            <a:ext cx="57150" cy="533400"/>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48" name="">
            <a:extLst xmlns:a="http://schemas.openxmlformats.org/drawingml/2006/main">
              <a:ext uri="{FF2B5EF4-FFF2-40B4-BE49-F238E27FC236}">
                <a16:creationId xmlns:a16="http://schemas.microsoft.com/office/drawing/2014/main" id="{717451D6-8F9F-46CC-B63C-596DFEA9525D}"/>
              </a:ext>
            </a:extLst>
          </p:cNvPr>
          <p:cNvSpPr>
            <a:spLocks xmlns:a="http://schemas.openxmlformats.org/drawingml/2006/main" noGrp="1"/>
          </p:cNvSpPr>
          <p:nvPr/>
        </p:nvSpPr>
        <p:spPr>
          <a:xfrm xmlns:a="http://schemas.openxmlformats.org/drawingml/2006/main">
            <a:off x="1104900" y="5200650"/>
            <a:ext cx="28575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725" b="1">
                <a:solidFill>
                  <a:srgbClr val="11243D"/>
                </a:solidFill>
                <a:latin typeface="Aptos"/>
                <a:ea typeface="Aptos"/>
                <a:cs typeface="Aptos"/>
              </a:defRPr>
            </a:pPr>
            <a:r>
              <a:rPr sz="1725" b="1">
                <a:solidFill>
                  <a:srgbClr val="11243D"/>
                </a:solidFill>
                <a:latin typeface="Aptos"/>
                <a:ea typeface="Aptos"/>
                <a:cs typeface="Aptos"/>
              </a:rPr>
              <a:t>Recipient ownership</a:t>
            </a:r>
          </a:p>
        </p:txBody>
      </p:sp>
      <p:sp>
        <p:nvSpPr>
          <p:cNvPr id="49" name="">
            <a:extLst xmlns:a="http://schemas.openxmlformats.org/drawingml/2006/main">
              <a:ext uri="{FF2B5EF4-FFF2-40B4-BE49-F238E27FC236}">
                <a16:creationId xmlns:a16="http://schemas.microsoft.com/office/drawing/2014/main" id="{2503265C-7EB8-4255-95C1-1602EB9C8043}"/>
              </a:ext>
            </a:extLst>
          </p:cNvPr>
          <p:cNvSpPr>
            <a:spLocks xmlns:a="http://schemas.openxmlformats.org/drawingml/2006/main" noGrp="1"/>
          </p:cNvSpPr>
          <p:nvPr/>
        </p:nvSpPr>
        <p:spPr>
          <a:xfrm xmlns:a="http://schemas.openxmlformats.org/drawingml/2006/main">
            <a:off x="1104900" y="5524500"/>
            <a:ext cx="28003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2C3A4D"/>
                </a:solidFill>
                <a:latin typeface="Aptos"/>
                <a:ea typeface="Aptos"/>
                <a:cs typeface="Aptos"/>
              </a:defRPr>
            </a:pPr>
            <a:r>
              <a:rPr sz="1350" b="0">
                <a:solidFill>
                  <a:srgbClr val="2C3A4D"/>
                </a:solidFill>
                <a:latin typeface="Aptos"/>
                <a:ea typeface="Aptos"/>
                <a:cs typeface="Aptos"/>
              </a:rPr>
              <a:t>Envelope recipients become user inbox rows or admin review.</a:t>
            </a:r>
          </a:p>
        </p:txBody>
      </p:sp>
      <p:sp>
        <p:nvSpPr>
          <p:cNvPr id="50" name="">
            <a:extLst xmlns:a="http://schemas.openxmlformats.org/drawingml/2006/main">
              <a:ext uri="{FF2B5EF4-FFF2-40B4-BE49-F238E27FC236}">
                <a16:creationId xmlns:a16="http://schemas.microsoft.com/office/drawing/2014/main" id="{83920906-D7BC-49AB-9389-6D1662347FE7}"/>
              </a:ext>
            </a:extLst>
          </p:cNvPr>
          <p:cNvSpPr>
            <a:spLocks xmlns:a="http://schemas.openxmlformats.org/drawingml/2006/main" noGrp="1"/>
          </p:cNvSpPr>
          <p:nvPr/>
        </p:nvSpPr>
        <p:spPr>
          <a:xfrm xmlns:a="http://schemas.openxmlformats.org/drawingml/2006/main">
            <a:off x="4410075" y="5295900"/>
            <a:ext cx="57150" cy="533400"/>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51" name="">
            <a:extLst xmlns:a="http://schemas.openxmlformats.org/drawingml/2006/main">
              <a:ext uri="{FF2B5EF4-FFF2-40B4-BE49-F238E27FC236}">
                <a16:creationId xmlns:a16="http://schemas.microsoft.com/office/drawing/2014/main" id="{F0766394-68D0-4096-A1F8-9B06BC2C5B1A}"/>
              </a:ext>
            </a:extLst>
          </p:cNvPr>
          <p:cNvSpPr>
            <a:spLocks xmlns:a="http://schemas.openxmlformats.org/drawingml/2006/main" noGrp="1"/>
          </p:cNvSpPr>
          <p:nvPr/>
        </p:nvSpPr>
        <p:spPr>
          <a:xfrm xmlns:a="http://schemas.openxmlformats.org/drawingml/2006/main">
            <a:off x="4581525" y="5200650"/>
            <a:ext cx="28575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725" b="1">
                <a:solidFill>
                  <a:srgbClr val="11243D"/>
                </a:solidFill>
                <a:latin typeface="Aptos"/>
                <a:ea typeface="Aptos"/>
                <a:cs typeface="Aptos"/>
              </a:defRPr>
            </a:pPr>
            <a:r>
              <a:rPr sz="1725" b="1">
                <a:solidFill>
                  <a:srgbClr val="11243D"/>
                </a:solidFill>
                <a:latin typeface="Aptos"/>
                <a:ea typeface="Aptos"/>
                <a:cs typeface="Aptos"/>
              </a:rPr>
              <a:t>Detector outputs</a:t>
            </a:r>
          </a:p>
        </p:txBody>
      </p:sp>
      <p:sp>
        <p:nvSpPr>
          <p:cNvPr id="52" name="">
            <a:extLst xmlns:a="http://schemas.openxmlformats.org/drawingml/2006/main">
              <a:ext uri="{FF2B5EF4-FFF2-40B4-BE49-F238E27FC236}">
                <a16:creationId xmlns:a16="http://schemas.microsoft.com/office/drawing/2014/main" id="{94AFC167-3378-4428-BF7B-4F76C761AB7C}"/>
              </a:ext>
            </a:extLst>
          </p:cNvPr>
          <p:cNvSpPr>
            <a:spLocks xmlns:a="http://schemas.openxmlformats.org/drawingml/2006/main" noGrp="1"/>
          </p:cNvSpPr>
          <p:nvPr/>
        </p:nvSpPr>
        <p:spPr>
          <a:xfrm xmlns:a="http://schemas.openxmlformats.org/drawingml/2006/main">
            <a:off x="4581525" y="5524500"/>
            <a:ext cx="28003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2C3A4D"/>
                </a:solidFill>
                <a:latin typeface="Aptos"/>
                <a:ea typeface="Aptos"/>
                <a:cs typeface="Aptos"/>
              </a:defRPr>
            </a:pPr>
            <a:r>
              <a:rPr sz="1350" b="0">
                <a:solidFill>
                  <a:srgbClr val="2C3A4D"/>
                </a:solidFill>
                <a:latin typeface="Aptos"/>
                <a:ea typeface="Aptos"/>
                <a:cs typeface="Aptos"/>
              </a:rPr>
              <a:t>ML verdicts and attachment scan results remain separately visible.</a:t>
            </a:r>
          </a:p>
        </p:txBody>
      </p:sp>
      <p:sp>
        <p:nvSpPr>
          <p:cNvPr id="53" name="">
            <a:extLst xmlns:a="http://schemas.openxmlformats.org/drawingml/2006/main">
              <a:ext uri="{FF2B5EF4-FFF2-40B4-BE49-F238E27FC236}">
                <a16:creationId xmlns:a16="http://schemas.microsoft.com/office/drawing/2014/main" id="{539B199C-4D05-43F0-A57A-82D98BECD816}"/>
              </a:ext>
            </a:extLst>
          </p:cNvPr>
          <p:cNvSpPr>
            <a:spLocks xmlns:a="http://schemas.openxmlformats.org/drawingml/2006/main" noGrp="1"/>
          </p:cNvSpPr>
          <p:nvPr/>
        </p:nvSpPr>
        <p:spPr>
          <a:xfrm xmlns:a="http://schemas.openxmlformats.org/drawingml/2006/main">
            <a:off x="7886700" y="5295900"/>
            <a:ext cx="57150" cy="533400"/>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54" name="">
            <a:extLst xmlns:a="http://schemas.openxmlformats.org/drawingml/2006/main">
              <a:ext uri="{FF2B5EF4-FFF2-40B4-BE49-F238E27FC236}">
                <a16:creationId xmlns:a16="http://schemas.microsoft.com/office/drawing/2014/main" id="{6D0C88BF-9C1C-4997-AF85-7896FB4860EC}"/>
              </a:ext>
            </a:extLst>
          </p:cNvPr>
          <p:cNvSpPr>
            <a:spLocks xmlns:a="http://schemas.openxmlformats.org/drawingml/2006/main" noGrp="1"/>
          </p:cNvSpPr>
          <p:nvPr/>
        </p:nvSpPr>
        <p:spPr>
          <a:xfrm xmlns:a="http://schemas.openxmlformats.org/drawingml/2006/main">
            <a:off x="8058150" y="5200650"/>
            <a:ext cx="28575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725" b="1">
                <a:solidFill>
                  <a:srgbClr val="11243D"/>
                </a:solidFill>
                <a:latin typeface="Aptos"/>
                <a:ea typeface="Aptos"/>
                <a:cs typeface="Aptos"/>
              </a:defRPr>
            </a:pPr>
            <a:r>
              <a:rPr sz="1725" b="1">
                <a:solidFill>
                  <a:srgbClr val="11243D"/>
                </a:solidFill>
                <a:latin typeface="Aptos"/>
                <a:ea typeface="Aptos"/>
                <a:cs typeface="Aptos"/>
              </a:rPr>
              <a:t>Final state</a:t>
            </a:r>
          </a:p>
        </p:txBody>
      </p:sp>
      <p:sp>
        <p:nvSpPr>
          <p:cNvPr id="55" name="">
            <a:extLst xmlns:a="http://schemas.openxmlformats.org/drawingml/2006/main">
              <a:ext uri="{FF2B5EF4-FFF2-40B4-BE49-F238E27FC236}">
                <a16:creationId xmlns:a16="http://schemas.microsoft.com/office/drawing/2014/main" id="{11E08511-3BAC-4D66-A42B-9E0549FD9502}"/>
              </a:ext>
            </a:extLst>
          </p:cNvPr>
          <p:cNvSpPr>
            <a:spLocks xmlns:a="http://schemas.openxmlformats.org/drawingml/2006/main" noGrp="1"/>
          </p:cNvSpPr>
          <p:nvPr/>
        </p:nvSpPr>
        <p:spPr>
          <a:xfrm xmlns:a="http://schemas.openxmlformats.org/drawingml/2006/main">
            <a:off x="8058150" y="5524500"/>
            <a:ext cx="28003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2C3A4D"/>
                </a:solidFill>
                <a:latin typeface="Aptos"/>
                <a:ea typeface="Aptos"/>
                <a:cs typeface="Aptos"/>
              </a:defRPr>
            </a:pPr>
            <a:r>
              <a:rPr sz="1350" b="0">
                <a:solidFill>
                  <a:srgbClr val="2C3A4D"/>
                </a:solidFill>
                <a:latin typeface="Aptos"/>
                <a:ea typeface="Aptos"/>
                <a:cs typeface="Aptos"/>
              </a:rPr>
              <a:t>Aggregation produces the compact verdict shown in the dashboard.</a:t>
            </a:r>
          </a:p>
        </p:txBody>
      </p:sp>
    </p:spTree>
    <p:extLst>
      <p:ext uri="{BB962C8B-B14F-4D97-AF65-F5344CB8AC3E}">
        <p14:creationId xmlns:p14="http://schemas.microsoft.com/office/powerpoint/2010/main" val="549922829"/>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8CABF39-6D44-4C17-A18D-0DBF5A68318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4EE"/>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420B1591-429D-4262-95C0-15F6F6E03C69}"/>
              </a:ext>
            </a:extLst>
          </p:cNvPr>
          <p:cNvSpPr>
            <a:spLocks xmlns:a="http://schemas.openxmlformats.org/drawingml/2006/main" noGrp="1"/>
          </p:cNvSpPr>
          <p:nvPr/>
        </p:nvSpPr>
        <p:spPr>
          <a:xfrm xmlns:a="http://schemas.openxmlformats.org/drawingml/2006/main">
            <a:off x="609600" y="514350"/>
            <a:ext cx="85725" cy="85725"/>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E1F68EF0-6EB7-4A90-B131-829EEA9610D7}"/>
              </a:ext>
            </a:extLst>
          </p:cNvPr>
          <p:cNvSpPr>
            <a:spLocks xmlns:a="http://schemas.openxmlformats.org/drawingml/2006/main" noGrp="1"/>
          </p:cNvSpPr>
          <p:nvPr/>
        </p:nvSpPr>
        <p:spPr>
          <a:xfrm xmlns:a="http://schemas.openxmlformats.org/drawingml/2006/main">
            <a:off x="781050" y="400050"/>
            <a:ext cx="49530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200" b="1">
                <a:solidFill>
                  <a:srgbClr val="0B5CAD"/>
                </a:solidFill>
                <a:latin typeface="Aptos"/>
                <a:ea typeface="Aptos"/>
                <a:cs typeface="Aptos"/>
              </a:defRPr>
            </a:pPr>
            <a:r>
              <a:rPr sz="1200" b="1">
                <a:solidFill>
                  <a:srgbClr val="0B5CAD"/>
                </a:solidFill>
                <a:latin typeface="Aptos"/>
                <a:ea typeface="Aptos"/>
                <a:cs typeface="Aptos"/>
              </a:rPr>
              <a:t>IMPLEMENTATION</a:t>
            </a:r>
          </a:p>
        </p:txBody>
      </p:sp>
      <p:sp>
        <p:nvSpPr>
          <p:cNvPr id="4" name="">
            <a:extLst xmlns:a="http://schemas.openxmlformats.org/drawingml/2006/main">
              <a:ext uri="{FF2B5EF4-FFF2-40B4-BE49-F238E27FC236}">
                <a16:creationId xmlns:a16="http://schemas.microsoft.com/office/drawing/2014/main" id="{13738BF8-B530-4962-AE22-319D0DDD5555}"/>
              </a:ext>
            </a:extLst>
          </p:cNvPr>
          <p:cNvSpPr>
            <a:spLocks xmlns:a="http://schemas.openxmlformats.org/drawingml/2006/main" noGrp="1"/>
          </p:cNvSpPr>
          <p:nvPr/>
        </p:nvSpPr>
        <p:spPr>
          <a:xfrm xmlns:a="http://schemas.openxmlformats.org/drawingml/2006/main">
            <a:off x="609600" y="781050"/>
            <a:ext cx="10001250" cy="1009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600" b="1">
                <a:solidFill>
                  <a:srgbClr val="11243D"/>
                </a:solidFill>
                <a:latin typeface="Aptos Display"/>
                <a:ea typeface="Aptos Display"/>
                <a:cs typeface="Aptos Display"/>
              </a:defRPr>
            </a:pPr>
            <a:r>
              <a:rPr sz="3600" b="1">
                <a:solidFill>
                  <a:srgbClr val="11243D"/>
                </a:solidFill>
                <a:latin typeface="Aptos Display"/>
                <a:ea typeface="Aptos Display"/>
                <a:cs typeface="Aptos Display"/>
              </a:rPr>
              <a:t>The built system maps responsibilities to small modules.</a:t>
            </a:r>
          </a:p>
        </p:txBody>
      </p:sp>
      <p:sp>
        <p:nvSpPr>
          <p:cNvPr id="5" name="">
            <a:extLst xmlns:a="http://schemas.openxmlformats.org/drawingml/2006/main">
              <a:ext uri="{FF2B5EF4-FFF2-40B4-BE49-F238E27FC236}">
                <a16:creationId xmlns:a16="http://schemas.microsoft.com/office/drawing/2014/main" id="{46D98EF5-1A7F-46C5-809D-0AFA15D73E9D}"/>
              </a:ext>
            </a:extLst>
          </p:cNvPr>
          <p:cNvSpPr>
            <a:spLocks xmlns:a="http://schemas.openxmlformats.org/drawingml/2006/main" noGrp="1"/>
          </p:cNvSpPr>
          <p:nvPr/>
        </p:nvSpPr>
        <p:spPr>
          <a:xfrm xmlns:a="http://schemas.openxmlformats.org/drawingml/2006/main">
            <a:off x="609600" y="6400800"/>
            <a:ext cx="9810750" cy="9525"/>
          </a:xfrm>
          <a:prstGeom xmlns:a="http://schemas.openxmlformats.org/drawingml/2006/main" prst="rect">
            <a:avLst/>
          </a:prstGeom>
          <a:solidFill xmlns:a="http://schemas.openxmlformats.org/drawingml/2006/main">
            <a:srgbClr val="C7D2E1"/>
          </a:solidFill>
          <a:ln xmlns:a="http://schemas.openxmlformats.org/drawingml/2006/main" w="0">
            <a:solidFill>
              <a:srgbClr val="000000">
                <a:alpha val="0"/>
              </a:srgbClr>
            </a:solidFill>
            <a:prstDash val="solid"/>
          </a:ln>
        </p:spPr>
      </p:sp>
      <p:sp>
        <p:nvSpPr>
          <p:cNvPr id="6" name="">
            <a:extLst xmlns:a="http://schemas.openxmlformats.org/drawingml/2006/main">
              <a:ext uri="{FF2B5EF4-FFF2-40B4-BE49-F238E27FC236}">
                <a16:creationId xmlns:a16="http://schemas.microsoft.com/office/drawing/2014/main" id="{17F87320-A58D-4F1C-804A-87807BF2B52F}"/>
              </a:ext>
            </a:extLst>
          </p:cNvPr>
          <p:cNvSpPr>
            <a:spLocks xmlns:a="http://schemas.openxmlformats.org/drawingml/2006/main" noGrp="1"/>
          </p:cNvSpPr>
          <p:nvPr/>
        </p:nvSpPr>
        <p:spPr>
          <a:xfrm xmlns:a="http://schemas.openxmlformats.org/drawingml/2006/main">
            <a:off x="609600" y="6457950"/>
            <a:ext cx="3429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2C3A4D"/>
                </a:solidFill>
                <a:latin typeface="Aptos"/>
                <a:ea typeface="Aptos"/>
                <a:cs typeface="Aptos"/>
              </a:defRPr>
            </a:pPr>
            <a:r>
              <a:rPr sz="1050" b="0">
                <a:solidFill>
                  <a:srgbClr val="2C3A4D"/>
                </a:solidFill>
                <a:latin typeface="Aptos"/>
                <a:ea typeface="Aptos"/>
                <a:cs typeface="Aptos"/>
              </a:rPr>
              <a:t>Cloud Email Analyzer</a:t>
            </a:r>
          </a:p>
        </p:txBody>
      </p:sp>
      <p:sp>
        <p:nvSpPr>
          <p:cNvPr id="7" name="">
            <a:extLst xmlns:a="http://schemas.openxmlformats.org/drawingml/2006/main">
              <a:ext uri="{FF2B5EF4-FFF2-40B4-BE49-F238E27FC236}">
                <a16:creationId xmlns:a16="http://schemas.microsoft.com/office/drawing/2014/main" id="{13FEBECD-0EBB-404D-93A1-66724E5A54B0}"/>
              </a:ext>
            </a:extLst>
          </p:cNvPr>
          <p:cNvSpPr>
            <a:spLocks xmlns:a="http://schemas.openxmlformats.org/drawingml/2006/main" noGrp="1"/>
          </p:cNvSpPr>
          <p:nvPr/>
        </p:nvSpPr>
        <p:spPr>
          <a:xfrm xmlns:a="http://schemas.openxmlformats.org/drawingml/2006/main">
            <a:off x="11001375" y="6438900"/>
            <a:ext cx="571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1050" b="0">
                <a:solidFill>
                  <a:srgbClr val="2C3A4D"/>
                </a:solidFill>
                <a:latin typeface="Aptos"/>
                <a:ea typeface="Aptos"/>
                <a:cs typeface="Aptos"/>
              </a:defRPr>
            </a:pPr>
            <a:r>
              <a:rPr sz="1050" b="0">
                <a:solidFill>
                  <a:srgbClr val="2C3A4D"/>
                </a:solidFill>
                <a:latin typeface="Aptos"/>
                <a:ea typeface="Aptos"/>
                <a:cs typeface="Aptos"/>
              </a:rPr>
              <a:t>06</a:t>
            </a:r>
          </a:p>
        </p:txBody>
      </p:sp>
      <p:sp>
        <p:nvSpPr>
          <p:cNvPr id="8" name="">
            <a:extLst xmlns:a="http://schemas.openxmlformats.org/drawingml/2006/main">
              <a:ext uri="{FF2B5EF4-FFF2-40B4-BE49-F238E27FC236}">
                <a16:creationId xmlns:a16="http://schemas.microsoft.com/office/drawing/2014/main" id="{C1E330FA-2061-42B5-8032-2C15A6204776}"/>
              </a:ext>
            </a:extLst>
          </p:cNvPr>
          <p:cNvSpPr>
            <a:spLocks xmlns:a="http://schemas.openxmlformats.org/drawingml/2006/main" noGrp="1"/>
          </p:cNvSpPr>
          <p:nvPr/>
        </p:nvSpPr>
        <p:spPr>
          <a:xfrm xmlns:a="http://schemas.openxmlformats.org/drawingml/2006/main">
            <a:off x="857250" y="2171700"/>
            <a:ext cx="3000375" cy="348615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9" name="">
            <a:extLst xmlns:a="http://schemas.openxmlformats.org/drawingml/2006/main">
              <a:ext uri="{FF2B5EF4-FFF2-40B4-BE49-F238E27FC236}">
                <a16:creationId xmlns:a16="http://schemas.microsoft.com/office/drawing/2014/main" id="{D40A06C1-342E-49D5-A0E9-A2149E60DC43}"/>
              </a:ext>
            </a:extLst>
          </p:cNvPr>
          <p:cNvSpPr>
            <a:spLocks xmlns:a="http://schemas.openxmlformats.org/drawingml/2006/main" noGrp="1"/>
          </p:cNvSpPr>
          <p:nvPr/>
        </p:nvSpPr>
        <p:spPr>
          <a:xfrm xmlns:a="http://schemas.openxmlformats.org/drawingml/2006/main">
            <a:off x="1047750" y="2381250"/>
            <a:ext cx="25717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2250" b="1">
                <a:solidFill>
                  <a:srgbClr val="11243D"/>
                </a:solidFill>
                <a:latin typeface="Aptos"/>
                <a:ea typeface="Aptos"/>
                <a:cs typeface="Aptos"/>
              </a:defRPr>
            </a:pPr>
            <a:r>
              <a:rPr sz="2250" b="1">
                <a:solidFill>
                  <a:srgbClr val="11243D"/>
                </a:solidFill>
                <a:latin typeface="Aptos"/>
                <a:ea typeface="Aptos"/>
                <a:cs typeface="Aptos"/>
              </a:rPr>
              <a:t>Cloud services</a:t>
            </a:r>
          </a:p>
        </p:txBody>
      </p:sp>
      <p:sp>
        <p:nvSpPr>
          <p:cNvPr id="10" name="">
            <a:extLst xmlns:a="http://schemas.openxmlformats.org/drawingml/2006/main">
              <a:ext uri="{FF2B5EF4-FFF2-40B4-BE49-F238E27FC236}">
                <a16:creationId xmlns:a16="http://schemas.microsoft.com/office/drawing/2014/main" id="{57234FA7-F3DE-438B-9446-3EB3B74BD5C9}"/>
              </a:ext>
            </a:extLst>
          </p:cNvPr>
          <p:cNvSpPr>
            <a:spLocks xmlns:a="http://schemas.openxmlformats.org/drawingml/2006/main" noGrp="1"/>
          </p:cNvSpPr>
          <p:nvPr/>
        </p:nvSpPr>
        <p:spPr>
          <a:xfrm xmlns:a="http://schemas.openxmlformats.org/drawingml/2006/main">
            <a:off x="1066800" y="3114675"/>
            <a:ext cx="76200" cy="76200"/>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11" name="">
            <a:extLst xmlns:a="http://schemas.openxmlformats.org/drawingml/2006/main">
              <a:ext uri="{FF2B5EF4-FFF2-40B4-BE49-F238E27FC236}">
                <a16:creationId xmlns:a16="http://schemas.microsoft.com/office/drawing/2014/main" id="{2D5C240C-AE5C-4B5E-96B5-B717D27342BC}"/>
              </a:ext>
            </a:extLst>
          </p:cNvPr>
          <p:cNvSpPr>
            <a:spLocks xmlns:a="http://schemas.openxmlformats.org/drawingml/2006/main" noGrp="1"/>
          </p:cNvSpPr>
          <p:nvPr/>
        </p:nvSpPr>
        <p:spPr>
          <a:xfrm xmlns:a="http://schemas.openxmlformats.org/drawingml/2006/main">
            <a:off x="1257300" y="3009900"/>
            <a:ext cx="2333625"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650" b="0">
                <a:solidFill>
                  <a:srgbClr val="2C3A4D"/>
                </a:solidFill>
                <a:latin typeface="Aptos"/>
                <a:ea typeface="Aptos"/>
                <a:cs typeface="Aptos"/>
              </a:defRPr>
            </a:pPr>
            <a:r>
              <a:rPr sz="1650" b="0">
                <a:solidFill>
                  <a:srgbClr val="2C3A4D"/>
                </a:solidFill>
                <a:latin typeface="Aptos"/>
                <a:ea typeface="Aptos"/>
                <a:cs typeface="Aptos"/>
              </a:rPr>
              <a:t>Route53 + SES</a:t>
            </a:r>
          </a:p>
        </p:txBody>
      </p:sp>
      <p:sp>
        <p:nvSpPr>
          <p:cNvPr id="12" name="">
            <a:extLst xmlns:a="http://schemas.openxmlformats.org/drawingml/2006/main">
              <a:ext uri="{FF2B5EF4-FFF2-40B4-BE49-F238E27FC236}">
                <a16:creationId xmlns:a16="http://schemas.microsoft.com/office/drawing/2014/main" id="{BFEAE31E-B758-42F5-A1CE-5FCBDF9463A7}"/>
              </a:ext>
            </a:extLst>
          </p:cNvPr>
          <p:cNvSpPr>
            <a:spLocks xmlns:a="http://schemas.openxmlformats.org/drawingml/2006/main" noGrp="1"/>
          </p:cNvSpPr>
          <p:nvPr/>
        </p:nvSpPr>
        <p:spPr>
          <a:xfrm xmlns:a="http://schemas.openxmlformats.org/drawingml/2006/main">
            <a:off x="1066800" y="3533775"/>
            <a:ext cx="76200" cy="76200"/>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A3D6F46A-A66E-4DF1-A1D5-705B043A9CF1}"/>
              </a:ext>
            </a:extLst>
          </p:cNvPr>
          <p:cNvSpPr>
            <a:spLocks xmlns:a="http://schemas.openxmlformats.org/drawingml/2006/main" noGrp="1"/>
          </p:cNvSpPr>
          <p:nvPr/>
        </p:nvSpPr>
        <p:spPr>
          <a:xfrm xmlns:a="http://schemas.openxmlformats.org/drawingml/2006/main">
            <a:off x="1257300" y="3429000"/>
            <a:ext cx="2333625"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650" b="0">
                <a:solidFill>
                  <a:srgbClr val="2C3A4D"/>
                </a:solidFill>
                <a:latin typeface="Aptos"/>
                <a:ea typeface="Aptos"/>
                <a:cs typeface="Aptos"/>
              </a:defRPr>
            </a:pPr>
            <a:r>
              <a:rPr sz="1650" b="0">
                <a:solidFill>
                  <a:srgbClr val="2C3A4D"/>
                </a:solidFill>
                <a:latin typeface="Aptos"/>
                <a:ea typeface="Aptos"/>
                <a:cs typeface="Aptos"/>
              </a:rPr>
              <a:t>S3 object storage</a:t>
            </a:r>
          </a:p>
        </p:txBody>
      </p:sp>
      <p:sp>
        <p:nvSpPr>
          <p:cNvPr id="14" name="">
            <a:extLst xmlns:a="http://schemas.openxmlformats.org/drawingml/2006/main">
              <a:ext uri="{FF2B5EF4-FFF2-40B4-BE49-F238E27FC236}">
                <a16:creationId xmlns:a16="http://schemas.microsoft.com/office/drawing/2014/main" id="{DDEF828C-16BE-4A45-98F7-9B1986255505}"/>
              </a:ext>
            </a:extLst>
          </p:cNvPr>
          <p:cNvSpPr>
            <a:spLocks xmlns:a="http://schemas.openxmlformats.org/drawingml/2006/main" noGrp="1"/>
          </p:cNvSpPr>
          <p:nvPr/>
        </p:nvSpPr>
        <p:spPr>
          <a:xfrm xmlns:a="http://schemas.openxmlformats.org/drawingml/2006/main">
            <a:off x="1066800" y="3952875"/>
            <a:ext cx="76200" cy="76200"/>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0A8623CD-1494-4409-BC2C-6806F6AEDACE}"/>
              </a:ext>
            </a:extLst>
          </p:cNvPr>
          <p:cNvSpPr>
            <a:spLocks xmlns:a="http://schemas.openxmlformats.org/drawingml/2006/main" noGrp="1"/>
          </p:cNvSpPr>
          <p:nvPr/>
        </p:nvSpPr>
        <p:spPr>
          <a:xfrm xmlns:a="http://schemas.openxmlformats.org/drawingml/2006/main">
            <a:off x="1257300" y="3848100"/>
            <a:ext cx="2333625"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650" b="0">
                <a:solidFill>
                  <a:srgbClr val="2C3A4D"/>
                </a:solidFill>
                <a:latin typeface="Aptos"/>
                <a:ea typeface="Aptos"/>
                <a:cs typeface="Aptos"/>
              </a:defRPr>
            </a:pPr>
            <a:r>
              <a:rPr sz="1650" b="0">
                <a:solidFill>
                  <a:srgbClr val="2C3A4D"/>
                </a:solidFill>
                <a:latin typeface="Aptos"/>
                <a:ea typeface="Aptos"/>
                <a:cs typeface="Aptos"/>
              </a:rPr>
              <a:t>EventBridge</a:t>
            </a:r>
          </a:p>
        </p:txBody>
      </p:sp>
      <p:sp>
        <p:nvSpPr>
          <p:cNvPr id="16" name="">
            <a:extLst xmlns:a="http://schemas.openxmlformats.org/drawingml/2006/main">
              <a:ext uri="{FF2B5EF4-FFF2-40B4-BE49-F238E27FC236}">
                <a16:creationId xmlns:a16="http://schemas.microsoft.com/office/drawing/2014/main" id="{F8DD96C3-8530-4970-8ADB-916F7E4AA295}"/>
              </a:ext>
            </a:extLst>
          </p:cNvPr>
          <p:cNvSpPr>
            <a:spLocks xmlns:a="http://schemas.openxmlformats.org/drawingml/2006/main" noGrp="1"/>
          </p:cNvSpPr>
          <p:nvPr/>
        </p:nvSpPr>
        <p:spPr>
          <a:xfrm xmlns:a="http://schemas.openxmlformats.org/drawingml/2006/main">
            <a:off x="1066800" y="4371975"/>
            <a:ext cx="76200" cy="76200"/>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2FF7C526-8646-46DE-9440-743A3BB193EE}"/>
              </a:ext>
            </a:extLst>
          </p:cNvPr>
          <p:cNvSpPr>
            <a:spLocks xmlns:a="http://schemas.openxmlformats.org/drawingml/2006/main" noGrp="1"/>
          </p:cNvSpPr>
          <p:nvPr/>
        </p:nvSpPr>
        <p:spPr>
          <a:xfrm xmlns:a="http://schemas.openxmlformats.org/drawingml/2006/main">
            <a:off x="1257300" y="4267200"/>
            <a:ext cx="2333625"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650" b="0">
                <a:solidFill>
                  <a:srgbClr val="2C3A4D"/>
                </a:solidFill>
                <a:latin typeface="Aptos"/>
                <a:ea typeface="Aptos"/>
                <a:cs typeface="Aptos"/>
              </a:defRPr>
            </a:pPr>
            <a:r>
              <a:rPr sz="1650" b="0">
                <a:solidFill>
                  <a:srgbClr val="2C3A4D"/>
                </a:solidFill>
                <a:latin typeface="Aptos"/>
                <a:ea typeface="Aptos"/>
                <a:cs typeface="Aptos"/>
              </a:rPr>
              <a:t>Step Functions</a:t>
            </a:r>
          </a:p>
        </p:txBody>
      </p:sp>
      <p:sp>
        <p:nvSpPr>
          <p:cNvPr id="18" name="">
            <a:extLst xmlns:a="http://schemas.openxmlformats.org/drawingml/2006/main">
              <a:ext uri="{FF2B5EF4-FFF2-40B4-BE49-F238E27FC236}">
                <a16:creationId xmlns:a16="http://schemas.microsoft.com/office/drawing/2014/main" id="{69A75E6A-20C9-4540-8687-965FBA9A63D2}"/>
              </a:ext>
            </a:extLst>
          </p:cNvPr>
          <p:cNvSpPr>
            <a:spLocks xmlns:a="http://schemas.openxmlformats.org/drawingml/2006/main" noGrp="1"/>
          </p:cNvSpPr>
          <p:nvPr/>
        </p:nvSpPr>
        <p:spPr>
          <a:xfrm xmlns:a="http://schemas.openxmlformats.org/drawingml/2006/main">
            <a:off x="1066800" y="4791075"/>
            <a:ext cx="76200" cy="76200"/>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615050E2-9AFA-4563-853E-6136C65FEE62}"/>
              </a:ext>
            </a:extLst>
          </p:cNvPr>
          <p:cNvSpPr>
            <a:spLocks xmlns:a="http://schemas.openxmlformats.org/drawingml/2006/main" noGrp="1"/>
          </p:cNvSpPr>
          <p:nvPr/>
        </p:nvSpPr>
        <p:spPr>
          <a:xfrm xmlns:a="http://schemas.openxmlformats.org/drawingml/2006/main">
            <a:off x="1257300" y="4686300"/>
            <a:ext cx="2333625"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650" b="0">
                <a:solidFill>
                  <a:srgbClr val="2C3A4D"/>
                </a:solidFill>
                <a:latin typeface="Aptos"/>
                <a:ea typeface="Aptos"/>
                <a:cs typeface="Aptos"/>
              </a:defRPr>
            </a:pPr>
            <a:r>
              <a:rPr sz="1650" b="0">
                <a:solidFill>
                  <a:srgbClr val="2C3A4D"/>
                </a:solidFill>
                <a:latin typeface="Aptos"/>
                <a:ea typeface="Aptos"/>
                <a:cs typeface="Aptos"/>
              </a:rPr>
              <a:t>DynamoDB</a:t>
            </a:r>
          </a:p>
        </p:txBody>
      </p:sp>
      <p:sp>
        <p:nvSpPr>
          <p:cNvPr id="20" name="">
            <a:extLst xmlns:a="http://schemas.openxmlformats.org/drawingml/2006/main">
              <a:ext uri="{FF2B5EF4-FFF2-40B4-BE49-F238E27FC236}">
                <a16:creationId xmlns:a16="http://schemas.microsoft.com/office/drawing/2014/main" id="{9D0B8E22-C4C1-4B5E-923C-EBE385580265}"/>
              </a:ext>
            </a:extLst>
          </p:cNvPr>
          <p:cNvSpPr>
            <a:spLocks xmlns:a="http://schemas.openxmlformats.org/drawingml/2006/main" noGrp="1"/>
          </p:cNvSpPr>
          <p:nvPr/>
        </p:nvSpPr>
        <p:spPr>
          <a:xfrm xmlns:a="http://schemas.openxmlformats.org/drawingml/2006/main">
            <a:off x="4381500" y="2171700"/>
            <a:ext cx="3000375" cy="348615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21" name="">
            <a:extLst xmlns:a="http://schemas.openxmlformats.org/drawingml/2006/main">
              <a:ext uri="{FF2B5EF4-FFF2-40B4-BE49-F238E27FC236}">
                <a16:creationId xmlns:a16="http://schemas.microsoft.com/office/drawing/2014/main" id="{1B6FEB5B-54B8-44DF-95AB-964E7B524481}"/>
              </a:ext>
            </a:extLst>
          </p:cNvPr>
          <p:cNvSpPr>
            <a:spLocks xmlns:a="http://schemas.openxmlformats.org/drawingml/2006/main" noGrp="1"/>
          </p:cNvSpPr>
          <p:nvPr/>
        </p:nvSpPr>
        <p:spPr>
          <a:xfrm xmlns:a="http://schemas.openxmlformats.org/drawingml/2006/main">
            <a:off x="4572000" y="2381250"/>
            <a:ext cx="25717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2250" b="1">
                <a:solidFill>
                  <a:srgbClr val="11243D"/>
                </a:solidFill>
                <a:latin typeface="Aptos"/>
                <a:ea typeface="Aptos"/>
                <a:cs typeface="Aptos"/>
              </a:defRPr>
            </a:pPr>
            <a:r>
              <a:rPr sz="2250" b="1">
                <a:solidFill>
                  <a:srgbClr val="11243D"/>
                </a:solidFill>
                <a:latin typeface="Aptos"/>
                <a:ea typeface="Aptos"/>
                <a:cs typeface="Aptos"/>
              </a:rPr>
              <a:t>Analysis stages</a:t>
            </a:r>
          </a:p>
        </p:txBody>
      </p:sp>
      <p:sp>
        <p:nvSpPr>
          <p:cNvPr id="22" name="">
            <a:extLst xmlns:a="http://schemas.openxmlformats.org/drawingml/2006/main">
              <a:ext uri="{FF2B5EF4-FFF2-40B4-BE49-F238E27FC236}">
                <a16:creationId xmlns:a16="http://schemas.microsoft.com/office/drawing/2014/main" id="{B9DACC6C-D2C8-4607-9095-C5797345DB1B}"/>
              </a:ext>
            </a:extLst>
          </p:cNvPr>
          <p:cNvSpPr>
            <a:spLocks xmlns:a="http://schemas.openxmlformats.org/drawingml/2006/main" noGrp="1"/>
          </p:cNvSpPr>
          <p:nvPr/>
        </p:nvSpPr>
        <p:spPr>
          <a:xfrm xmlns:a="http://schemas.openxmlformats.org/drawingml/2006/main">
            <a:off x="4591050" y="3114675"/>
            <a:ext cx="76200" cy="76200"/>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0D9E317B-07A4-44D4-9338-E46C795E04EF}"/>
              </a:ext>
            </a:extLst>
          </p:cNvPr>
          <p:cNvSpPr>
            <a:spLocks xmlns:a="http://schemas.openxmlformats.org/drawingml/2006/main" noGrp="1"/>
          </p:cNvSpPr>
          <p:nvPr/>
        </p:nvSpPr>
        <p:spPr>
          <a:xfrm xmlns:a="http://schemas.openxmlformats.org/drawingml/2006/main">
            <a:off x="4781550" y="3009900"/>
            <a:ext cx="2333625"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650" b="0">
                <a:solidFill>
                  <a:srgbClr val="2C3A4D"/>
                </a:solidFill>
                <a:latin typeface="Aptos"/>
                <a:ea typeface="Aptos"/>
                <a:cs typeface="Aptos"/>
              </a:defRPr>
            </a:pPr>
            <a:r>
              <a:rPr sz="1650" b="0">
                <a:solidFill>
                  <a:srgbClr val="2C3A4D"/>
                </a:solidFill>
                <a:latin typeface="Aptos"/>
                <a:ea typeface="Aptos"/>
                <a:cs typeface="Aptos"/>
              </a:rPr>
              <a:t>InitLedger</a:t>
            </a:r>
          </a:p>
        </p:txBody>
      </p:sp>
      <p:sp>
        <p:nvSpPr>
          <p:cNvPr id="24" name="">
            <a:extLst xmlns:a="http://schemas.openxmlformats.org/drawingml/2006/main">
              <a:ext uri="{FF2B5EF4-FFF2-40B4-BE49-F238E27FC236}">
                <a16:creationId xmlns:a16="http://schemas.microsoft.com/office/drawing/2014/main" id="{38519EA3-C41B-4A5D-AB74-A03F4432C5CA}"/>
              </a:ext>
            </a:extLst>
          </p:cNvPr>
          <p:cNvSpPr>
            <a:spLocks xmlns:a="http://schemas.openxmlformats.org/drawingml/2006/main" noGrp="1"/>
          </p:cNvSpPr>
          <p:nvPr/>
        </p:nvSpPr>
        <p:spPr>
          <a:xfrm xmlns:a="http://schemas.openxmlformats.org/drawingml/2006/main">
            <a:off x="4591050" y="3533775"/>
            <a:ext cx="76200" cy="76200"/>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2F5DAD52-BEE3-470F-B2BB-AEB4F820173A}"/>
              </a:ext>
            </a:extLst>
          </p:cNvPr>
          <p:cNvSpPr>
            <a:spLocks xmlns:a="http://schemas.openxmlformats.org/drawingml/2006/main" noGrp="1"/>
          </p:cNvSpPr>
          <p:nvPr/>
        </p:nvSpPr>
        <p:spPr>
          <a:xfrm xmlns:a="http://schemas.openxmlformats.org/drawingml/2006/main">
            <a:off x="4781550" y="3429000"/>
            <a:ext cx="2333625"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650" b="0">
                <a:solidFill>
                  <a:srgbClr val="2C3A4D"/>
                </a:solidFill>
                <a:latin typeface="Aptos"/>
                <a:ea typeface="Aptos"/>
                <a:cs typeface="Aptos"/>
              </a:defRPr>
            </a:pPr>
            <a:r>
              <a:rPr sz="1650" b="0">
                <a:solidFill>
                  <a:srgbClr val="2C3A4D"/>
                </a:solidFill>
                <a:latin typeface="Aptos"/>
                <a:ea typeface="Aptos"/>
                <a:cs typeface="Aptos"/>
              </a:rPr>
              <a:t>ResolveRecipients</a:t>
            </a:r>
          </a:p>
        </p:txBody>
      </p:sp>
      <p:sp>
        <p:nvSpPr>
          <p:cNvPr id="26" name="">
            <a:extLst xmlns:a="http://schemas.openxmlformats.org/drawingml/2006/main">
              <a:ext uri="{FF2B5EF4-FFF2-40B4-BE49-F238E27FC236}">
                <a16:creationId xmlns:a16="http://schemas.microsoft.com/office/drawing/2014/main" id="{0D9D880F-B503-46E7-85E7-E1DB9389E497}"/>
              </a:ext>
            </a:extLst>
          </p:cNvPr>
          <p:cNvSpPr>
            <a:spLocks xmlns:a="http://schemas.openxmlformats.org/drawingml/2006/main" noGrp="1"/>
          </p:cNvSpPr>
          <p:nvPr/>
        </p:nvSpPr>
        <p:spPr>
          <a:xfrm xmlns:a="http://schemas.openxmlformats.org/drawingml/2006/main">
            <a:off x="4591050" y="3952875"/>
            <a:ext cx="76200" cy="76200"/>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7EF77026-4F2F-4A0A-98D5-29B22C2ED331}"/>
              </a:ext>
            </a:extLst>
          </p:cNvPr>
          <p:cNvSpPr>
            <a:spLocks xmlns:a="http://schemas.openxmlformats.org/drawingml/2006/main" noGrp="1"/>
          </p:cNvSpPr>
          <p:nvPr/>
        </p:nvSpPr>
        <p:spPr>
          <a:xfrm xmlns:a="http://schemas.openxmlformats.org/drawingml/2006/main">
            <a:off x="4781550" y="3848100"/>
            <a:ext cx="2333625"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650" b="0">
                <a:solidFill>
                  <a:srgbClr val="2C3A4D"/>
                </a:solidFill>
                <a:latin typeface="Aptos"/>
                <a:ea typeface="Aptos"/>
                <a:cs typeface="Aptos"/>
              </a:defRPr>
            </a:pPr>
            <a:r>
              <a:rPr sz="1650" b="0">
                <a:solidFill>
                  <a:srgbClr val="2C3A4D"/>
                </a:solidFill>
                <a:latin typeface="Aptos"/>
                <a:ea typeface="Aptos"/>
                <a:cs typeface="Aptos"/>
              </a:rPr>
              <a:t>ParseEmail</a:t>
            </a:r>
          </a:p>
        </p:txBody>
      </p:sp>
      <p:sp>
        <p:nvSpPr>
          <p:cNvPr id="28" name="">
            <a:extLst xmlns:a="http://schemas.openxmlformats.org/drawingml/2006/main">
              <a:ext uri="{FF2B5EF4-FFF2-40B4-BE49-F238E27FC236}">
                <a16:creationId xmlns:a16="http://schemas.microsoft.com/office/drawing/2014/main" id="{9C929620-18EF-4216-B4B5-89AE2CEC0C2B}"/>
              </a:ext>
            </a:extLst>
          </p:cNvPr>
          <p:cNvSpPr>
            <a:spLocks xmlns:a="http://schemas.openxmlformats.org/drawingml/2006/main" noGrp="1"/>
          </p:cNvSpPr>
          <p:nvPr/>
        </p:nvSpPr>
        <p:spPr>
          <a:xfrm xmlns:a="http://schemas.openxmlformats.org/drawingml/2006/main">
            <a:off x="4591050" y="4371975"/>
            <a:ext cx="76200" cy="76200"/>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EF0E2AA2-E436-4593-B21C-29D72684AAA1}"/>
              </a:ext>
            </a:extLst>
          </p:cNvPr>
          <p:cNvSpPr>
            <a:spLocks xmlns:a="http://schemas.openxmlformats.org/drawingml/2006/main" noGrp="1"/>
          </p:cNvSpPr>
          <p:nvPr/>
        </p:nvSpPr>
        <p:spPr>
          <a:xfrm xmlns:a="http://schemas.openxmlformats.org/drawingml/2006/main">
            <a:off x="4781550" y="4267200"/>
            <a:ext cx="2333625"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650" b="0">
                <a:solidFill>
                  <a:srgbClr val="2C3A4D"/>
                </a:solidFill>
                <a:latin typeface="Aptos"/>
                <a:ea typeface="Aptos"/>
                <a:cs typeface="Aptos"/>
              </a:defRPr>
            </a:pPr>
            <a:r>
              <a:rPr sz="1650" b="0">
                <a:solidFill>
                  <a:srgbClr val="2C3A4D"/>
                </a:solidFill>
                <a:latin typeface="Aptos"/>
                <a:ea typeface="Aptos"/>
                <a:cs typeface="Aptos"/>
              </a:rPr>
              <a:t>PhishingML</a:t>
            </a:r>
          </a:p>
        </p:txBody>
      </p:sp>
      <p:sp>
        <p:nvSpPr>
          <p:cNvPr id="30" name="">
            <a:extLst xmlns:a="http://schemas.openxmlformats.org/drawingml/2006/main">
              <a:ext uri="{FF2B5EF4-FFF2-40B4-BE49-F238E27FC236}">
                <a16:creationId xmlns:a16="http://schemas.microsoft.com/office/drawing/2014/main" id="{4232EC4B-8582-4554-835A-9F9275E7C407}"/>
              </a:ext>
            </a:extLst>
          </p:cNvPr>
          <p:cNvSpPr>
            <a:spLocks xmlns:a="http://schemas.openxmlformats.org/drawingml/2006/main" noGrp="1"/>
          </p:cNvSpPr>
          <p:nvPr/>
        </p:nvSpPr>
        <p:spPr>
          <a:xfrm xmlns:a="http://schemas.openxmlformats.org/drawingml/2006/main">
            <a:off x="4591050" y="4791075"/>
            <a:ext cx="76200" cy="76200"/>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F2E6FD9A-4744-4B8E-B70F-BA9FA1918BA5}"/>
              </a:ext>
            </a:extLst>
          </p:cNvPr>
          <p:cNvSpPr>
            <a:spLocks xmlns:a="http://schemas.openxmlformats.org/drawingml/2006/main" noGrp="1"/>
          </p:cNvSpPr>
          <p:nvPr/>
        </p:nvSpPr>
        <p:spPr>
          <a:xfrm xmlns:a="http://schemas.openxmlformats.org/drawingml/2006/main">
            <a:off x="4781550" y="4686300"/>
            <a:ext cx="2333625"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650" b="0">
                <a:solidFill>
                  <a:srgbClr val="2C3A4D"/>
                </a:solidFill>
                <a:latin typeface="Aptos"/>
                <a:ea typeface="Aptos"/>
                <a:cs typeface="Aptos"/>
              </a:defRPr>
            </a:pPr>
            <a:r>
              <a:rPr sz="1650" b="0">
                <a:solidFill>
                  <a:srgbClr val="2C3A4D"/>
                </a:solidFill>
                <a:latin typeface="Aptos"/>
                <a:ea typeface="Aptos"/>
                <a:cs typeface="Aptos"/>
              </a:rPr>
              <a:t>AttachmentScan</a:t>
            </a:r>
          </a:p>
        </p:txBody>
      </p:sp>
      <p:sp>
        <p:nvSpPr>
          <p:cNvPr id="32" name="">
            <a:extLst xmlns:a="http://schemas.openxmlformats.org/drawingml/2006/main">
              <a:ext uri="{FF2B5EF4-FFF2-40B4-BE49-F238E27FC236}">
                <a16:creationId xmlns:a16="http://schemas.microsoft.com/office/drawing/2014/main" id="{2457E56F-1FB3-4680-843D-A6FC70F35E87}"/>
              </a:ext>
            </a:extLst>
          </p:cNvPr>
          <p:cNvSpPr>
            <a:spLocks xmlns:a="http://schemas.openxmlformats.org/drawingml/2006/main" noGrp="1"/>
          </p:cNvSpPr>
          <p:nvPr/>
        </p:nvSpPr>
        <p:spPr>
          <a:xfrm xmlns:a="http://schemas.openxmlformats.org/drawingml/2006/main">
            <a:off x="4591050" y="5210175"/>
            <a:ext cx="76200" cy="76200"/>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33" name="">
            <a:extLst xmlns:a="http://schemas.openxmlformats.org/drawingml/2006/main">
              <a:ext uri="{FF2B5EF4-FFF2-40B4-BE49-F238E27FC236}">
                <a16:creationId xmlns:a16="http://schemas.microsoft.com/office/drawing/2014/main" id="{E631E5EF-A878-4871-8889-17994C87F9AF}"/>
              </a:ext>
            </a:extLst>
          </p:cNvPr>
          <p:cNvSpPr>
            <a:spLocks xmlns:a="http://schemas.openxmlformats.org/drawingml/2006/main" noGrp="1"/>
          </p:cNvSpPr>
          <p:nvPr/>
        </p:nvSpPr>
        <p:spPr>
          <a:xfrm xmlns:a="http://schemas.openxmlformats.org/drawingml/2006/main">
            <a:off x="4781550" y="5105400"/>
            <a:ext cx="2333625"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650" b="0">
                <a:solidFill>
                  <a:srgbClr val="2C3A4D"/>
                </a:solidFill>
                <a:latin typeface="Aptos"/>
                <a:ea typeface="Aptos"/>
                <a:cs typeface="Aptos"/>
              </a:defRPr>
            </a:pPr>
            <a:r>
              <a:rPr sz="1650" b="0">
                <a:solidFill>
                  <a:srgbClr val="2C3A4D"/>
                </a:solidFill>
                <a:latin typeface="Aptos"/>
                <a:ea typeface="Aptos"/>
                <a:cs typeface="Aptos"/>
              </a:rPr>
              <a:t>AggregateVerdicts</a:t>
            </a:r>
          </a:p>
        </p:txBody>
      </p:sp>
      <p:sp>
        <p:nvSpPr>
          <p:cNvPr id="34" name="">
            <a:extLst xmlns:a="http://schemas.openxmlformats.org/drawingml/2006/main">
              <a:ext uri="{FF2B5EF4-FFF2-40B4-BE49-F238E27FC236}">
                <a16:creationId xmlns:a16="http://schemas.microsoft.com/office/drawing/2014/main" id="{23420CAC-E5B0-4EDD-A906-187292F1A37F}"/>
              </a:ext>
            </a:extLst>
          </p:cNvPr>
          <p:cNvSpPr>
            <a:spLocks xmlns:a="http://schemas.openxmlformats.org/drawingml/2006/main" noGrp="1"/>
          </p:cNvSpPr>
          <p:nvPr/>
        </p:nvSpPr>
        <p:spPr>
          <a:xfrm xmlns:a="http://schemas.openxmlformats.org/drawingml/2006/main">
            <a:off x="7905750" y="2171700"/>
            <a:ext cx="3000375" cy="348615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35" name="">
            <a:extLst xmlns:a="http://schemas.openxmlformats.org/drawingml/2006/main">
              <a:ext uri="{FF2B5EF4-FFF2-40B4-BE49-F238E27FC236}">
                <a16:creationId xmlns:a16="http://schemas.microsoft.com/office/drawing/2014/main" id="{D5048446-C779-44AF-B1B6-F9E2E1E0927D}"/>
              </a:ext>
            </a:extLst>
          </p:cNvPr>
          <p:cNvSpPr>
            <a:spLocks xmlns:a="http://schemas.openxmlformats.org/drawingml/2006/main" noGrp="1"/>
          </p:cNvSpPr>
          <p:nvPr/>
        </p:nvSpPr>
        <p:spPr>
          <a:xfrm xmlns:a="http://schemas.openxmlformats.org/drawingml/2006/main">
            <a:off x="8096250" y="2381250"/>
            <a:ext cx="25717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2250" b="1">
                <a:solidFill>
                  <a:srgbClr val="11243D"/>
                </a:solidFill>
                <a:latin typeface="Aptos"/>
                <a:ea typeface="Aptos"/>
                <a:cs typeface="Aptos"/>
              </a:defRPr>
            </a:pPr>
            <a:r>
              <a:rPr sz="2250" b="1">
                <a:solidFill>
                  <a:srgbClr val="11243D"/>
                </a:solidFill>
                <a:latin typeface="Aptos"/>
                <a:ea typeface="Aptos"/>
                <a:cs typeface="Aptos"/>
              </a:rPr>
              <a:t>Review layer</a:t>
            </a:r>
          </a:p>
        </p:txBody>
      </p:sp>
      <p:sp>
        <p:nvSpPr>
          <p:cNvPr id="36" name="">
            <a:extLst xmlns:a="http://schemas.openxmlformats.org/drawingml/2006/main">
              <a:ext uri="{FF2B5EF4-FFF2-40B4-BE49-F238E27FC236}">
                <a16:creationId xmlns:a16="http://schemas.microsoft.com/office/drawing/2014/main" id="{798F4C72-D660-40E6-99A9-680DCD0DE003}"/>
              </a:ext>
            </a:extLst>
          </p:cNvPr>
          <p:cNvSpPr>
            <a:spLocks xmlns:a="http://schemas.openxmlformats.org/drawingml/2006/main" noGrp="1"/>
          </p:cNvSpPr>
          <p:nvPr/>
        </p:nvSpPr>
        <p:spPr>
          <a:xfrm xmlns:a="http://schemas.openxmlformats.org/drawingml/2006/main">
            <a:off x="8115300" y="3114675"/>
            <a:ext cx="76200" cy="76200"/>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66E13B43-662D-471C-A357-F323122682F9}"/>
              </a:ext>
            </a:extLst>
          </p:cNvPr>
          <p:cNvSpPr>
            <a:spLocks xmlns:a="http://schemas.openxmlformats.org/drawingml/2006/main" noGrp="1"/>
          </p:cNvSpPr>
          <p:nvPr/>
        </p:nvSpPr>
        <p:spPr>
          <a:xfrm xmlns:a="http://schemas.openxmlformats.org/drawingml/2006/main">
            <a:off x="8305800" y="3009900"/>
            <a:ext cx="2333625"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650" b="0">
                <a:solidFill>
                  <a:srgbClr val="2C3A4D"/>
                </a:solidFill>
                <a:latin typeface="Aptos"/>
                <a:ea typeface="Aptos"/>
                <a:cs typeface="Aptos"/>
              </a:defRPr>
            </a:pPr>
            <a:r>
              <a:rPr sz="1650" b="0">
                <a:solidFill>
                  <a:srgbClr val="2C3A4D"/>
                </a:solidFill>
                <a:latin typeface="Aptos"/>
                <a:ea typeface="Aptos"/>
                <a:cs typeface="Aptos"/>
              </a:rPr>
              <a:t>FastAPI routes</a:t>
            </a:r>
          </a:p>
        </p:txBody>
      </p:sp>
      <p:sp>
        <p:nvSpPr>
          <p:cNvPr id="38" name="">
            <a:extLst xmlns:a="http://schemas.openxmlformats.org/drawingml/2006/main">
              <a:ext uri="{FF2B5EF4-FFF2-40B4-BE49-F238E27FC236}">
                <a16:creationId xmlns:a16="http://schemas.microsoft.com/office/drawing/2014/main" id="{CD9AB06A-6E96-4DEA-A49C-7551F61244DB}"/>
              </a:ext>
            </a:extLst>
          </p:cNvPr>
          <p:cNvSpPr>
            <a:spLocks xmlns:a="http://schemas.openxmlformats.org/drawingml/2006/main" noGrp="1"/>
          </p:cNvSpPr>
          <p:nvPr/>
        </p:nvSpPr>
        <p:spPr>
          <a:xfrm xmlns:a="http://schemas.openxmlformats.org/drawingml/2006/main">
            <a:off x="8115300" y="3533775"/>
            <a:ext cx="76200" cy="76200"/>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39" name="">
            <a:extLst xmlns:a="http://schemas.openxmlformats.org/drawingml/2006/main">
              <a:ext uri="{FF2B5EF4-FFF2-40B4-BE49-F238E27FC236}">
                <a16:creationId xmlns:a16="http://schemas.microsoft.com/office/drawing/2014/main" id="{FEF420CC-17D8-4521-918D-1E1F7EDF98F9}"/>
              </a:ext>
            </a:extLst>
          </p:cNvPr>
          <p:cNvSpPr>
            <a:spLocks xmlns:a="http://schemas.openxmlformats.org/drawingml/2006/main" noGrp="1"/>
          </p:cNvSpPr>
          <p:nvPr/>
        </p:nvSpPr>
        <p:spPr>
          <a:xfrm xmlns:a="http://schemas.openxmlformats.org/drawingml/2006/main">
            <a:off x="8305800" y="3429000"/>
            <a:ext cx="2333625"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650" b="0">
                <a:solidFill>
                  <a:srgbClr val="2C3A4D"/>
                </a:solidFill>
                <a:latin typeface="Aptos"/>
                <a:ea typeface="Aptos"/>
                <a:cs typeface="Aptos"/>
              </a:defRPr>
            </a:pPr>
            <a:r>
              <a:rPr sz="1650" b="0">
                <a:solidFill>
                  <a:srgbClr val="2C3A4D"/>
                </a:solidFill>
                <a:latin typeface="Aptos"/>
                <a:ea typeface="Aptos"/>
                <a:cs typeface="Aptos"/>
              </a:rPr>
              <a:t>HS256 JWT authorization</a:t>
            </a:r>
          </a:p>
        </p:txBody>
      </p:sp>
      <p:sp>
        <p:nvSpPr>
          <p:cNvPr id="40" name="">
            <a:extLst xmlns:a="http://schemas.openxmlformats.org/drawingml/2006/main">
              <a:ext uri="{FF2B5EF4-FFF2-40B4-BE49-F238E27FC236}">
                <a16:creationId xmlns:a16="http://schemas.microsoft.com/office/drawing/2014/main" id="{111DDD2D-19DD-439F-AB0B-9AE4C1BF0B96}"/>
              </a:ext>
            </a:extLst>
          </p:cNvPr>
          <p:cNvSpPr>
            <a:spLocks xmlns:a="http://schemas.openxmlformats.org/drawingml/2006/main" noGrp="1"/>
          </p:cNvSpPr>
          <p:nvPr/>
        </p:nvSpPr>
        <p:spPr>
          <a:xfrm xmlns:a="http://schemas.openxmlformats.org/drawingml/2006/main">
            <a:off x="8115300" y="3952875"/>
            <a:ext cx="76200" cy="76200"/>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41" name="">
            <a:extLst xmlns:a="http://schemas.openxmlformats.org/drawingml/2006/main">
              <a:ext uri="{FF2B5EF4-FFF2-40B4-BE49-F238E27FC236}">
                <a16:creationId xmlns:a16="http://schemas.microsoft.com/office/drawing/2014/main" id="{CBCAE0A8-D456-41A6-8D1D-3994C5ECB644}"/>
              </a:ext>
            </a:extLst>
          </p:cNvPr>
          <p:cNvSpPr>
            <a:spLocks xmlns:a="http://schemas.openxmlformats.org/drawingml/2006/main" noGrp="1"/>
          </p:cNvSpPr>
          <p:nvPr/>
        </p:nvSpPr>
        <p:spPr>
          <a:xfrm xmlns:a="http://schemas.openxmlformats.org/drawingml/2006/main">
            <a:off x="8305800" y="3848100"/>
            <a:ext cx="2333625"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650" b="0">
                <a:solidFill>
                  <a:srgbClr val="2C3A4D"/>
                </a:solidFill>
                <a:latin typeface="Aptos"/>
                <a:ea typeface="Aptos"/>
                <a:cs typeface="Aptos"/>
              </a:defRPr>
            </a:pPr>
            <a:r>
              <a:rPr sz="1650" b="0">
                <a:solidFill>
                  <a:srgbClr val="2C3A4D"/>
                </a:solidFill>
                <a:latin typeface="Aptos"/>
                <a:ea typeface="Aptos"/>
                <a:cs typeface="Aptos"/>
              </a:rPr>
              <a:t>React dashboard</a:t>
            </a:r>
          </a:p>
        </p:txBody>
      </p:sp>
      <p:sp>
        <p:nvSpPr>
          <p:cNvPr id="42" name="">
            <a:extLst xmlns:a="http://schemas.openxmlformats.org/drawingml/2006/main">
              <a:ext uri="{FF2B5EF4-FFF2-40B4-BE49-F238E27FC236}">
                <a16:creationId xmlns:a16="http://schemas.microsoft.com/office/drawing/2014/main" id="{6EAC2448-F6E9-47B0-95AD-C944582FB863}"/>
              </a:ext>
            </a:extLst>
          </p:cNvPr>
          <p:cNvSpPr>
            <a:spLocks xmlns:a="http://schemas.openxmlformats.org/drawingml/2006/main" noGrp="1"/>
          </p:cNvSpPr>
          <p:nvPr/>
        </p:nvSpPr>
        <p:spPr>
          <a:xfrm xmlns:a="http://schemas.openxmlformats.org/drawingml/2006/main">
            <a:off x="8115300" y="4371975"/>
            <a:ext cx="76200" cy="76200"/>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43" name="">
            <a:extLst xmlns:a="http://schemas.openxmlformats.org/drawingml/2006/main">
              <a:ext uri="{FF2B5EF4-FFF2-40B4-BE49-F238E27FC236}">
                <a16:creationId xmlns:a16="http://schemas.microsoft.com/office/drawing/2014/main" id="{C78E7346-F137-4D84-9137-6228858C4B69}"/>
              </a:ext>
            </a:extLst>
          </p:cNvPr>
          <p:cNvSpPr>
            <a:spLocks xmlns:a="http://schemas.openxmlformats.org/drawingml/2006/main" noGrp="1"/>
          </p:cNvSpPr>
          <p:nvPr/>
        </p:nvSpPr>
        <p:spPr>
          <a:xfrm xmlns:a="http://schemas.openxmlformats.org/drawingml/2006/main">
            <a:off x="8305800" y="4267200"/>
            <a:ext cx="2333625"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650" b="0">
                <a:solidFill>
                  <a:srgbClr val="2C3A4D"/>
                </a:solidFill>
                <a:latin typeface="Aptos"/>
                <a:ea typeface="Aptos"/>
                <a:cs typeface="Aptos"/>
              </a:defRPr>
            </a:pPr>
            <a:r>
              <a:rPr sz="1650" b="0">
                <a:solidFill>
                  <a:srgbClr val="2C3A4D"/>
                </a:solidFill>
                <a:latin typeface="Aptos"/>
                <a:ea typeface="Aptos"/>
                <a:cs typeface="Aptos"/>
              </a:rPr>
              <a:t>Admin review</a:t>
            </a:r>
          </a:p>
        </p:txBody>
      </p:sp>
      <p:sp>
        <p:nvSpPr>
          <p:cNvPr id="44" name="">
            <a:extLst xmlns:a="http://schemas.openxmlformats.org/drawingml/2006/main">
              <a:ext uri="{FF2B5EF4-FFF2-40B4-BE49-F238E27FC236}">
                <a16:creationId xmlns:a16="http://schemas.microsoft.com/office/drawing/2014/main" id="{40251A09-3571-4FFC-A3D5-9055B55C2FA0}"/>
              </a:ext>
            </a:extLst>
          </p:cNvPr>
          <p:cNvSpPr>
            <a:spLocks xmlns:a="http://schemas.openxmlformats.org/drawingml/2006/main" noGrp="1"/>
          </p:cNvSpPr>
          <p:nvPr/>
        </p:nvSpPr>
        <p:spPr>
          <a:xfrm xmlns:a="http://schemas.openxmlformats.org/drawingml/2006/main">
            <a:off x="8115300" y="4791075"/>
            <a:ext cx="76200" cy="76200"/>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45" name="">
            <a:extLst xmlns:a="http://schemas.openxmlformats.org/drawingml/2006/main">
              <a:ext uri="{FF2B5EF4-FFF2-40B4-BE49-F238E27FC236}">
                <a16:creationId xmlns:a16="http://schemas.microsoft.com/office/drawing/2014/main" id="{50519A16-0D90-4728-A39F-982C6AC04C56}"/>
              </a:ext>
            </a:extLst>
          </p:cNvPr>
          <p:cNvSpPr>
            <a:spLocks xmlns:a="http://schemas.openxmlformats.org/drawingml/2006/main" noGrp="1"/>
          </p:cNvSpPr>
          <p:nvPr/>
        </p:nvSpPr>
        <p:spPr>
          <a:xfrm xmlns:a="http://schemas.openxmlformats.org/drawingml/2006/main">
            <a:off x="8305800" y="4686300"/>
            <a:ext cx="2333625"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650" b="0">
                <a:solidFill>
                  <a:srgbClr val="2C3A4D"/>
                </a:solidFill>
                <a:latin typeface="Aptos"/>
                <a:ea typeface="Aptos"/>
                <a:cs typeface="Aptos"/>
              </a:defRPr>
            </a:pPr>
            <a:r>
              <a:rPr sz="1650" b="0">
                <a:solidFill>
                  <a:srgbClr val="2C3A4D"/>
                </a:solidFill>
                <a:latin typeface="Aptos"/>
                <a:ea typeface="Aptos"/>
                <a:cs typeface="Aptos"/>
              </a:rPr>
              <a:t>Audit records</a:t>
            </a:r>
          </a:p>
        </p:txBody>
      </p:sp>
    </p:spTree>
    <p:extLst>
      <p:ext uri="{BB962C8B-B14F-4D97-AF65-F5344CB8AC3E}">
        <p14:creationId xmlns:p14="http://schemas.microsoft.com/office/powerpoint/2010/main" val="201228773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3C685DE-4FFB-4819-8D41-B7B55453A71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4EE"/>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2388E22B-457A-4A46-8D15-99D247144B13}"/>
              </a:ext>
            </a:extLst>
          </p:cNvPr>
          <p:cNvSpPr>
            <a:spLocks xmlns:a="http://schemas.openxmlformats.org/drawingml/2006/main" noGrp="1"/>
          </p:cNvSpPr>
          <p:nvPr/>
        </p:nvSpPr>
        <p:spPr>
          <a:xfrm xmlns:a="http://schemas.openxmlformats.org/drawingml/2006/main">
            <a:off x="609600" y="514350"/>
            <a:ext cx="85725" cy="85725"/>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B8BEAB40-8697-45B9-87A9-A25115943A4A}"/>
              </a:ext>
            </a:extLst>
          </p:cNvPr>
          <p:cNvSpPr>
            <a:spLocks xmlns:a="http://schemas.openxmlformats.org/drawingml/2006/main" noGrp="1"/>
          </p:cNvSpPr>
          <p:nvPr/>
        </p:nvSpPr>
        <p:spPr>
          <a:xfrm xmlns:a="http://schemas.openxmlformats.org/drawingml/2006/main">
            <a:off x="781050" y="400050"/>
            <a:ext cx="49530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200" b="1">
                <a:solidFill>
                  <a:srgbClr val="0B5CAD"/>
                </a:solidFill>
                <a:latin typeface="Aptos"/>
                <a:ea typeface="Aptos"/>
                <a:cs typeface="Aptos"/>
              </a:defRPr>
            </a:pPr>
            <a:r>
              <a:rPr sz="1200" b="1">
                <a:solidFill>
                  <a:srgbClr val="0B5CAD"/>
                </a:solidFill>
                <a:latin typeface="Aptos"/>
                <a:ea typeface="Aptos"/>
                <a:cs typeface="Aptos"/>
              </a:rPr>
              <a:t>EVIDENCE MODEL</a:t>
            </a:r>
          </a:p>
        </p:txBody>
      </p:sp>
      <p:sp>
        <p:nvSpPr>
          <p:cNvPr id="4" name="">
            <a:extLst xmlns:a="http://schemas.openxmlformats.org/drawingml/2006/main">
              <a:ext uri="{FF2B5EF4-FFF2-40B4-BE49-F238E27FC236}">
                <a16:creationId xmlns:a16="http://schemas.microsoft.com/office/drawing/2014/main" id="{27A8A260-5DF2-4ADD-B59F-D2A64F9CF8B3}"/>
              </a:ext>
            </a:extLst>
          </p:cNvPr>
          <p:cNvSpPr>
            <a:spLocks xmlns:a="http://schemas.openxmlformats.org/drawingml/2006/main" noGrp="1"/>
          </p:cNvSpPr>
          <p:nvPr/>
        </p:nvSpPr>
        <p:spPr>
          <a:xfrm xmlns:a="http://schemas.openxmlformats.org/drawingml/2006/main">
            <a:off x="609600" y="781050"/>
            <a:ext cx="10001250" cy="1009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600" b="1">
                <a:solidFill>
                  <a:srgbClr val="11243D"/>
                </a:solidFill>
                <a:latin typeface="Aptos Display"/>
                <a:ea typeface="Aptos Display"/>
                <a:cs typeface="Aptos Display"/>
              </a:defRPr>
            </a:pPr>
            <a:r>
              <a:rPr sz="3600" b="1">
                <a:solidFill>
                  <a:srgbClr val="11243D"/>
                </a:solidFill>
                <a:latin typeface="Aptos Display"/>
                <a:ea typeface="Aptos Display"/>
                <a:cs typeface="Aptos Display"/>
              </a:rPr>
              <a:t>Separate artifacts from review state.</a:t>
            </a:r>
          </a:p>
        </p:txBody>
      </p:sp>
      <p:sp>
        <p:nvSpPr>
          <p:cNvPr id="5" name="">
            <a:extLst xmlns:a="http://schemas.openxmlformats.org/drawingml/2006/main">
              <a:ext uri="{FF2B5EF4-FFF2-40B4-BE49-F238E27FC236}">
                <a16:creationId xmlns:a16="http://schemas.microsoft.com/office/drawing/2014/main" id="{4B03B410-C560-4E8B-8A48-DF058E3F5263}"/>
              </a:ext>
            </a:extLst>
          </p:cNvPr>
          <p:cNvSpPr>
            <a:spLocks xmlns:a="http://schemas.openxmlformats.org/drawingml/2006/main" noGrp="1"/>
          </p:cNvSpPr>
          <p:nvPr/>
        </p:nvSpPr>
        <p:spPr>
          <a:xfrm xmlns:a="http://schemas.openxmlformats.org/drawingml/2006/main">
            <a:off x="609600" y="6400800"/>
            <a:ext cx="9810750" cy="9525"/>
          </a:xfrm>
          <a:prstGeom xmlns:a="http://schemas.openxmlformats.org/drawingml/2006/main" prst="rect">
            <a:avLst/>
          </a:prstGeom>
          <a:solidFill xmlns:a="http://schemas.openxmlformats.org/drawingml/2006/main">
            <a:srgbClr val="C7D2E1"/>
          </a:solidFill>
          <a:ln xmlns:a="http://schemas.openxmlformats.org/drawingml/2006/main" w="0">
            <a:solidFill>
              <a:srgbClr val="000000">
                <a:alpha val="0"/>
              </a:srgbClr>
            </a:solidFill>
            <a:prstDash val="solid"/>
          </a:ln>
        </p:spPr>
      </p:sp>
      <p:sp>
        <p:nvSpPr>
          <p:cNvPr id="6" name="">
            <a:extLst xmlns:a="http://schemas.openxmlformats.org/drawingml/2006/main">
              <a:ext uri="{FF2B5EF4-FFF2-40B4-BE49-F238E27FC236}">
                <a16:creationId xmlns:a16="http://schemas.microsoft.com/office/drawing/2014/main" id="{109F7583-8B02-425C-8AFA-088AF6E09B04}"/>
              </a:ext>
            </a:extLst>
          </p:cNvPr>
          <p:cNvSpPr>
            <a:spLocks xmlns:a="http://schemas.openxmlformats.org/drawingml/2006/main" noGrp="1"/>
          </p:cNvSpPr>
          <p:nvPr/>
        </p:nvSpPr>
        <p:spPr>
          <a:xfrm xmlns:a="http://schemas.openxmlformats.org/drawingml/2006/main">
            <a:off x="609600" y="6457950"/>
            <a:ext cx="3429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2C3A4D"/>
                </a:solidFill>
                <a:latin typeface="Aptos"/>
                <a:ea typeface="Aptos"/>
                <a:cs typeface="Aptos"/>
              </a:defRPr>
            </a:pPr>
            <a:r>
              <a:rPr sz="1050" b="0">
                <a:solidFill>
                  <a:srgbClr val="2C3A4D"/>
                </a:solidFill>
                <a:latin typeface="Aptos"/>
                <a:ea typeface="Aptos"/>
                <a:cs typeface="Aptos"/>
              </a:rPr>
              <a:t>Cloud Email Analyzer</a:t>
            </a:r>
          </a:p>
        </p:txBody>
      </p:sp>
      <p:sp>
        <p:nvSpPr>
          <p:cNvPr id="7" name="">
            <a:extLst xmlns:a="http://schemas.openxmlformats.org/drawingml/2006/main">
              <a:ext uri="{FF2B5EF4-FFF2-40B4-BE49-F238E27FC236}">
                <a16:creationId xmlns:a16="http://schemas.microsoft.com/office/drawing/2014/main" id="{C70A8DFF-5E0D-4538-9EBE-030A8DBBAE46}"/>
              </a:ext>
            </a:extLst>
          </p:cNvPr>
          <p:cNvSpPr>
            <a:spLocks xmlns:a="http://schemas.openxmlformats.org/drawingml/2006/main" noGrp="1"/>
          </p:cNvSpPr>
          <p:nvPr/>
        </p:nvSpPr>
        <p:spPr>
          <a:xfrm xmlns:a="http://schemas.openxmlformats.org/drawingml/2006/main">
            <a:off x="11001375" y="6438900"/>
            <a:ext cx="571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1050" b="0">
                <a:solidFill>
                  <a:srgbClr val="2C3A4D"/>
                </a:solidFill>
                <a:latin typeface="Aptos"/>
                <a:ea typeface="Aptos"/>
                <a:cs typeface="Aptos"/>
              </a:defRPr>
            </a:pPr>
            <a:r>
              <a:rPr sz="1050" b="0">
                <a:solidFill>
                  <a:srgbClr val="2C3A4D"/>
                </a:solidFill>
                <a:latin typeface="Aptos"/>
                <a:ea typeface="Aptos"/>
                <a:cs typeface="Aptos"/>
              </a:rPr>
              <a:t>07</a:t>
            </a:r>
          </a:p>
        </p:txBody>
      </p:sp>
      <p:sp>
        <p:nvSpPr>
          <p:cNvPr id="8" name="">
            <a:extLst xmlns:a="http://schemas.openxmlformats.org/drawingml/2006/main">
              <a:ext uri="{FF2B5EF4-FFF2-40B4-BE49-F238E27FC236}">
                <a16:creationId xmlns:a16="http://schemas.microsoft.com/office/drawing/2014/main" id="{6E250BF2-39A7-4593-AA82-9D6533EB0DEA}"/>
              </a:ext>
            </a:extLst>
          </p:cNvPr>
          <p:cNvSpPr>
            <a:spLocks xmlns:a="http://schemas.openxmlformats.org/drawingml/2006/main" noGrp="1"/>
          </p:cNvSpPr>
          <p:nvPr/>
        </p:nvSpPr>
        <p:spPr>
          <a:xfrm xmlns:a="http://schemas.openxmlformats.org/drawingml/2006/main">
            <a:off x="685800" y="2038350"/>
            <a:ext cx="4476750" cy="3143250"/>
          </a:xfrm>
          <a:prstGeom xmlns:a="http://schemas.openxmlformats.org/drawingml/2006/main" prst="rect">
            <a:avLst/>
          </a:prstGeom>
          <a:solidFill xmlns:a="http://schemas.openxmlformats.org/drawingml/2006/main">
            <a:srgbClr val="FFF9F1"/>
          </a:solidFill>
          <a:ln xmlns:a="http://schemas.openxmlformats.org/drawingml/2006/main" w="9525">
            <a:solidFill>
              <a:srgbClr val="C7D2E1"/>
            </a:solidFill>
            <a:prstDash val="solid"/>
          </a:ln>
        </p:spPr>
      </p:sp>
      <p:sp>
        <p:nvSpPr>
          <p:cNvPr id="9" name="">
            <a:extLst xmlns:a="http://schemas.openxmlformats.org/drawingml/2006/main">
              <a:ext uri="{FF2B5EF4-FFF2-40B4-BE49-F238E27FC236}">
                <a16:creationId xmlns:a16="http://schemas.microsoft.com/office/drawing/2014/main" id="{215B40C3-366A-4EBF-AE4D-4E1D53A037B6}"/>
              </a:ext>
            </a:extLst>
          </p:cNvPr>
          <p:cNvSpPr>
            <a:spLocks xmlns:a="http://schemas.openxmlformats.org/drawingml/2006/main" noGrp="1"/>
          </p:cNvSpPr>
          <p:nvPr/>
        </p:nvSpPr>
        <p:spPr>
          <a:xfrm xmlns:a="http://schemas.openxmlformats.org/drawingml/2006/main">
            <a:off x="990600" y="2247900"/>
            <a:ext cx="3867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875" b="1">
                <a:solidFill>
                  <a:srgbClr val="0B5CAD"/>
                </a:solidFill>
                <a:latin typeface="Aptos"/>
                <a:ea typeface="Aptos"/>
                <a:cs typeface="Aptos"/>
              </a:defRPr>
            </a:pPr>
            <a:r>
              <a:rPr sz="1875" b="1">
                <a:solidFill>
                  <a:srgbClr val="0B5CAD"/>
                </a:solidFill>
                <a:latin typeface="Aptos"/>
                <a:ea typeface="Aptos"/>
                <a:cs typeface="Aptos"/>
              </a:rPr>
              <a:t>S3 artifact store</a:t>
            </a:r>
          </a:p>
        </p:txBody>
      </p:sp>
      <p:sp>
        <p:nvSpPr>
          <p:cNvPr id="10" name="">
            <a:extLst xmlns:a="http://schemas.openxmlformats.org/drawingml/2006/main">
              <a:ext uri="{FF2B5EF4-FFF2-40B4-BE49-F238E27FC236}">
                <a16:creationId xmlns:a16="http://schemas.microsoft.com/office/drawing/2014/main" id="{015A04CA-2A8B-4AD8-BE4B-729E2D78DFB5}"/>
              </a:ext>
            </a:extLst>
          </p:cNvPr>
          <p:cNvSpPr>
            <a:spLocks xmlns:a="http://schemas.openxmlformats.org/drawingml/2006/main" noGrp="1"/>
          </p:cNvSpPr>
          <p:nvPr/>
        </p:nvSpPr>
        <p:spPr>
          <a:xfrm xmlns:a="http://schemas.openxmlformats.org/drawingml/2006/main">
            <a:off x="990600" y="2571750"/>
            <a:ext cx="38671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350" b="0">
                <a:solidFill>
                  <a:srgbClr val="2C3A4D"/>
                </a:solidFill>
                <a:latin typeface="Aptos"/>
                <a:ea typeface="Aptos"/>
                <a:cs typeface="Aptos"/>
              </a:defRPr>
            </a:pPr>
            <a:r>
              <a:rPr sz="1350" b="0">
                <a:solidFill>
                  <a:srgbClr val="2C3A4D"/>
                </a:solidFill>
                <a:latin typeface="Aptos"/>
                <a:ea typeface="Aptos"/>
                <a:cs typeface="Aptos"/>
              </a:rPr>
              <a:t>large and semi-structured evidence</a:t>
            </a:r>
          </a:p>
        </p:txBody>
      </p:sp>
      <p:sp>
        <p:nvSpPr>
          <p:cNvPr id="11" name="">
            <a:extLst xmlns:a="http://schemas.openxmlformats.org/drawingml/2006/main">
              <a:ext uri="{FF2B5EF4-FFF2-40B4-BE49-F238E27FC236}">
                <a16:creationId xmlns:a16="http://schemas.microsoft.com/office/drawing/2014/main" id="{849B1B39-2499-4CC6-BDD3-4B9585ED73DB}"/>
              </a:ext>
            </a:extLst>
          </p:cNvPr>
          <p:cNvSpPr>
            <a:spLocks xmlns:a="http://schemas.openxmlformats.org/drawingml/2006/main" noGrp="1"/>
          </p:cNvSpPr>
          <p:nvPr/>
        </p:nvSpPr>
        <p:spPr>
          <a:xfrm xmlns:a="http://schemas.openxmlformats.org/drawingml/2006/main">
            <a:off x="1066800" y="2971800"/>
            <a:ext cx="3714750" cy="60960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12" name="">
            <a:extLst xmlns:a="http://schemas.openxmlformats.org/drawingml/2006/main">
              <a:ext uri="{FF2B5EF4-FFF2-40B4-BE49-F238E27FC236}">
                <a16:creationId xmlns:a16="http://schemas.microsoft.com/office/drawing/2014/main" id="{C6882EAE-7A43-4EB1-BFD7-2FC907789AA4}"/>
              </a:ext>
            </a:extLst>
          </p:cNvPr>
          <p:cNvSpPr>
            <a:spLocks xmlns:a="http://schemas.openxmlformats.org/drawingml/2006/main" noGrp="1"/>
          </p:cNvSpPr>
          <p:nvPr/>
        </p:nvSpPr>
        <p:spPr>
          <a:xfrm xmlns:a="http://schemas.openxmlformats.org/drawingml/2006/main">
            <a:off x="1200150" y="3028950"/>
            <a:ext cx="34480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575" b="1">
                <a:solidFill>
                  <a:srgbClr val="11243D"/>
                </a:solidFill>
                <a:latin typeface="Aptos"/>
                <a:ea typeface="Aptos"/>
                <a:cs typeface="Aptos"/>
              </a:defRPr>
            </a:pPr>
            <a:r>
              <a:rPr sz="1575" b="1">
                <a:solidFill>
                  <a:srgbClr val="11243D"/>
                </a:solidFill>
                <a:latin typeface="Aptos"/>
                <a:ea typeface="Aptos"/>
                <a:cs typeface="Aptos"/>
              </a:rPr>
              <a:t>Raw MIME</a:t>
            </a:r>
          </a:p>
        </p:txBody>
      </p:sp>
      <p:sp>
        <p:nvSpPr>
          <p:cNvPr id="13" name="">
            <a:extLst xmlns:a="http://schemas.openxmlformats.org/drawingml/2006/main">
              <a:ext uri="{FF2B5EF4-FFF2-40B4-BE49-F238E27FC236}">
                <a16:creationId xmlns:a16="http://schemas.microsoft.com/office/drawing/2014/main" id="{970D0388-5952-4946-979F-BA945A2F6662}"/>
              </a:ext>
            </a:extLst>
          </p:cNvPr>
          <p:cNvSpPr>
            <a:spLocks xmlns:a="http://schemas.openxmlformats.org/drawingml/2006/main" noGrp="1"/>
          </p:cNvSpPr>
          <p:nvPr/>
        </p:nvSpPr>
        <p:spPr>
          <a:xfrm xmlns:a="http://schemas.openxmlformats.org/drawingml/2006/main">
            <a:off x="1200150" y="3352800"/>
            <a:ext cx="34480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00" b="0">
                <a:solidFill>
                  <a:srgbClr val="2C3A4D"/>
                </a:solidFill>
                <a:latin typeface="Aptos"/>
                <a:ea typeface="Aptos"/>
                <a:cs typeface="Aptos"/>
              </a:defRPr>
            </a:pPr>
            <a:r>
              <a:rPr sz="1200" b="0">
                <a:solidFill>
                  <a:srgbClr val="2C3A4D"/>
                </a:solidFill>
                <a:latin typeface="Aptos"/>
                <a:ea typeface="Aptos"/>
                <a:cs typeface="Aptos"/>
              </a:rPr>
              <a:t>Original inbound object</a:t>
            </a:r>
          </a:p>
        </p:txBody>
      </p:sp>
      <p:sp>
        <p:nvSpPr>
          <p:cNvPr id="14" name="">
            <a:extLst xmlns:a="http://schemas.openxmlformats.org/drawingml/2006/main">
              <a:ext uri="{FF2B5EF4-FFF2-40B4-BE49-F238E27FC236}">
                <a16:creationId xmlns:a16="http://schemas.microsoft.com/office/drawing/2014/main" id="{5F476FB2-09A6-4745-BEA5-A1E0F03F6036}"/>
              </a:ext>
            </a:extLst>
          </p:cNvPr>
          <p:cNvSpPr>
            <a:spLocks xmlns:a="http://schemas.openxmlformats.org/drawingml/2006/main" noGrp="1"/>
          </p:cNvSpPr>
          <p:nvPr/>
        </p:nvSpPr>
        <p:spPr>
          <a:xfrm xmlns:a="http://schemas.openxmlformats.org/drawingml/2006/main">
            <a:off x="1066800" y="3733800"/>
            <a:ext cx="3714750" cy="60960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15" name="">
            <a:extLst xmlns:a="http://schemas.openxmlformats.org/drawingml/2006/main">
              <a:ext uri="{FF2B5EF4-FFF2-40B4-BE49-F238E27FC236}">
                <a16:creationId xmlns:a16="http://schemas.microsoft.com/office/drawing/2014/main" id="{A3C0E8C9-C3D3-41DC-B1E0-BA3016FC32FD}"/>
              </a:ext>
            </a:extLst>
          </p:cNvPr>
          <p:cNvSpPr>
            <a:spLocks xmlns:a="http://schemas.openxmlformats.org/drawingml/2006/main" noGrp="1"/>
          </p:cNvSpPr>
          <p:nvPr/>
        </p:nvSpPr>
        <p:spPr>
          <a:xfrm xmlns:a="http://schemas.openxmlformats.org/drawingml/2006/main">
            <a:off x="1200150" y="3790950"/>
            <a:ext cx="34480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575" b="1">
                <a:solidFill>
                  <a:srgbClr val="11243D"/>
                </a:solidFill>
                <a:latin typeface="Aptos"/>
                <a:ea typeface="Aptos"/>
                <a:cs typeface="Aptos"/>
              </a:defRPr>
            </a:pPr>
            <a:r>
              <a:rPr sz="1575" b="1">
                <a:solidFill>
                  <a:srgbClr val="11243D"/>
                </a:solidFill>
                <a:latin typeface="Aptos"/>
                <a:ea typeface="Aptos"/>
                <a:cs typeface="Aptos"/>
              </a:rPr>
              <a:t>Parsed body</a:t>
            </a:r>
          </a:p>
        </p:txBody>
      </p:sp>
      <p:sp>
        <p:nvSpPr>
          <p:cNvPr id="16" name="">
            <a:extLst xmlns:a="http://schemas.openxmlformats.org/drawingml/2006/main">
              <a:ext uri="{FF2B5EF4-FFF2-40B4-BE49-F238E27FC236}">
                <a16:creationId xmlns:a16="http://schemas.microsoft.com/office/drawing/2014/main" id="{0C319E6D-4CBB-4DD0-92FD-9F38578F5FD6}"/>
              </a:ext>
            </a:extLst>
          </p:cNvPr>
          <p:cNvSpPr>
            <a:spLocks xmlns:a="http://schemas.openxmlformats.org/drawingml/2006/main" noGrp="1"/>
          </p:cNvSpPr>
          <p:nvPr/>
        </p:nvSpPr>
        <p:spPr>
          <a:xfrm xmlns:a="http://schemas.openxmlformats.org/drawingml/2006/main">
            <a:off x="1200150" y="4114800"/>
            <a:ext cx="34480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00" b="0">
                <a:solidFill>
                  <a:srgbClr val="2C3A4D"/>
                </a:solidFill>
                <a:latin typeface="Aptos"/>
                <a:ea typeface="Aptos"/>
                <a:cs typeface="Aptos"/>
              </a:defRPr>
            </a:pPr>
            <a:r>
              <a:rPr sz="1200" b="0">
                <a:solidFill>
                  <a:srgbClr val="2C3A4D"/>
                </a:solidFill>
                <a:latin typeface="Aptos"/>
                <a:ea typeface="Aptos"/>
                <a:cs typeface="Aptos"/>
              </a:rPr>
              <a:t>Plain text and HTML evidence</a:t>
            </a:r>
          </a:p>
        </p:txBody>
      </p:sp>
      <p:sp>
        <p:nvSpPr>
          <p:cNvPr id="17" name="">
            <a:extLst xmlns:a="http://schemas.openxmlformats.org/drawingml/2006/main">
              <a:ext uri="{FF2B5EF4-FFF2-40B4-BE49-F238E27FC236}">
                <a16:creationId xmlns:a16="http://schemas.microsoft.com/office/drawing/2014/main" id="{7AE1E4A8-5F56-4E66-B73A-FD12CFB7F5D0}"/>
              </a:ext>
            </a:extLst>
          </p:cNvPr>
          <p:cNvSpPr>
            <a:spLocks xmlns:a="http://schemas.openxmlformats.org/drawingml/2006/main" noGrp="1"/>
          </p:cNvSpPr>
          <p:nvPr/>
        </p:nvSpPr>
        <p:spPr>
          <a:xfrm xmlns:a="http://schemas.openxmlformats.org/drawingml/2006/main">
            <a:off x="1066800" y="4495800"/>
            <a:ext cx="3714750" cy="60960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18" name="">
            <a:extLst xmlns:a="http://schemas.openxmlformats.org/drawingml/2006/main">
              <a:ext uri="{FF2B5EF4-FFF2-40B4-BE49-F238E27FC236}">
                <a16:creationId xmlns:a16="http://schemas.microsoft.com/office/drawing/2014/main" id="{C3842723-78DD-42A5-89A6-2537E861E0D8}"/>
              </a:ext>
            </a:extLst>
          </p:cNvPr>
          <p:cNvSpPr>
            <a:spLocks xmlns:a="http://schemas.openxmlformats.org/drawingml/2006/main" noGrp="1"/>
          </p:cNvSpPr>
          <p:nvPr/>
        </p:nvSpPr>
        <p:spPr>
          <a:xfrm xmlns:a="http://schemas.openxmlformats.org/drawingml/2006/main">
            <a:off x="1200150" y="4552950"/>
            <a:ext cx="34480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575" b="1">
                <a:solidFill>
                  <a:srgbClr val="11243D"/>
                </a:solidFill>
                <a:latin typeface="Aptos"/>
                <a:ea typeface="Aptos"/>
                <a:cs typeface="Aptos"/>
              </a:defRPr>
            </a:pPr>
            <a:r>
              <a:rPr sz="1575" b="1">
                <a:solidFill>
                  <a:srgbClr val="11243D"/>
                </a:solidFill>
                <a:latin typeface="Aptos"/>
                <a:ea typeface="Aptos"/>
                <a:cs typeface="Aptos"/>
              </a:rPr>
              <a:t>Attachment files</a:t>
            </a:r>
          </a:p>
        </p:txBody>
      </p:sp>
      <p:sp>
        <p:nvSpPr>
          <p:cNvPr id="19" name="">
            <a:extLst xmlns:a="http://schemas.openxmlformats.org/drawingml/2006/main">
              <a:ext uri="{FF2B5EF4-FFF2-40B4-BE49-F238E27FC236}">
                <a16:creationId xmlns:a16="http://schemas.microsoft.com/office/drawing/2014/main" id="{F96976CA-6F8D-4C6A-8D84-9B086C330E98}"/>
              </a:ext>
            </a:extLst>
          </p:cNvPr>
          <p:cNvSpPr>
            <a:spLocks xmlns:a="http://schemas.openxmlformats.org/drawingml/2006/main" noGrp="1"/>
          </p:cNvSpPr>
          <p:nvPr/>
        </p:nvSpPr>
        <p:spPr>
          <a:xfrm xmlns:a="http://schemas.openxmlformats.org/drawingml/2006/main">
            <a:off x="1200150" y="4876800"/>
            <a:ext cx="34480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00" b="0">
                <a:solidFill>
                  <a:srgbClr val="2C3A4D"/>
                </a:solidFill>
                <a:latin typeface="Aptos"/>
                <a:ea typeface="Aptos"/>
                <a:cs typeface="Aptos"/>
              </a:defRPr>
            </a:pPr>
            <a:r>
              <a:rPr sz="1200" b="0">
                <a:solidFill>
                  <a:srgbClr val="2C3A4D"/>
                </a:solidFill>
                <a:latin typeface="Aptos"/>
                <a:ea typeface="Aptos"/>
                <a:cs typeface="Aptos"/>
              </a:rPr>
              <a:t>Extracted binary artifacts</a:t>
            </a:r>
          </a:p>
        </p:txBody>
      </p:sp>
      <p:sp>
        <p:nvSpPr>
          <p:cNvPr id="20" name="">
            <a:extLst xmlns:a="http://schemas.openxmlformats.org/drawingml/2006/main">
              <a:ext uri="{FF2B5EF4-FFF2-40B4-BE49-F238E27FC236}">
                <a16:creationId xmlns:a16="http://schemas.microsoft.com/office/drawing/2014/main" id="{81FE6CC7-51AE-4463-9661-324FE6169952}"/>
              </a:ext>
            </a:extLst>
          </p:cNvPr>
          <p:cNvSpPr>
            <a:spLocks xmlns:a="http://schemas.openxmlformats.org/drawingml/2006/main" noGrp="1"/>
          </p:cNvSpPr>
          <p:nvPr/>
        </p:nvSpPr>
        <p:spPr>
          <a:xfrm xmlns:a="http://schemas.openxmlformats.org/drawingml/2006/main">
            <a:off x="7029450" y="2038350"/>
            <a:ext cx="4476750" cy="3143250"/>
          </a:xfrm>
          <a:prstGeom xmlns:a="http://schemas.openxmlformats.org/drawingml/2006/main" prst="rect">
            <a:avLst/>
          </a:prstGeom>
          <a:solidFill xmlns:a="http://schemas.openxmlformats.org/drawingml/2006/main">
            <a:srgbClr val="F4FBF4"/>
          </a:solidFill>
          <a:ln xmlns:a="http://schemas.openxmlformats.org/drawingml/2006/main" w="9525">
            <a:solidFill>
              <a:srgbClr val="C7D2E1"/>
            </a:solidFill>
            <a:prstDash val="solid"/>
          </a:ln>
        </p:spPr>
      </p:sp>
      <p:sp>
        <p:nvSpPr>
          <p:cNvPr id="21" name="">
            <a:extLst xmlns:a="http://schemas.openxmlformats.org/drawingml/2006/main">
              <a:ext uri="{FF2B5EF4-FFF2-40B4-BE49-F238E27FC236}">
                <a16:creationId xmlns:a16="http://schemas.microsoft.com/office/drawing/2014/main" id="{2C332DA1-8CA8-4A5A-AAD4-012F613E3924}"/>
              </a:ext>
            </a:extLst>
          </p:cNvPr>
          <p:cNvSpPr>
            <a:spLocks xmlns:a="http://schemas.openxmlformats.org/drawingml/2006/main" noGrp="1"/>
          </p:cNvSpPr>
          <p:nvPr/>
        </p:nvSpPr>
        <p:spPr>
          <a:xfrm xmlns:a="http://schemas.openxmlformats.org/drawingml/2006/main">
            <a:off x="7334250" y="2247900"/>
            <a:ext cx="3867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875" b="1">
                <a:solidFill>
                  <a:srgbClr val="0B5CAD"/>
                </a:solidFill>
                <a:latin typeface="Aptos"/>
                <a:ea typeface="Aptos"/>
                <a:cs typeface="Aptos"/>
              </a:defRPr>
            </a:pPr>
            <a:r>
              <a:rPr sz="1875" b="1">
                <a:solidFill>
                  <a:srgbClr val="0B5CAD"/>
                </a:solidFill>
                <a:latin typeface="Aptos"/>
                <a:ea typeface="Aptos"/>
                <a:cs typeface="Aptos"/>
              </a:rPr>
              <a:t>DynamoDB review state</a:t>
            </a:r>
          </a:p>
        </p:txBody>
      </p:sp>
      <p:sp>
        <p:nvSpPr>
          <p:cNvPr id="22" name="">
            <a:extLst xmlns:a="http://schemas.openxmlformats.org/drawingml/2006/main">
              <a:ext uri="{FF2B5EF4-FFF2-40B4-BE49-F238E27FC236}">
                <a16:creationId xmlns:a16="http://schemas.microsoft.com/office/drawing/2014/main" id="{17377677-23CD-432D-B3E1-FF948C268A70}"/>
              </a:ext>
            </a:extLst>
          </p:cNvPr>
          <p:cNvSpPr>
            <a:spLocks xmlns:a="http://schemas.openxmlformats.org/drawingml/2006/main" noGrp="1"/>
          </p:cNvSpPr>
          <p:nvPr/>
        </p:nvSpPr>
        <p:spPr>
          <a:xfrm xmlns:a="http://schemas.openxmlformats.org/drawingml/2006/main">
            <a:off x="7334250" y="2571750"/>
            <a:ext cx="38671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350" b="0">
                <a:solidFill>
                  <a:srgbClr val="2C3A4D"/>
                </a:solidFill>
                <a:latin typeface="Aptos"/>
                <a:ea typeface="Aptos"/>
                <a:cs typeface="Aptos"/>
              </a:defRPr>
            </a:pPr>
            <a:r>
              <a:rPr sz="1350" b="0">
                <a:solidFill>
                  <a:srgbClr val="2C3A4D"/>
                </a:solidFill>
                <a:latin typeface="Aptos"/>
                <a:ea typeface="Aptos"/>
                <a:cs typeface="Aptos"/>
              </a:rPr>
              <a:t>compact records for query and audit</a:t>
            </a:r>
          </a:p>
        </p:txBody>
      </p:sp>
      <p:sp>
        <p:nvSpPr>
          <p:cNvPr id="23" name="">
            <a:extLst xmlns:a="http://schemas.openxmlformats.org/drawingml/2006/main">
              <a:ext uri="{FF2B5EF4-FFF2-40B4-BE49-F238E27FC236}">
                <a16:creationId xmlns:a16="http://schemas.microsoft.com/office/drawing/2014/main" id="{09B29A86-D5BC-478D-994E-F58EAFEB5269}"/>
              </a:ext>
            </a:extLst>
          </p:cNvPr>
          <p:cNvSpPr>
            <a:spLocks xmlns:a="http://schemas.openxmlformats.org/drawingml/2006/main" noGrp="1"/>
          </p:cNvSpPr>
          <p:nvPr/>
        </p:nvSpPr>
        <p:spPr>
          <a:xfrm xmlns:a="http://schemas.openxmlformats.org/drawingml/2006/main">
            <a:off x="7334250" y="2914650"/>
            <a:ext cx="1847850" cy="781050"/>
          </a:xfrm>
          <a:prstGeom xmlns:a="http://schemas.openxmlformats.org/drawingml/2006/main" prst="rect">
            <a:avLst/>
          </a:prstGeom>
          <a:solidFill xmlns:a="http://schemas.openxmlformats.org/drawingml/2006/main">
            <a:srgbClr val="EAF2FB"/>
          </a:solidFill>
          <a:ln xmlns:a="http://schemas.openxmlformats.org/drawingml/2006/main" w="9525">
            <a:solidFill>
              <a:srgbClr val="0B5CAD"/>
            </a:solidFill>
            <a:prstDash val="solid"/>
          </a:ln>
        </p:spPr>
      </p:sp>
      <p:sp>
        <p:nvSpPr>
          <p:cNvPr id="24" name="">
            <a:extLst xmlns:a="http://schemas.openxmlformats.org/drawingml/2006/main">
              <a:ext uri="{FF2B5EF4-FFF2-40B4-BE49-F238E27FC236}">
                <a16:creationId xmlns:a16="http://schemas.microsoft.com/office/drawing/2014/main" id="{2FA50F66-B156-40AE-B2FD-B2CA0DCECDB5}"/>
              </a:ext>
            </a:extLst>
          </p:cNvPr>
          <p:cNvSpPr>
            <a:spLocks xmlns:a="http://schemas.openxmlformats.org/drawingml/2006/main" noGrp="1"/>
          </p:cNvSpPr>
          <p:nvPr/>
        </p:nvSpPr>
        <p:spPr>
          <a:xfrm xmlns:a="http://schemas.openxmlformats.org/drawingml/2006/main">
            <a:off x="7467600" y="2971800"/>
            <a:ext cx="1581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425" b="1">
                <a:solidFill>
                  <a:srgbClr val="0B5CAD"/>
                </a:solidFill>
                <a:latin typeface="Aptos"/>
                <a:ea typeface="Aptos"/>
                <a:cs typeface="Aptos"/>
              </a:defRPr>
            </a:pPr>
            <a:r>
              <a:rPr sz="1425" b="1">
                <a:solidFill>
                  <a:srgbClr val="0B5CAD"/>
                </a:solidFill>
                <a:latin typeface="Aptos"/>
                <a:ea typeface="Aptos"/>
                <a:cs typeface="Aptos"/>
              </a:rPr>
              <a:t>Message ledger</a:t>
            </a:r>
          </a:p>
        </p:txBody>
      </p:sp>
      <p:sp>
        <p:nvSpPr>
          <p:cNvPr id="25" name="">
            <a:extLst xmlns:a="http://schemas.openxmlformats.org/drawingml/2006/main">
              <a:ext uri="{FF2B5EF4-FFF2-40B4-BE49-F238E27FC236}">
                <a16:creationId xmlns:a16="http://schemas.microsoft.com/office/drawing/2014/main" id="{1898EE44-02BA-4D25-95E5-EB6AE26B8564}"/>
              </a:ext>
            </a:extLst>
          </p:cNvPr>
          <p:cNvSpPr>
            <a:spLocks xmlns:a="http://schemas.openxmlformats.org/drawingml/2006/main" noGrp="1"/>
          </p:cNvSpPr>
          <p:nvPr/>
        </p:nvSpPr>
        <p:spPr>
          <a:xfrm xmlns:a="http://schemas.openxmlformats.org/drawingml/2006/main">
            <a:off x="7467600" y="3295650"/>
            <a:ext cx="15811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050" b="0">
                <a:solidFill>
                  <a:srgbClr val="2C3A4D"/>
                </a:solidFill>
                <a:latin typeface="Aptos"/>
                <a:ea typeface="Aptos"/>
                <a:cs typeface="Aptos"/>
              </a:defRPr>
            </a:pPr>
            <a:r>
              <a:rPr sz="1050" b="0">
                <a:solidFill>
                  <a:srgbClr val="2C3A4D"/>
                </a:solidFill>
                <a:latin typeface="Aptos"/>
                <a:ea typeface="Aptos"/>
                <a:cs typeface="Aptos"/>
              </a:rPr>
              <a:t>status + verdicts + links</a:t>
            </a:r>
          </a:p>
        </p:txBody>
      </p:sp>
      <p:sp>
        <p:nvSpPr>
          <p:cNvPr id="26" name="">
            <a:extLst xmlns:a="http://schemas.openxmlformats.org/drawingml/2006/main">
              <a:ext uri="{FF2B5EF4-FFF2-40B4-BE49-F238E27FC236}">
                <a16:creationId xmlns:a16="http://schemas.microsoft.com/office/drawing/2014/main" id="{D0FFF02E-D991-4670-8843-3964B2B9913F}"/>
              </a:ext>
            </a:extLst>
          </p:cNvPr>
          <p:cNvSpPr>
            <a:spLocks xmlns:a="http://schemas.openxmlformats.org/drawingml/2006/main" noGrp="1"/>
          </p:cNvSpPr>
          <p:nvPr/>
        </p:nvSpPr>
        <p:spPr>
          <a:xfrm xmlns:a="http://schemas.openxmlformats.org/drawingml/2006/main">
            <a:off x="9353550" y="2914650"/>
            <a:ext cx="184785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27" name="">
            <a:extLst xmlns:a="http://schemas.openxmlformats.org/drawingml/2006/main">
              <a:ext uri="{FF2B5EF4-FFF2-40B4-BE49-F238E27FC236}">
                <a16:creationId xmlns:a16="http://schemas.microsoft.com/office/drawing/2014/main" id="{4F2A648F-99A1-40A0-8514-11D386A72A81}"/>
              </a:ext>
            </a:extLst>
          </p:cNvPr>
          <p:cNvSpPr>
            <a:spLocks xmlns:a="http://schemas.openxmlformats.org/drawingml/2006/main" noGrp="1"/>
          </p:cNvSpPr>
          <p:nvPr/>
        </p:nvSpPr>
        <p:spPr>
          <a:xfrm xmlns:a="http://schemas.openxmlformats.org/drawingml/2006/main">
            <a:off x="9486900" y="2971800"/>
            <a:ext cx="1581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425" b="1">
                <a:solidFill>
                  <a:srgbClr val="11243D"/>
                </a:solidFill>
                <a:latin typeface="Aptos"/>
                <a:ea typeface="Aptos"/>
                <a:cs typeface="Aptos"/>
              </a:defRPr>
            </a:pPr>
            <a:r>
              <a:rPr sz="1425" b="1">
                <a:solidFill>
                  <a:srgbClr val="11243D"/>
                </a:solidFill>
                <a:latin typeface="Aptos"/>
                <a:ea typeface="Aptos"/>
                <a:cs typeface="Aptos"/>
              </a:rPr>
              <a:t>Inbox projection</a:t>
            </a:r>
          </a:p>
        </p:txBody>
      </p:sp>
      <p:sp>
        <p:nvSpPr>
          <p:cNvPr id="28" name="">
            <a:extLst xmlns:a="http://schemas.openxmlformats.org/drawingml/2006/main">
              <a:ext uri="{FF2B5EF4-FFF2-40B4-BE49-F238E27FC236}">
                <a16:creationId xmlns:a16="http://schemas.microsoft.com/office/drawing/2014/main" id="{AD60712F-B960-4BB8-A310-45FD9DDC4404}"/>
              </a:ext>
            </a:extLst>
          </p:cNvPr>
          <p:cNvSpPr>
            <a:spLocks xmlns:a="http://schemas.openxmlformats.org/drawingml/2006/main" noGrp="1"/>
          </p:cNvSpPr>
          <p:nvPr/>
        </p:nvSpPr>
        <p:spPr>
          <a:xfrm xmlns:a="http://schemas.openxmlformats.org/drawingml/2006/main">
            <a:off x="9486900" y="3295650"/>
            <a:ext cx="15811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050" b="0">
                <a:solidFill>
                  <a:srgbClr val="2C3A4D"/>
                </a:solidFill>
                <a:latin typeface="Aptos"/>
                <a:ea typeface="Aptos"/>
                <a:cs typeface="Aptos"/>
              </a:defRPr>
            </a:pPr>
            <a:r>
              <a:rPr sz="1050" b="0">
                <a:solidFill>
                  <a:srgbClr val="2C3A4D"/>
                </a:solidFill>
                <a:latin typeface="Aptos"/>
                <a:ea typeface="Aptos"/>
                <a:cs typeface="Aptos"/>
              </a:rPr>
              <a:t>per-user review rows</a:t>
            </a:r>
          </a:p>
        </p:txBody>
      </p:sp>
      <p:sp>
        <p:nvSpPr>
          <p:cNvPr id="29" name="">
            <a:extLst xmlns:a="http://schemas.openxmlformats.org/drawingml/2006/main">
              <a:ext uri="{FF2B5EF4-FFF2-40B4-BE49-F238E27FC236}">
                <a16:creationId xmlns:a16="http://schemas.microsoft.com/office/drawing/2014/main" id="{F83ED89C-0629-49FA-A0D0-A4B2E89C4AC0}"/>
              </a:ext>
            </a:extLst>
          </p:cNvPr>
          <p:cNvSpPr>
            <a:spLocks xmlns:a="http://schemas.openxmlformats.org/drawingml/2006/main" noGrp="1"/>
          </p:cNvSpPr>
          <p:nvPr/>
        </p:nvSpPr>
        <p:spPr>
          <a:xfrm xmlns:a="http://schemas.openxmlformats.org/drawingml/2006/main">
            <a:off x="7334250" y="3829050"/>
            <a:ext cx="184785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30" name="">
            <a:extLst xmlns:a="http://schemas.openxmlformats.org/drawingml/2006/main">
              <a:ext uri="{FF2B5EF4-FFF2-40B4-BE49-F238E27FC236}">
                <a16:creationId xmlns:a16="http://schemas.microsoft.com/office/drawing/2014/main" id="{C1AFA651-EF88-4738-BBE1-F00E082734E1}"/>
              </a:ext>
            </a:extLst>
          </p:cNvPr>
          <p:cNvSpPr>
            <a:spLocks xmlns:a="http://schemas.openxmlformats.org/drawingml/2006/main" noGrp="1"/>
          </p:cNvSpPr>
          <p:nvPr/>
        </p:nvSpPr>
        <p:spPr>
          <a:xfrm xmlns:a="http://schemas.openxmlformats.org/drawingml/2006/main">
            <a:off x="7467600" y="3886200"/>
            <a:ext cx="1581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425" b="1">
                <a:solidFill>
                  <a:srgbClr val="11243D"/>
                </a:solidFill>
                <a:latin typeface="Aptos"/>
                <a:ea typeface="Aptos"/>
                <a:cs typeface="Aptos"/>
              </a:defRPr>
            </a:pPr>
            <a:r>
              <a:rPr sz="1425" b="1">
                <a:solidFill>
                  <a:srgbClr val="11243D"/>
                </a:solidFill>
                <a:latin typeface="Aptos"/>
                <a:ea typeface="Aptos"/>
                <a:cs typeface="Aptos"/>
              </a:rPr>
              <a:t>Attachments</a:t>
            </a:r>
          </a:p>
        </p:txBody>
      </p:sp>
      <p:sp>
        <p:nvSpPr>
          <p:cNvPr id="31" name="">
            <a:extLst xmlns:a="http://schemas.openxmlformats.org/drawingml/2006/main">
              <a:ext uri="{FF2B5EF4-FFF2-40B4-BE49-F238E27FC236}">
                <a16:creationId xmlns:a16="http://schemas.microsoft.com/office/drawing/2014/main" id="{D19D6DA1-86B8-4E90-AEA7-25D43EC4CB4E}"/>
              </a:ext>
            </a:extLst>
          </p:cNvPr>
          <p:cNvSpPr>
            <a:spLocks xmlns:a="http://schemas.openxmlformats.org/drawingml/2006/main" noGrp="1"/>
          </p:cNvSpPr>
          <p:nvPr/>
        </p:nvSpPr>
        <p:spPr>
          <a:xfrm xmlns:a="http://schemas.openxmlformats.org/drawingml/2006/main">
            <a:off x="7467600" y="4210050"/>
            <a:ext cx="15811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050" b="0">
                <a:solidFill>
                  <a:srgbClr val="2C3A4D"/>
                </a:solidFill>
                <a:latin typeface="Aptos"/>
                <a:ea typeface="Aptos"/>
                <a:cs typeface="Aptos"/>
              </a:defRPr>
            </a:pPr>
            <a:r>
              <a:rPr sz="1050" b="0">
                <a:solidFill>
                  <a:srgbClr val="2C3A4D"/>
                </a:solidFill>
                <a:latin typeface="Aptos"/>
                <a:ea typeface="Aptos"/>
                <a:cs typeface="Aptos"/>
              </a:rPr>
              <a:t>hash + scan state</a:t>
            </a:r>
          </a:p>
        </p:txBody>
      </p:sp>
      <p:sp>
        <p:nvSpPr>
          <p:cNvPr id="32" name="">
            <a:extLst xmlns:a="http://schemas.openxmlformats.org/drawingml/2006/main">
              <a:ext uri="{FF2B5EF4-FFF2-40B4-BE49-F238E27FC236}">
                <a16:creationId xmlns:a16="http://schemas.microsoft.com/office/drawing/2014/main" id="{EA4CFE99-5ED2-46A9-A452-6BF03ED434AE}"/>
              </a:ext>
            </a:extLst>
          </p:cNvPr>
          <p:cNvSpPr>
            <a:spLocks xmlns:a="http://schemas.openxmlformats.org/drawingml/2006/main" noGrp="1"/>
          </p:cNvSpPr>
          <p:nvPr/>
        </p:nvSpPr>
        <p:spPr>
          <a:xfrm xmlns:a="http://schemas.openxmlformats.org/drawingml/2006/main">
            <a:off x="9353550" y="3829050"/>
            <a:ext cx="184785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33" name="">
            <a:extLst xmlns:a="http://schemas.openxmlformats.org/drawingml/2006/main">
              <a:ext uri="{FF2B5EF4-FFF2-40B4-BE49-F238E27FC236}">
                <a16:creationId xmlns:a16="http://schemas.microsoft.com/office/drawing/2014/main" id="{D5C7271D-04A4-417B-A4E4-D43668990921}"/>
              </a:ext>
            </a:extLst>
          </p:cNvPr>
          <p:cNvSpPr>
            <a:spLocks xmlns:a="http://schemas.openxmlformats.org/drawingml/2006/main" noGrp="1"/>
          </p:cNvSpPr>
          <p:nvPr/>
        </p:nvSpPr>
        <p:spPr>
          <a:xfrm xmlns:a="http://schemas.openxmlformats.org/drawingml/2006/main">
            <a:off x="9486900" y="3886200"/>
            <a:ext cx="1581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425" b="1">
                <a:solidFill>
                  <a:srgbClr val="11243D"/>
                </a:solidFill>
                <a:latin typeface="Aptos"/>
                <a:ea typeface="Aptos"/>
                <a:cs typeface="Aptos"/>
              </a:defRPr>
            </a:pPr>
            <a:r>
              <a:rPr sz="1425" b="1">
                <a:solidFill>
                  <a:srgbClr val="11243D"/>
                </a:solidFill>
                <a:latin typeface="Aptos"/>
                <a:ea typeface="Aptos"/>
                <a:cs typeface="Aptos"/>
              </a:rPr>
              <a:t>Audit records</a:t>
            </a:r>
          </a:p>
        </p:txBody>
      </p:sp>
      <p:sp>
        <p:nvSpPr>
          <p:cNvPr id="34" name="">
            <a:extLst xmlns:a="http://schemas.openxmlformats.org/drawingml/2006/main">
              <a:ext uri="{FF2B5EF4-FFF2-40B4-BE49-F238E27FC236}">
                <a16:creationId xmlns:a16="http://schemas.microsoft.com/office/drawing/2014/main" id="{D9682439-E101-4227-A2AB-6015976CC61A}"/>
              </a:ext>
            </a:extLst>
          </p:cNvPr>
          <p:cNvSpPr>
            <a:spLocks xmlns:a="http://schemas.openxmlformats.org/drawingml/2006/main" noGrp="1"/>
          </p:cNvSpPr>
          <p:nvPr/>
        </p:nvSpPr>
        <p:spPr>
          <a:xfrm xmlns:a="http://schemas.openxmlformats.org/drawingml/2006/main">
            <a:off x="9486900" y="4210050"/>
            <a:ext cx="15811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050" b="0">
                <a:solidFill>
                  <a:srgbClr val="2C3A4D"/>
                </a:solidFill>
                <a:latin typeface="Aptos"/>
                <a:ea typeface="Aptos"/>
                <a:cs typeface="Aptos"/>
              </a:defRPr>
            </a:pPr>
            <a:r>
              <a:rPr sz="1050" b="0">
                <a:solidFill>
                  <a:srgbClr val="2C3A4D"/>
                </a:solidFill>
                <a:latin typeface="Aptos"/>
                <a:ea typeface="Aptos"/>
                <a:cs typeface="Aptos"/>
              </a:rPr>
              <a:t>actor + action</a:t>
            </a:r>
          </a:p>
        </p:txBody>
      </p:sp>
      <p:sp>
        <p:nvSpPr>
          <p:cNvPr id="35" name="">
            <a:extLst xmlns:a="http://schemas.openxmlformats.org/drawingml/2006/main">
              <a:ext uri="{FF2B5EF4-FFF2-40B4-BE49-F238E27FC236}">
                <a16:creationId xmlns:a16="http://schemas.microsoft.com/office/drawing/2014/main" id="{5D9AF1EC-F4F1-4525-8B45-7C2ED15E3B15}"/>
              </a:ext>
            </a:extLst>
          </p:cNvPr>
          <p:cNvSpPr>
            <a:spLocks xmlns:a="http://schemas.openxmlformats.org/drawingml/2006/main" noGrp="1"/>
          </p:cNvSpPr>
          <p:nvPr/>
        </p:nvSpPr>
        <p:spPr>
          <a:xfrm xmlns:a="http://schemas.openxmlformats.org/drawingml/2006/main">
            <a:off x="7867650" y="4743450"/>
            <a:ext cx="278130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36" name="">
            <a:extLst xmlns:a="http://schemas.openxmlformats.org/drawingml/2006/main">
              <a:ext uri="{FF2B5EF4-FFF2-40B4-BE49-F238E27FC236}">
                <a16:creationId xmlns:a16="http://schemas.microsoft.com/office/drawing/2014/main" id="{34529112-160E-4EEB-BD8B-CC251D7BE483}"/>
              </a:ext>
            </a:extLst>
          </p:cNvPr>
          <p:cNvSpPr>
            <a:spLocks xmlns:a="http://schemas.openxmlformats.org/drawingml/2006/main" noGrp="1"/>
          </p:cNvSpPr>
          <p:nvPr/>
        </p:nvSpPr>
        <p:spPr>
          <a:xfrm xmlns:a="http://schemas.openxmlformats.org/drawingml/2006/main">
            <a:off x="7981950" y="4781550"/>
            <a:ext cx="25527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275" b="0">
                <a:solidFill>
                  <a:srgbClr val="2C3A4D"/>
                </a:solidFill>
                <a:latin typeface="Aptos"/>
                <a:ea typeface="Aptos"/>
                <a:cs typeface="Aptos"/>
              </a:defRPr>
            </a:pPr>
            <a:r>
              <a:rPr sz="1275" b="0">
                <a:solidFill>
                  <a:srgbClr val="2C3A4D"/>
                </a:solidFill>
                <a:latin typeface="Aptos"/>
                <a:ea typeface="Aptos"/>
                <a:cs typeface="Aptos"/>
              </a:rPr>
              <a:t>access model: users + mailboxes</a:t>
            </a:r>
          </a:p>
        </p:txBody>
      </p:sp>
      <p:sp>
        <p:nvSpPr>
          <p:cNvPr id="37" name="">
            <a:extLst xmlns:a="http://schemas.openxmlformats.org/drawingml/2006/main">
              <a:ext uri="{FF2B5EF4-FFF2-40B4-BE49-F238E27FC236}">
                <a16:creationId xmlns:a16="http://schemas.microsoft.com/office/drawing/2014/main" id="{0B5A21D4-AE38-4DAB-87F1-789FB87327AA}"/>
              </a:ext>
            </a:extLst>
          </p:cNvPr>
          <p:cNvSpPr>
            <a:spLocks xmlns:a="http://schemas.openxmlformats.org/drawingml/2006/main" noGrp="1"/>
          </p:cNvSpPr>
          <p:nvPr/>
        </p:nvSpPr>
        <p:spPr>
          <a:xfrm xmlns:a="http://schemas.openxmlformats.org/drawingml/2006/main">
            <a:off x="5410200" y="3124200"/>
            <a:ext cx="1314450" cy="876300"/>
          </a:xfrm>
          <a:prstGeom xmlns:a="http://schemas.openxmlformats.org/drawingml/2006/main" prst="rect">
            <a:avLst/>
          </a:prstGeom>
          <a:solidFill xmlns:a="http://schemas.openxmlformats.org/drawingml/2006/main">
            <a:srgbClr val="EAF2FB"/>
          </a:solidFill>
          <a:ln xmlns:a="http://schemas.openxmlformats.org/drawingml/2006/main" w="9525">
            <a:solidFill>
              <a:srgbClr val="0B5CAD"/>
            </a:solidFill>
            <a:prstDash val="solid"/>
          </a:ln>
        </p:spPr>
      </p:sp>
      <p:sp>
        <p:nvSpPr>
          <p:cNvPr id="38" name="">
            <a:extLst xmlns:a="http://schemas.openxmlformats.org/drawingml/2006/main">
              <a:ext uri="{FF2B5EF4-FFF2-40B4-BE49-F238E27FC236}">
                <a16:creationId xmlns:a16="http://schemas.microsoft.com/office/drawing/2014/main" id="{9867EE3B-5006-4592-A589-722B51503C82}"/>
              </a:ext>
            </a:extLst>
          </p:cNvPr>
          <p:cNvSpPr>
            <a:spLocks xmlns:a="http://schemas.openxmlformats.org/drawingml/2006/main" noGrp="1"/>
          </p:cNvSpPr>
          <p:nvPr/>
        </p:nvSpPr>
        <p:spPr>
          <a:xfrm xmlns:a="http://schemas.openxmlformats.org/drawingml/2006/main">
            <a:off x="5581650" y="3333750"/>
            <a:ext cx="9715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500" b="1">
                <a:solidFill>
                  <a:srgbClr val="0B5CAD"/>
                </a:solidFill>
                <a:latin typeface="Aptos"/>
                <a:ea typeface="Aptos"/>
                <a:cs typeface="Aptos"/>
              </a:defRPr>
            </a:pPr>
            <a:r>
              <a:rPr sz="1500" b="1">
                <a:solidFill>
                  <a:srgbClr val="0B5CAD"/>
                </a:solidFill>
                <a:latin typeface="Aptos"/>
                <a:ea typeface="Aptos"/>
                <a:cs typeface="Aptos"/>
              </a:rPr>
              <a:t>Pointers</a:t>
            </a:r>
          </a:p>
          <a:p xmlns:a="http://schemas.openxmlformats.org/drawingml/2006/main">
            <a:pPr algn="ctr">
              <a:defRPr sz="1500" b="1">
                <a:solidFill>
                  <a:srgbClr val="0B5CAD"/>
                </a:solidFill>
                <a:latin typeface="Aptos"/>
                <a:ea typeface="Aptos"/>
                <a:cs typeface="Aptos"/>
              </a:defRPr>
            </a:pPr>
            <a:r>
              <a:rPr sz="1500" b="1">
                <a:solidFill>
                  <a:srgbClr val="0B5CAD"/>
                </a:solidFill>
                <a:latin typeface="Aptos"/>
                <a:ea typeface="Aptos"/>
                <a:cs typeface="Aptos"/>
              </a:rPr>
              <a:t>+ verdicts</a:t>
            </a:r>
          </a:p>
        </p:txBody>
      </p:sp>
      <p:sp>
        <p:nvSpPr>
          <p:cNvPr id="39" name="">
            <a:extLst xmlns:a="http://schemas.openxmlformats.org/drawingml/2006/main">
              <a:ext uri="{FF2B5EF4-FFF2-40B4-BE49-F238E27FC236}">
                <a16:creationId xmlns:a16="http://schemas.microsoft.com/office/drawing/2014/main" id="{E43B3A96-A3FE-4DBD-A11B-D8695A739D82}"/>
              </a:ext>
            </a:extLst>
          </p:cNvPr>
          <p:cNvSpPr>
            <a:spLocks xmlns:a="http://schemas.openxmlformats.org/drawingml/2006/main" noGrp="1"/>
          </p:cNvSpPr>
          <p:nvPr/>
        </p:nvSpPr>
        <p:spPr>
          <a:xfrm xmlns:a="http://schemas.openxmlformats.org/drawingml/2006/main">
            <a:off x="5010150" y="3429000"/>
            <a:ext cx="304800" cy="228600"/>
          </a:xfrm>
          <a:prstGeom xmlns:a="http://schemas.openxmlformats.org/drawingml/2006/main" prst="rightArrow">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40" name="">
            <a:extLst xmlns:a="http://schemas.openxmlformats.org/drawingml/2006/main">
              <a:ext uri="{FF2B5EF4-FFF2-40B4-BE49-F238E27FC236}">
                <a16:creationId xmlns:a16="http://schemas.microsoft.com/office/drawing/2014/main" id="{2A3D78C5-FCE8-4A95-812B-957B99C88E9E}"/>
              </a:ext>
            </a:extLst>
          </p:cNvPr>
          <p:cNvSpPr>
            <a:spLocks xmlns:a="http://schemas.openxmlformats.org/drawingml/2006/main" noGrp="1"/>
          </p:cNvSpPr>
          <p:nvPr/>
        </p:nvSpPr>
        <p:spPr>
          <a:xfrm xmlns:a="http://schemas.openxmlformats.org/drawingml/2006/main">
            <a:off x="6819900" y="3429000"/>
            <a:ext cx="304800" cy="228600"/>
          </a:xfrm>
          <a:prstGeom xmlns:a="http://schemas.openxmlformats.org/drawingml/2006/main" prst="rightArrow">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41" name="">
            <a:extLst xmlns:a="http://schemas.openxmlformats.org/drawingml/2006/main">
              <a:ext uri="{FF2B5EF4-FFF2-40B4-BE49-F238E27FC236}">
                <a16:creationId xmlns:a16="http://schemas.microsoft.com/office/drawing/2014/main" id="{E4754DED-887E-46E4-82CC-2EB8482DA62C}"/>
              </a:ext>
            </a:extLst>
          </p:cNvPr>
          <p:cNvSpPr>
            <a:spLocks xmlns:a="http://schemas.openxmlformats.org/drawingml/2006/main" noGrp="1"/>
          </p:cNvSpPr>
          <p:nvPr/>
        </p:nvSpPr>
        <p:spPr>
          <a:xfrm xmlns:a="http://schemas.openxmlformats.org/drawingml/2006/main">
            <a:off x="1619250" y="5524500"/>
            <a:ext cx="89535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42" name="">
            <a:extLst xmlns:a="http://schemas.openxmlformats.org/drawingml/2006/main">
              <a:ext uri="{FF2B5EF4-FFF2-40B4-BE49-F238E27FC236}">
                <a16:creationId xmlns:a16="http://schemas.microsoft.com/office/drawing/2014/main" id="{B19D3994-8C82-4E02-B8CC-A7F9EA162F7C}"/>
              </a:ext>
            </a:extLst>
          </p:cNvPr>
          <p:cNvSpPr>
            <a:spLocks xmlns:a="http://schemas.openxmlformats.org/drawingml/2006/main" noGrp="1"/>
          </p:cNvSpPr>
          <p:nvPr/>
        </p:nvSpPr>
        <p:spPr>
          <a:xfrm xmlns:a="http://schemas.openxmlformats.org/drawingml/2006/main">
            <a:off x="1866900" y="5638800"/>
            <a:ext cx="84582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575" b="1">
                <a:solidFill>
                  <a:srgbClr val="0B5CAD"/>
                </a:solidFill>
                <a:latin typeface="Aptos"/>
                <a:ea typeface="Aptos"/>
                <a:cs typeface="Aptos"/>
              </a:defRPr>
            </a:pPr>
            <a:r>
              <a:rPr sz="1575" b="1">
                <a:solidFill>
                  <a:srgbClr val="0B5CAD"/>
                </a:solidFill>
                <a:latin typeface="Aptos"/>
                <a:ea typeface="Aptos"/>
                <a:cs typeface="Aptos"/>
              </a:rPr>
              <a:t>The dashboard reads compact state and retrieves artifacts through authorized API calls.</a:t>
            </a:r>
          </a:p>
        </p:txBody>
      </p:sp>
    </p:spTree>
    <p:extLst>
      <p:ext uri="{BB962C8B-B14F-4D97-AF65-F5344CB8AC3E}">
        <p14:creationId xmlns:p14="http://schemas.microsoft.com/office/powerpoint/2010/main" val="1035705812"/>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A7C606F-A5C0-4E50-A1F1-58A8F7E5BC3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4EE"/>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397BE0C4-7148-4F6D-A8F7-0DA196B9E7D9}"/>
              </a:ext>
            </a:extLst>
          </p:cNvPr>
          <p:cNvSpPr>
            <a:spLocks xmlns:a="http://schemas.openxmlformats.org/drawingml/2006/main" noGrp="1"/>
          </p:cNvSpPr>
          <p:nvPr/>
        </p:nvSpPr>
        <p:spPr>
          <a:xfrm xmlns:a="http://schemas.openxmlformats.org/drawingml/2006/main">
            <a:off x="609600" y="514350"/>
            <a:ext cx="85725" cy="85725"/>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0F63DD5E-C045-435A-AD71-7E19EFDF4F73}"/>
              </a:ext>
            </a:extLst>
          </p:cNvPr>
          <p:cNvSpPr>
            <a:spLocks xmlns:a="http://schemas.openxmlformats.org/drawingml/2006/main" noGrp="1"/>
          </p:cNvSpPr>
          <p:nvPr/>
        </p:nvSpPr>
        <p:spPr>
          <a:xfrm xmlns:a="http://schemas.openxmlformats.org/drawingml/2006/main">
            <a:off x="781050" y="400050"/>
            <a:ext cx="49530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200" b="1">
                <a:solidFill>
                  <a:srgbClr val="0B5CAD"/>
                </a:solidFill>
                <a:latin typeface="Aptos"/>
                <a:ea typeface="Aptos"/>
                <a:cs typeface="Aptos"/>
              </a:defRPr>
            </a:pPr>
            <a:r>
              <a:rPr sz="1200" b="1">
                <a:solidFill>
                  <a:srgbClr val="0B5CAD"/>
                </a:solidFill>
                <a:latin typeface="Aptos"/>
                <a:ea typeface="Aptos"/>
                <a:cs typeface="Aptos"/>
              </a:rPr>
              <a:t>EVALUATION</a:t>
            </a:r>
          </a:p>
        </p:txBody>
      </p:sp>
      <p:sp>
        <p:nvSpPr>
          <p:cNvPr id="4" name="">
            <a:extLst xmlns:a="http://schemas.openxmlformats.org/drawingml/2006/main">
              <a:ext uri="{FF2B5EF4-FFF2-40B4-BE49-F238E27FC236}">
                <a16:creationId xmlns:a16="http://schemas.microsoft.com/office/drawing/2014/main" id="{ABF9B38B-7746-47EC-8B94-E00CDBC79D4A}"/>
              </a:ext>
            </a:extLst>
          </p:cNvPr>
          <p:cNvSpPr>
            <a:spLocks xmlns:a="http://schemas.openxmlformats.org/drawingml/2006/main" noGrp="1"/>
          </p:cNvSpPr>
          <p:nvPr/>
        </p:nvSpPr>
        <p:spPr>
          <a:xfrm xmlns:a="http://schemas.openxmlformats.org/drawingml/2006/main">
            <a:off x="609600" y="781050"/>
            <a:ext cx="10001250" cy="1009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600" b="1">
                <a:solidFill>
                  <a:srgbClr val="11243D"/>
                </a:solidFill>
                <a:latin typeface="Aptos Display"/>
                <a:ea typeface="Aptos Display"/>
                <a:cs typeface="Aptos Display"/>
              </a:defRPr>
            </a:pPr>
            <a:r>
              <a:rPr sz="3600" b="1">
                <a:solidFill>
                  <a:srgbClr val="11243D"/>
                </a:solidFill>
                <a:latin typeface="Aptos Display"/>
                <a:ea typeface="Aptos Display"/>
                <a:cs typeface="Aptos Display"/>
              </a:rPr>
              <a:t>Checked ML artifacts support the packaged classifier.</a:t>
            </a:r>
          </a:p>
        </p:txBody>
      </p:sp>
      <p:sp>
        <p:nvSpPr>
          <p:cNvPr id="5" name="">
            <a:extLst xmlns:a="http://schemas.openxmlformats.org/drawingml/2006/main">
              <a:ext uri="{FF2B5EF4-FFF2-40B4-BE49-F238E27FC236}">
                <a16:creationId xmlns:a16="http://schemas.microsoft.com/office/drawing/2014/main" id="{6F3A5838-9FC6-4147-8AB4-4849455BE04C}"/>
              </a:ext>
            </a:extLst>
          </p:cNvPr>
          <p:cNvSpPr>
            <a:spLocks xmlns:a="http://schemas.openxmlformats.org/drawingml/2006/main" noGrp="1"/>
          </p:cNvSpPr>
          <p:nvPr/>
        </p:nvSpPr>
        <p:spPr>
          <a:xfrm xmlns:a="http://schemas.openxmlformats.org/drawingml/2006/main">
            <a:off x="609600" y="6400800"/>
            <a:ext cx="9810750" cy="9525"/>
          </a:xfrm>
          <a:prstGeom xmlns:a="http://schemas.openxmlformats.org/drawingml/2006/main" prst="rect">
            <a:avLst/>
          </a:prstGeom>
          <a:solidFill xmlns:a="http://schemas.openxmlformats.org/drawingml/2006/main">
            <a:srgbClr val="C7D2E1"/>
          </a:solidFill>
          <a:ln xmlns:a="http://schemas.openxmlformats.org/drawingml/2006/main" w="0">
            <a:solidFill>
              <a:srgbClr val="000000">
                <a:alpha val="0"/>
              </a:srgbClr>
            </a:solidFill>
            <a:prstDash val="solid"/>
          </a:ln>
        </p:spPr>
      </p:sp>
      <p:sp>
        <p:nvSpPr>
          <p:cNvPr id="6" name="">
            <a:extLst xmlns:a="http://schemas.openxmlformats.org/drawingml/2006/main">
              <a:ext uri="{FF2B5EF4-FFF2-40B4-BE49-F238E27FC236}">
                <a16:creationId xmlns:a16="http://schemas.microsoft.com/office/drawing/2014/main" id="{D0525176-363A-4A73-BB5C-9E81AD118F7A}"/>
              </a:ext>
            </a:extLst>
          </p:cNvPr>
          <p:cNvSpPr>
            <a:spLocks xmlns:a="http://schemas.openxmlformats.org/drawingml/2006/main" noGrp="1"/>
          </p:cNvSpPr>
          <p:nvPr/>
        </p:nvSpPr>
        <p:spPr>
          <a:xfrm xmlns:a="http://schemas.openxmlformats.org/drawingml/2006/main">
            <a:off x="609600" y="6457950"/>
            <a:ext cx="3429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2C3A4D"/>
                </a:solidFill>
                <a:latin typeface="Aptos"/>
                <a:ea typeface="Aptos"/>
                <a:cs typeface="Aptos"/>
              </a:defRPr>
            </a:pPr>
            <a:r>
              <a:rPr sz="1050" b="0">
                <a:solidFill>
                  <a:srgbClr val="2C3A4D"/>
                </a:solidFill>
                <a:latin typeface="Aptos"/>
                <a:ea typeface="Aptos"/>
                <a:cs typeface="Aptos"/>
              </a:rPr>
              <a:t>Cloud Email Analyzer</a:t>
            </a:r>
          </a:p>
        </p:txBody>
      </p:sp>
      <p:sp>
        <p:nvSpPr>
          <p:cNvPr id="7" name="">
            <a:extLst xmlns:a="http://schemas.openxmlformats.org/drawingml/2006/main">
              <a:ext uri="{FF2B5EF4-FFF2-40B4-BE49-F238E27FC236}">
                <a16:creationId xmlns:a16="http://schemas.microsoft.com/office/drawing/2014/main" id="{8AE30F76-B755-4545-BD8A-B18CE1C31411}"/>
              </a:ext>
            </a:extLst>
          </p:cNvPr>
          <p:cNvSpPr>
            <a:spLocks xmlns:a="http://schemas.openxmlformats.org/drawingml/2006/main" noGrp="1"/>
          </p:cNvSpPr>
          <p:nvPr/>
        </p:nvSpPr>
        <p:spPr>
          <a:xfrm xmlns:a="http://schemas.openxmlformats.org/drawingml/2006/main">
            <a:off x="11001375" y="6438900"/>
            <a:ext cx="571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1050" b="0">
                <a:solidFill>
                  <a:srgbClr val="2C3A4D"/>
                </a:solidFill>
                <a:latin typeface="Aptos"/>
                <a:ea typeface="Aptos"/>
                <a:cs typeface="Aptos"/>
              </a:defRPr>
            </a:pPr>
            <a:r>
              <a:rPr sz="1050" b="0">
                <a:solidFill>
                  <a:srgbClr val="2C3A4D"/>
                </a:solidFill>
                <a:latin typeface="Aptos"/>
                <a:ea typeface="Aptos"/>
                <a:cs typeface="Aptos"/>
              </a:rPr>
              <a:t>08</a:t>
            </a:r>
          </a:p>
        </p:txBody>
      </p:sp>
      <p:sp>
        <p:nvSpPr>
          <p:cNvPr id="8" name="">
            <a:extLst xmlns:a="http://schemas.openxmlformats.org/drawingml/2006/main">
              <a:ext uri="{FF2B5EF4-FFF2-40B4-BE49-F238E27FC236}">
                <a16:creationId xmlns:a16="http://schemas.microsoft.com/office/drawing/2014/main" id="{5A079367-DBDE-415C-B241-A20304554D5C}"/>
              </a:ext>
            </a:extLst>
          </p:cNvPr>
          <p:cNvSpPr>
            <a:spLocks xmlns:a="http://schemas.openxmlformats.org/drawingml/2006/main" noGrp="1"/>
          </p:cNvSpPr>
          <p:nvPr/>
        </p:nvSpPr>
        <p:spPr>
          <a:xfrm xmlns:a="http://schemas.openxmlformats.org/drawingml/2006/main">
            <a:off x="609600" y="2038350"/>
            <a:ext cx="6858000" cy="363855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9" name="">
            <a:extLst xmlns:a="http://schemas.openxmlformats.org/drawingml/2006/main">
              <a:ext uri="{FF2B5EF4-FFF2-40B4-BE49-F238E27FC236}">
                <a16:creationId xmlns:a16="http://schemas.microsoft.com/office/drawing/2014/main" id="{3C27453B-DDDB-469E-B459-21E090788FF0}"/>
              </a:ext>
            </a:extLst>
          </p:cNvPr>
          <p:cNvSpPr>
            <a:spLocks xmlns:a="http://schemas.openxmlformats.org/drawingml/2006/main" noGrp="1"/>
          </p:cNvSpPr>
          <p:nvPr/>
        </p:nvSpPr>
        <p:spPr>
          <a:xfrm xmlns:a="http://schemas.openxmlformats.org/drawingml/2006/main">
            <a:off x="914400" y="2247900"/>
            <a:ext cx="34290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2025" b="1">
                <a:solidFill>
                  <a:srgbClr val="11243D"/>
                </a:solidFill>
                <a:latin typeface="Aptos"/>
                <a:ea typeface="Aptos"/>
                <a:cs typeface="Aptos"/>
              </a:defRPr>
            </a:pPr>
            <a:r>
              <a:rPr sz="2025" b="1">
                <a:solidFill>
                  <a:srgbClr val="11243D"/>
                </a:solidFill>
                <a:latin typeface="Aptos"/>
                <a:ea typeface="Aptos"/>
                <a:cs typeface="Aptos"/>
              </a:rPr>
              <a:t>Classifier comparison</a:t>
            </a:r>
          </a:p>
        </p:txBody>
      </p:sp>
      <p:sp>
        <p:nvSpPr>
          <p:cNvPr id="10" name="">
            <a:extLst xmlns:a="http://schemas.openxmlformats.org/drawingml/2006/main">
              <a:ext uri="{FF2B5EF4-FFF2-40B4-BE49-F238E27FC236}">
                <a16:creationId xmlns:a16="http://schemas.microsoft.com/office/drawing/2014/main" id="{96083309-4E11-41C3-8FFE-9488A7455ECA}"/>
              </a:ext>
            </a:extLst>
          </p:cNvPr>
          <p:cNvSpPr>
            <a:spLocks xmlns:a="http://schemas.openxmlformats.org/drawingml/2006/main" noGrp="1"/>
          </p:cNvSpPr>
          <p:nvPr/>
        </p:nvSpPr>
        <p:spPr>
          <a:xfrm xmlns:a="http://schemas.openxmlformats.org/drawingml/2006/main">
            <a:off x="1200150" y="2972943"/>
            <a:ext cx="666750" cy="1922907"/>
          </a:xfrm>
          <a:prstGeom xmlns:a="http://schemas.openxmlformats.org/drawingml/2006/main" prst="rect">
            <a:avLst/>
          </a:prstGeom>
          <a:solidFill xmlns:a="http://schemas.openxmlformats.org/drawingml/2006/main">
            <a:srgbClr val="BFD3EA"/>
          </a:solidFill>
          <a:ln xmlns:a="http://schemas.openxmlformats.org/drawingml/2006/main" w="0">
            <a:solidFill>
              <a:srgbClr val="000000">
                <a:alpha val="0"/>
              </a:srgbClr>
            </a:solidFill>
            <a:prstDash val="solid"/>
          </a:ln>
        </p:spPr>
      </p:sp>
      <p:sp>
        <p:nvSpPr>
          <p:cNvPr id="11" name="">
            <a:extLst xmlns:a="http://schemas.openxmlformats.org/drawingml/2006/main">
              <a:ext uri="{FF2B5EF4-FFF2-40B4-BE49-F238E27FC236}">
                <a16:creationId xmlns:a16="http://schemas.microsoft.com/office/drawing/2014/main" id="{F2B1010B-1372-40B8-A9EE-1284AD42ADB0}"/>
              </a:ext>
            </a:extLst>
          </p:cNvPr>
          <p:cNvSpPr>
            <a:spLocks xmlns:a="http://schemas.openxmlformats.org/drawingml/2006/main" noGrp="1"/>
          </p:cNvSpPr>
          <p:nvPr/>
        </p:nvSpPr>
        <p:spPr>
          <a:xfrm xmlns:a="http://schemas.openxmlformats.org/drawingml/2006/main">
            <a:off x="1104900" y="2649093"/>
            <a:ext cx="8572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650" b="1">
                <a:solidFill>
                  <a:srgbClr val="11243D"/>
                </a:solidFill>
                <a:latin typeface="Aptos"/>
                <a:ea typeface="Aptos"/>
                <a:cs typeface="Aptos"/>
              </a:defRPr>
            </a:pPr>
            <a:r>
              <a:rPr sz="1650" b="1">
                <a:solidFill>
                  <a:srgbClr val="11243D"/>
                </a:solidFill>
                <a:latin typeface="Aptos"/>
                <a:ea typeface="Aptos"/>
                <a:cs typeface="Aptos"/>
              </a:rPr>
              <a:t>0.98</a:t>
            </a:r>
          </a:p>
        </p:txBody>
      </p:sp>
      <p:sp>
        <p:nvSpPr>
          <p:cNvPr id="12" name="">
            <a:extLst xmlns:a="http://schemas.openxmlformats.org/drawingml/2006/main">
              <a:ext uri="{FF2B5EF4-FFF2-40B4-BE49-F238E27FC236}">
                <a16:creationId xmlns:a16="http://schemas.microsoft.com/office/drawing/2014/main" id="{8471FDDC-9DB0-4DB7-8EE9-2E61980A7AF3}"/>
              </a:ext>
            </a:extLst>
          </p:cNvPr>
          <p:cNvSpPr>
            <a:spLocks xmlns:a="http://schemas.openxmlformats.org/drawingml/2006/main" noGrp="1"/>
          </p:cNvSpPr>
          <p:nvPr/>
        </p:nvSpPr>
        <p:spPr>
          <a:xfrm xmlns:a="http://schemas.openxmlformats.org/drawingml/2006/main">
            <a:off x="1162050" y="5067300"/>
            <a:ext cx="7429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800" b="1">
                <a:solidFill>
                  <a:srgbClr val="11243D"/>
                </a:solidFill>
                <a:latin typeface="Aptos"/>
                <a:ea typeface="Aptos"/>
                <a:cs typeface="Aptos"/>
              </a:defRPr>
            </a:pPr>
            <a:r>
              <a:rPr sz="1800" b="1">
                <a:solidFill>
                  <a:srgbClr val="11243D"/>
                </a:solidFill>
                <a:latin typeface="Aptos"/>
                <a:ea typeface="Aptos"/>
                <a:cs typeface="Aptos"/>
              </a:rPr>
              <a:t>LR</a:t>
            </a:r>
          </a:p>
        </p:txBody>
      </p:sp>
      <p:sp>
        <p:nvSpPr>
          <p:cNvPr id="13" name="">
            <a:extLst xmlns:a="http://schemas.openxmlformats.org/drawingml/2006/main">
              <a:ext uri="{FF2B5EF4-FFF2-40B4-BE49-F238E27FC236}">
                <a16:creationId xmlns:a16="http://schemas.microsoft.com/office/drawing/2014/main" id="{03526490-B4B6-4C9C-BFD6-231D3DEDB43A}"/>
              </a:ext>
            </a:extLst>
          </p:cNvPr>
          <p:cNvSpPr>
            <a:spLocks xmlns:a="http://schemas.openxmlformats.org/drawingml/2006/main" noGrp="1"/>
          </p:cNvSpPr>
          <p:nvPr/>
        </p:nvSpPr>
        <p:spPr>
          <a:xfrm xmlns:a="http://schemas.openxmlformats.org/drawingml/2006/main">
            <a:off x="2581275" y="3031808"/>
            <a:ext cx="666750" cy="1864043"/>
          </a:xfrm>
          <a:prstGeom xmlns:a="http://schemas.openxmlformats.org/drawingml/2006/main" prst="rect">
            <a:avLst/>
          </a:prstGeom>
          <a:solidFill xmlns:a="http://schemas.openxmlformats.org/drawingml/2006/main">
            <a:srgbClr val="BFD3EA"/>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2125D0F1-F49D-41DC-8324-EF2B147F5989}"/>
              </a:ext>
            </a:extLst>
          </p:cNvPr>
          <p:cNvSpPr>
            <a:spLocks xmlns:a="http://schemas.openxmlformats.org/drawingml/2006/main" noGrp="1"/>
          </p:cNvSpPr>
          <p:nvPr/>
        </p:nvSpPr>
        <p:spPr>
          <a:xfrm xmlns:a="http://schemas.openxmlformats.org/drawingml/2006/main">
            <a:off x="2486025" y="2707958"/>
            <a:ext cx="8572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650" b="1">
                <a:solidFill>
                  <a:srgbClr val="11243D"/>
                </a:solidFill>
                <a:latin typeface="Aptos"/>
                <a:ea typeface="Aptos"/>
                <a:cs typeface="Aptos"/>
              </a:defRPr>
            </a:pPr>
            <a:r>
              <a:rPr sz="1650" b="1">
                <a:solidFill>
                  <a:srgbClr val="11243D"/>
                </a:solidFill>
                <a:latin typeface="Aptos"/>
                <a:ea typeface="Aptos"/>
                <a:cs typeface="Aptos"/>
              </a:rPr>
              <a:t>0.95</a:t>
            </a:r>
          </a:p>
        </p:txBody>
      </p:sp>
      <p:sp>
        <p:nvSpPr>
          <p:cNvPr id="15" name="">
            <a:extLst xmlns:a="http://schemas.openxmlformats.org/drawingml/2006/main">
              <a:ext uri="{FF2B5EF4-FFF2-40B4-BE49-F238E27FC236}">
                <a16:creationId xmlns:a16="http://schemas.microsoft.com/office/drawing/2014/main" id="{7FC7EC50-EA78-46BB-901E-B1D5C4116C94}"/>
              </a:ext>
            </a:extLst>
          </p:cNvPr>
          <p:cNvSpPr>
            <a:spLocks xmlns:a="http://schemas.openxmlformats.org/drawingml/2006/main" noGrp="1"/>
          </p:cNvSpPr>
          <p:nvPr/>
        </p:nvSpPr>
        <p:spPr>
          <a:xfrm xmlns:a="http://schemas.openxmlformats.org/drawingml/2006/main">
            <a:off x="2543175" y="5067300"/>
            <a:ext cx="7429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800" b="1">
                <a:solidFill>
                  <a:srgbClr val="11243D"/>
                </a:solidFill>
                <a:latin typeface="Aptos"/>
                <a:ea typeface="Aptos"/>
                <a:cs typeface="Aptos"/>
              </a:defRPr>
            </a:pPr>
            <a:r>
              <a:rPr sz="1800" b="1">
                <a:solidFill>
                  <a:srgbClr val="11243D"/>
                </a:solidFill>
                <a:latin typeface="Aptos"/>
                <a:ea typeface="Aptos"/>
                <a:cs typeface="Aptos"/>
              </a:rPr>
              <a:t>NB</a:t>
            </a:r>
          </a:p>
        </p:txBody>
      </p:sp>
      <p:sp>
        <p:nvSpPr>
          <p:cNvPr id="16" name="">
            <a:extLst xmlns:a="http://schemas.openxmlformats.org/drawingml/2006/main">
              <a:ext uri="{FF2B5EF4-FFF2-40B4-BE49-F238E27FC236}">
                <a16:creationId xmlns:a16="http://schemas.microsoft.com/office/drawing/2014/main" id="{FEC6BF0A-6988-4780-9D35-E44D17B719ED}"/>
              </a:ext>
            </a:extLst>
          </p:cNvPr>
          <p:cNvSpPr>
            <a:spLocks xmlns:a="http://schemas.openxmlformats.org/drawingml/2006/main" noGrp="1"/>
          </p:cNvSpPr>
          <p:nvPr/>
        </p:nvSpPr>
        <p:spPr>
          <a:xfrm xmlns:a="http://schemas.openxmlformats.org/drawingml/2006/main">
            <a:off x="3962400" y="3090672"/>
            <a:ext cx="666750" cy="1805178"/>
          </a:xfrm>
          <a:prstGeom xmlns:a="http://schemas.openxmlformats.org/drawingml/2006/main" prst="rect">
            <a:avLst/>
          </a:prstGeom>
          <a:solidFill xmlns:a="http://schemas.openxmlformats.org/drawingml/2006/main">
            <a:srgbClr val="BFD3EA"/>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A36C63F7-CA88-496B-808F-70E599919E06}"/>
              </a:ext>
            </a:extLst>
          </p:cNvPr>
          <p:cNvSpPr>
            <a:spLocks xmlns:a="http://schemas.openxmlformats.org/drawingml/2006/main" noGrp="1"/>
          </p:cNvSpPr>
          <p:nvPr/>
        </p:nvSpPr>
        <p:spPr>
          <a:xfrm xmlns:a="http://schemas.openxmlformats.org/drawingml/2006/main">
            <a:off x="3867150" y="2766822"/>
            <a:ext cx="8572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650" b="1">
                <a:solidFill>
                  <a:srgbClr val="11243D"/>
                </a:solidFill>
                <a:latin typeface="Aptos"/>
                <a:ea typeface="Aptos"/>
                <a:cs typeface="Aptos"/>
              </a:defRPr>
            </a:pPr>
            <a:r>
              <a:rPr sz="1650" b="1">
                <a:solidFill>
                  <a:srgbClr val="11243D"/>
                </a:solidFill>
                <a:latin typeface="Aptos"/>
                <a:ea typeface="Aptos"/>
                <a:cs typeface="Aptos"/>
              </a:rPr>
              <a:t>0.92</a:t>
            </a:r>
          </a:p>
        </p:txBody>
      </p:sp>
      <p:sp>
        <p:nvSpPr>
          <p:cNvPr id="18" name="">
            <a:extLst xmlns:a="http://schemas.openxmlformats.org/drawingml/2006/main">
              <a:ext uri="{FF2B5EF4-FFF2-40B4-BE49-F238E27FC236}">
                <a16:creationId xmlns:a16="http://schemas.microsoft.com/office/drawing/2014/main" id="{7B4D26AE-0FFD-495A-86AA-A21ABB7AA931}"/>
              </a:ext>
            </a:extLst>
          </p:cNvPr>
          <p:cNvSpPr>
            <a:spLocks xmlns:a="http://schemas.openxmlformats.org/drawingml/2006/main" noGrp="1"/>
          </p:cNvSpPr>
          <p:nvPr/>
        </p:nvSpPr>
        <p:spPr>
          <a:xfrm xmlns:a="http://schemas.openxmlformats.org/drawingml/2006/main">
            <a:off x="3924300" y="5067300"/>
            <a:ext cx="7429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800" b="1">
                <a:solidFill>
                  <a:srgbClr val="11243D"/>
                </a:solidFill>
                <a:latin typeface="Aptos"/>
                <a:ea typeface="Aptos"/>
                <a:cs typeface="Aptos"/>
              </a:defRPr>
            </a:pPr>
            <a:r>
              <a:rPr sz="1800" b="1">
                <a:solidFill>
                  <a:srgbClr val="11243D"/>
                </a:solidFill>
                <a:latin typeface="Aptos"/>
                <a:ea typeface="Aptos"/>
                <a:cs typeface="Aptos"/>
              </a:rPr>
              <a:t>RF</a:t>
            </a:r>
          </a:p>
        </p:txBody>
      </p:sp>
      <p:sp>
        <p:nvSpPr>
          <p:cNvPr id="19" name="">
            <a:extLst xmlns:a="http://schemas.openxmlformats.org/drawingml/2006/main">
              <a:ext uri="{FF2B5EF4-FFF2-40B4-BE49-F238E27FC236}">
                <a16:creationId xmlns:a16="http://schemas.microsoft.com/office/drawing/2014/main" id="{626D910D-6544-4408-9EF9-479AAB81EDD5}"/>
              </a:ext>
            </a:extLst>
          </p:cNvPr>
          <p:cNvSpPr>
            <a:spLocks xmlns:a="http://schemas.openxmlformats.org/drawingml/2006/main" noGrp="1"/>
          </p:cNvSpPr>
          <p:nvPr/>
        </p:nvSpPr>
        <p:spPr>
          <a:xfrm xmlns:a="http://schemas.openxmlformats.org/drawingml/2006/main">
            <a:off x="5343525" y="2972943"/>
            <a:ext cx="666750" cy="1922907"/>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C48A171D-EDA1-474A-80CA-CFC4CF832071}"/>
              </a:ext>
            </a:extLst>
          </p:cNvPr>
          <p:cNvSpPr>
            <a:spLocks xmlns:a="http://schemas.openxmlformats.org/drawingml/2006/main" noGrp="1"/>
          </p:cNvSpPr>
          <p:nvPr/>
        </p:nvSpPr>
        <p:spPr>
          <a:xfrm xmlns:a="http://schemas.openxmlformats.org/drawingml/2006/main">
            <a:off x="5248275" y="2649093"/>
            <a:ext cx="8572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650" b="1">
                <a:solidFill>
                  <a:srgbClr val="0B5CAD"/>
                </a:solidFill>
                <a:latin typeface="Aptos"/>
                <a:ea typeface="Aptos"/>
                <a:cs typeface="Aptos"/>
              </a:defRPr>
            </a:pPr>
            <a:r>
              <a:rPr sz="1650" b="1">
                <a:solidFill>
                  <a:srgbClr val="0B5CAD"/>
                </a:solidFill>
                <a:latin typeface="Aptos"/>
                <a:ea typeface="Aptos"/>
                <a:cs typeface="Aptos"/>
              </a:rPr>
              <a:t>0.98</a:t>
            </a:r>
          </a:p>
        </p:txBody>
      </p:sp>
      <p:sp>
        <p:nvSpPr>
          <p:cNvPr id="21" name="">
            <a:extLst xmlns:a="http://schemas.openxmlformats.org/drawingml/2006/main">
              <a:ext uri="{FF2B5EF4-FFF2-40B4-BE49-F238E27FC236}">
                <a16:creationId xmlns:a16="http://schemas.microsoft.com/office/drawing/2014/main" id="{FAFFEB96-C11F-4F52-9A2F-F2D93E27961E}"/>
              </a:ext>
            </a:extLst>
          </p:cNvPr>
          <p:cNvSpPr>
            <a:spLocks xmlns:a="http://schemas.openxmlformats.org/drawingml/2006/main" noGrp="1"/>
          </p:cNvSpPr>
          <p:nvPr/>
        </p:nvSpPr>
        <p:spPr>
          <a:xfrm xmlns:a="http://schemas.openxmlformats.org/drawingml/2006/main">
            <a:off x="5305425" y="5067300"/>
            <a:ext cx="7429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800" b="1">
                <a:solidFill>
                  <a:srgbClr val="11243D"/>
                </a:solidFill>
                <a:latin typeface="Aptos"/>
                <a:ea typeface="Aptos"/>
                <a:cs typeface="Aptos"/>
              </a:defRPr>
            </a:pPr>
            <a:r>
              <a:rPr sz="1800" b="1">
                <a:solidFill>
                  <a:srgbClr val="11243D"/>
                </a:solidFill>
                <a:latin typeface="Aptos"/>
                <a:ea typeface="Aptos"/>
                <a:cs typeface="Aptos"/>
              </a:rPr>
              <a:t>SGD</a:t>
            </a:r>
          </a:p>
        </p:txBody>
      </p:sp>
      <p:sp>
        <p:nvSpPr>
          <p:cNvPr id="22" name="">
            <a:extLst xmlns:a="http://schemas.openxmlformats.org/drawingml/2006/main">
              <a:ext uri="{FF2B5EF4-FFF2-40B4-BE49-F238E27FC236}">
                <a16:creationId xmlns:a16="http://schemas.microsoft.com/office/drawing/2014/main" id="{4383521A-D46D-4923-9309-3CC6316A1740}"/>
              </a:ext>
            </a:extLst>
          </p:cNvPr>
          <p:cNvSpPr>
            <a:spLocks xmlns:a="http://schemas.openxmlformats.org/drawingml/2006/main" noGrp="1"/>
          </p:cNvSpPr>
          <p:nvPr/>
        </p:nvSpPr>
        <p:spPr>
          <a:xfrm xmlns:a="http://schemas.openxmlformats.org/drawingml/2006/main">
            <a:off x="990600" y="4895850"/>
            <a:ext cx="5715000" cy="19050"/>
          </a:xfrm>
          <a:prstGeom xmlns:a="http://schemas.openxmlformats.org/drawingml/2006/main" prst="rect">
            <a:avLst/>
          </a:prstGeom>
          <a:solidFill xmlns:a="http://schemas.openxmlformats.org/drawingml/2006/main">
            <a:srgbClr val="11243D"/>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3D90CF0E-A4E3-4B8F-A44C-0F8B0601BDDA}"/>
              </a:ext>
            </a:extLst>
          </p:cNvPr>
          <p:cNvSpPr>
            <a:spLocks xmlns:a="http://schemas.openxmlformats.org/drawingml/2006/main" noGrp="1"/>
          </p:cNvSpPr>
          <p:nvPr/>
        </p:nvSpPr>
        <p:spPr>
          <a:xfrm xmlns:a="http://schemas.openxmlformats.org/drawingml/2006/main">
            <a:off x="990600" y="2914650"/>
            <a:ext cx="19050" cy="2095500"/>
          </a:xfrm>
          <a:prstGeom xmlns:a="http://schemas.openxmlformats.org/drawingml/2006/main" prst="rect">
            <a:avLst/>
          </a:prstGeom>
          <a:solidFill xmlns:a="http://schemas.openxmlformats.org/drawingml/2006/main">
            <a:srgbClr val="11243D"/>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98DE571F-0F02-4EBB-B9BE-B4940F8CF340}"/>
              </a:ext>
            </a:extLst>
          </p:cNvPr>
          <p:cNvSpPr>
            <a:spLocks xmlns:a="http://schemas.openxmlformats.org/drawingml/2006/main" noGrp="1"/>
          </p:cNvSpPr>
          <p:nvPr/>
        </p:nvSpPr>
        <p:spPr>
          <a:xfrm xmlns:a="http://schemas.openxmlformats.org/drawingml/2006/main">
            <a:off x="990600" y="3326130"/>
            <a:ext cx="5715000" cy="9525"/>
          </a:xfrm>
          <a:prstGeom xmlns:a="http://schemas.openxmlformats.org/drawingml/2006/main" prst="rect">
            <a:avLst/>
          </a:prstGeom>
          <a:solidFill xmlns:a="http://schemas.openxmlformats.org/drawingml/2006/main">
            <a:srgbClr val="D8DEE8"/>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4BB4309F-E7AE-4015-894C-CBC153F355BF}"/>
              </a:ext>
            </a:extLst>
          </p:cNvPr>
          <p:cNvSpPr>
            <a:spLocks xmlns:a="http://schemas.openxmlformats.org/drawingml/2006/main" noGrp="1"/>
          </p:cNvSpPr>
          <p:nvPr/>
        </p:nvSpPr>
        <p:spPr>
          <a:xfrm xmlns:a="http://schemas.openxmlformats.org/drawingml/2006/main">
            <a:off x="666750" y="3249930"/>
            <a:ext cx="2667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r">
              <a:defRPr sz="1050" b="0">
                <a:solidFill>
                  <a:srgbClr val="2C3A4D"/>
                </a:solidFill>
                <a:latin typeface="Aptos"/>
                <a:ea typeface="Aptos"/>
                <a:cs typeface="Aptos"/>
              </a:defRPr>
            </a:pPr>
            <a:r>
              <a:rPr sz="1050" b="0">
                <a:solidFill>
                  <a:srgbClr val="2C3A4D"/>
                </a:solidFill>
                <a:latin typeface="Aptos"/>
                <a:ea typeface="Aptos"/>
                <a:cs typeface="Aptos"/>
              </a:rPr>
              <a:t>0.8</a:t>
            </a:r>
          </a:p>
        </p:txBody>
      </p:sp>
      <p:sp>
        <p:nvSpPr>
          <p:cNvPr id="26" name="">
            <a:extLst xmlns:a="http://schemas.openxmlformats.org/drawingml/2006/main">
              <a:ext uri="{FF2B5EF4-FFF2-40B4-BE49-F238E27FC236}">
                <a16:creationId xmlns:a16="http://schemas.microsoft.com/office/drawing/2014/main" id="{27487DBE-0160-439F-A210-95B5B8BAF6C5}"/>
              </a:ext>
            </a:extLst>
          </p:cNvPr>
          <p:cNvSpPr>
            <a:spLocks xmlns:a="http://schemas.openxmlformats.org/drawingml/2006/main" noGrp="1"/>
          </p:cNvSpPr>
          <p:nvPr/>
        </p:nvSpPr>
        <p:spPr>
          <a:xfrm xmlns:a="http://schemas.openxmlformats.org/drawingml/2006/main">
            <a:off x="990600" y="3129915"/>
            <a:ext cx="5715000" cy="9525"/>
          </a:xfrm>
          <a:prstGeom xmlns:a="http://schemas.openxmlformats.org/drawingml/2006/main" prst="rect">
            <a:avLst/>
          </a:prstGeom>
          <a:solidFill xmlns:a="http://schemas.openxmlformats.org/drawingml/2006/main">
            <a:srgbClr val="D8DEE8"/>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983F18F8-E00C-40C5-AE11-D3F8F4E35538}"/>
              </a:ext>
            </a:extLst>
          </p:cNvPr>
          <p:cNvSpPr>
            <a:spLocks xmlns:a="http://schemas.openxmlformats.org/drawingml/2006/main" noGrp="1"/>
          </p:cNvSpPr>
          <p:nvPr/>
        </p:nvSpPr>
        <p:spPr>
          <a:xfrm xmlns:a="http://schemas.openxmlformats.org/drawingml/2006/main">
            <a:off x="666750" y="3053715"/>
            <a:ext cx="2667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r">
              <a:defRPr sz="1050" b="0">
                <a:solidFill>
                  <a:srgbClr val="2C3A4D"/>
                </a:solidFill>
                <a:latin typeface="Aptos"/>
                <a:ea typeface="Aptos"/>
                <a:cs typeface="Aptos"/>
              </a:defRPr>
            </a:pPr>
            <a:r>
              <a:rPr sz="1050" b="0">
                <a:solidFill>
                  <a:srgbClr val="2C3A4D"/>
                </a:solidFill>
                <a:latin typeface="Aptos"/>
                <a:ea typeface="Aptos"/>
                <a:cs typeface="Aptos"/>
              </a:rPr>
              <a:t>0.9</a:t>
            </a:r>
          </a:p>
        </p:txBody>
      </p:sp>
      <p:sp>
        <p:nvSpPr>
          <p:cNvPr id="28" name="">
            <a:extLst xmlns:a="http://schemas.openxmlformats.org/drawingml/2006/main">
              <a:ext uri="{FF2B5EF4-FFF2-40B4-BE49-F238E27FC236}">
                <a16:creationId xmlns:a16="http://schemas.microsoft.com/office/drawing/2014/main" id="{D0B92F04-3662-4AE8-970B-831BB30C5753}"/>
              </a:ext>
            </a:extLst>
          </p:cNvPr>
          <p:cNvSpPr>
            <a:spLocks xmlns:a="http://schemas.openxmlformats.org/drawingml/2006/main" noGrp="1"/>
          </p:cNvSpPr>
          <p:nvPr/>
        </p:nvSpPr>
        <p:spPr>
          <a:xfrm xmlns:a="http://schemas.openxmlformats.org/drawingml/2006/main">
            <a:off x="990600" y="2933700"/>
            <a:ext cx="5715000" cy="9525"/>
          </a:xfrm>
          <a:prstGeom xmlns:a="http://schemas.openxmlformats.org/drawingml/2006/main" prst="rect">
            <a:avLst/>
          </a:prstGeom>
          <a:solidFill xmlns:a="http://schemas.openxmlformats.org/drawingml/2006/main">
            <a:srgbClr val="D8DEE8"/>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F53AC7B4-3DCF-4D07-AE14-9171466FDFB5}"/>
              </a:ext>
            </a:extLst>
          </p:cNvPr>
          <p:cNvSpPr>
            <a:spLocks xmlns:a="http://schemas.openxmlformats.org/drawingml/2006/main" noGrp="1"/>
          </p:cNvSpPr>
          <p:nvPr/>
        </p:nvSpPr>
        <p:spPr>
          <a:xfrm xmlns:a="http://schemas.openxmlformats.org/drawingml/2006/main">
            <a:off x="666750" y="2857500"/>
            <a:ext cx="2667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r">
              <a:defRPr sz="1050" b="0">
                <a:solidFill>
                  <a:srgbClr val="2C3A4D"/>
                </a:solidFill>
                <a:latin typeface="Aptos"/>
                <a:ea typeface="Aptos"/>
                <a:cs typeface="Aptos"/>
              </a:defRPr>
            </a:pPr>
            <a:r>
              <a:rPr sz="1050" b="0">
                <a:solidFill>
                  <a:srgbClr val="2C3A4D"/>
                </a:solidFill>
                <a:latin typeface="Aptos"/>
                <a:ea typeface="Aptos"/>
                <a:cs typeface="Aptos"/>
              </a:rPr>
              <a:t>1.0</a:t>
            </a:r>
          </a:p>
        </p:txBody>
      </p:sp>
      <p:sp>
        <p:nvSpPr>
          <p:cNvPr id="30" name="">
            <a:extLst xmlns:a="http://schemas.openxmlformats.org/drawingml/2006/main">
              <a:ext uri="{FF2B5EF4-FFF2-40B4-BE49-F238E27FC236}">
                <a16:creationId xmlns:a16="http://schemas.microsoft.com/office/drawing/2014/main" id="{6A60ACCE-262A-4659-B7B8-B5ABDCC42982}"/>
              </a:ext>
            </a:extLst>
          </p:cNvPr>
          <p:cNvSpPr>
            <a:spLocks xmlns:a="http://schemas.openxmlformats.org/drawingml/2006/main" noGrp="1"/>
          </p:cNvSpPr>
          <p:nvPr/>
        </p:nvSpPr>
        <p:spPr>
          <a:xfrm xmlns:a="http://schemas.openxmlformats.org/drawingml/2006/main">
            <a:off x="1104900" y="5372100"/>
            <a:ext cx="5334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125" b="0">
                <a:solidFill>
                  <a:srgbClr val="2C3A4D"/>
                </a:solidFill>
                <a:latin typeface="Aptos"/>
                <a:ea typeface="Aptos"/>
                <a:cs typeface="Aptos"/>
              </a:defRPr>
            </a:pPr>
            <a:r>
              <a:rPr sz="1125" b="0">
                <a:solidFill>
                  <a:srgbClr val="2C3A4D"/>
                </a:solidFill>
                <a:latin typeface="Aptos"/>
                <a:ea typeface="Aptos"/>
                <a:cs typeface="Aptos"/>
              </a:rPr>
              <a:t>Accuracy shown; SGD is also near 0.983 on precision, recall, and F1.</a:t>
            </a:r>
          </a:p>
        </p:txBody>
      </p:sp>
      <p:sp>
        <p:nvSpPr>
          <p:cNvPr id="31" name="">
            <a:extLst xmlns:a="http://schemas.openxmlformats.org/drawingml/2006/main">
              <a:ext uri="{FF2B5EF4-FFF2-40B4-BE49-F238E27FC236}">
                <a16:creationId xmlns:a16="http://schemas.microsoft.com/office/drawing/2014/main" id="{9019E5F9-F8CC-4F65-B2FD-BFEE16FBC75E}"/>
              </a:ext>
            </a:extLst>
          </p:cNvPr>
          <p:cNvSpPr>
            <a:spLocks xmlns:a="http://schemas.openxmlformats.org/drawingml/2006/main" noGrp="1"/>
          </p:cNvSpPr>
          <p:nvPr/>
        </p:nvSpPr>
        <p:spPr>
          <a:xfrm xmlns:a="http://schemas.openxmlformats.org/drawingml/2006/main">
            <a:off x="7886700" y="2057400"/>
            <a:ext cx="3143250" cy="135255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32" name="">
            <a:extLst xmlns:a="http://schemas.openxmlformats.org/drawingml/2006/main">
              <a:ext uri="{FF2B5EF4-FFF2-40B4-BE49-F238E27FC236}">
                <a16:creationId xmlns:a16="http://schemas.microsoft.com/office/drawing/2014/main" id="{78134074-DE2B-4435-8FD2-0B3EEF09606B}"/>
              </a:ext>
            </a:extLst>
          </p:cNvPr>
          <p:cNvSpPr>
            <a:spLocks xmlns:a="http://schemas.openxmlformats.org/drawingml/2006/main" noGrp="1"/>
          </p:cNvSpPr>
          <p:nvPr/>
        </p:nvSpPr>
        <p:spPr>
          <a:xfrm xmlns:a="http://schemas.openxmlformats.org/drawingml/2006/main">
            <a:off x="8058150" y="2152650"/>
            <a:ext cx="28003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0B5CAD"/>
                </a:solidFill>
                <a:latin typeface="Aptos Display"/>
                <a:ea typeface="Aptos Display"/>
                <a:cs typeface="Aptos Display"/>
              </a:defRPr>
            </a:pPr>
            <a:r>
              <a:rPr sz="2850" b="1">
                <a:solidFill>
                  <a:srgbClr val="0B5CAD"/>
                </a:solidFill>
                <a:latin typeface="Aptos Display"/>
                <a:ea typeface="Aptos Display"/>
                <a:cs typeface="Aptos Display"/>
              </a:rPr>
              <a:t>0.9803</a:t>
            </a:r>
          </a:p>
        </p:txBody>
      </p:sp>
      <p:sp>
        <p:nvSpPr>
          <p:cNvPr id="33" name="">
            <a:extLst xmlns:a="http://schemas.openxmlformats.org/drawingml/2006/main">
              <a:ext uri="{FF2B5EF4-FFF2-40B4-BE49-F238E27FC236}">
                <a16:creationId xmlns:a16="http://schemas.microsoft.com/office/drawing/2014/main" id="{B845C212-EE38-48ED-88B8-100836D11BEC}"/>
              </a:ext>
            </a:extLst>
          </p:cNvPr>
          <p:cNvSpPr>
            <a:spLocks xmlns:a="http://schemas.openxmlformats.org/drawingml/2006/main" noGrp="1"/>
          </p:cNvSpPr>
          <p:nvPr/>
        </p:nvSpPr>
        <p:spPr>
          <a:xfrm xmlns:a="http://schemas.openxmlformats.org/drawingml/2006/main">
            <a:off x="8058150" y="2628900"/>
            <a:ext cx="28003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0">
                <a:solidFill>
                  <a:srgbClr val="11243D"/>
                </a:solidFill>
                <a:latin typeface="Aptos"/>
                <a:ea typeface="Aptos"/>
                <a:cs typeface="Aptos"/>
              </a:defRPr>
            </a:pPr>
            <a:r>
              <a:rPr sz="1650" b="0">
                <a:solidFill>
                  <a:srgbClr val="11243D"/>
                </a:solidFill>
                <a:latin typeface="Aptos"/>
                <a:ea typeface="Aptos"/>
                <a:cs typeface="Aptos"/>
              </a:rPr>
              <a:t>Internal validation accuracy</a:t>
            </a:r>
          </a:p>
        </p:txBody>
      </p:sp>
      <p:sp>
        <p:nvSpPr>
          <p:cNvPr id="34" name="">
            <a:extLst xmlns:a="http://schemas.openxmlformats.org/drawingml/2006/main">
              <a:ext uri="{FF2B5EF4-FFF2-40B4-BE49-F238E27FC236}">
                <a16:creationId xmlns:a16="http://schemas.microsoft.com/office/drawing/2014/main" id="{543FA136-C072-4E6C-8542-048AB9FBB060}"/>
              </a:ext>
            </a:extLst>
          </p:cNvPr>
          <p:cNvSpPr>
            <a:spLocks xmlns:a="http://schemas.openxmlformats.org/drawingml/2006/main" noGrp="1"/>
          </p:cNvSpPr>
          <p:nvPr/>
        </p:nvSpPr>
        <p:spPr>
          <a:xfrm xmlns:a="http://schemas.openxmlformats.org/drawingml/2006/main">
            <a:off x="8058150" y="3048000"/>
            <a:ext cx="28003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2C3A4D"/>
                </a:solidFill>
                <a:latin typeface="Aptos"/>
                <a:ea typeface="Aptos"/>
                <a:cs typeface="Aptos"/>
              </a:defRPr>
            </a:pPr>
            <a:r>
              <a:rPr sz="1200" b="0">
                <a:solidFill>
                  <a:srgbClr val="2C3A4D"/>
                </a:solidFill>
                <a:latin typeface="Aptos"/>
                <a:ea typeface="Aptos"/>
                <a:cs typeface="Aptos"/>
              </a:rPr>
              <a:t>TN 7748, FP 158, FN 152, TP 7649.</a:t>
            </a:r>
          </a:p>
        </p:txBody>
      </p:sp>
      <p:sp>
        <p:nvSpPr>
          <p:cNvPr id="35" name="">
            <a:extLst xmlns:a="http://schemas.openxmlformats.org/drawingml/2006/main">
              <a:ext uri="{FF2B5EF4-FFF2-40B4-BE49-F238E27FC236}">
                <a16:creationId xmlns:a16="http://schemas.microsoft.com/office/drawing/2014/main" id="{2EBFF71B-DE2B-4032-A3EB-5CCF7C42FD51}"/>
              </a:ext>
            </a:extLst>
          </p:cNvPr>
          <p:cNvSpPr>
            <a:spLocks xmlns:a="http://schemas.openxmlformats.org/drawingml/2006/main" noGrp="1"/>
          </p:cNvSpPr>
          <p:nvPr/>
        </p:nvSpPr>
        <p:spPr>
          <a:xfrm xmlns:a="http://schemas.openxmlformats.org/drawingml/2006/main">
            <a:off x="7886700" y="3600450"/>
            <a:ext cx="3143250" cy="118110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36" name="">
            <a:extLst xmlns:a="http://schemas.openxmlformats.org/drawingml/2006/main">
              <a:ext uri="{FF2B5EF4-FFF2-40B4-BE49-F238E27FC236}">
                <a16:creationId xmlns:a16="http://schemas.microsoft.com/office/drawing/2014/main" id="{C07AF660-9F53-4496-A141-2C3994A652FE}"/>
              </a:ext>
            </a:extLst>
          </p:cNvPr>
          <p:cNvSpPr>
            <a:spLocks xmlns:a="http://schemas.openxmlformats.org/drawingml/2006/main" noGrp="1"/>
          </p:cNvSpPr>
          <p:nvPr/>
        </p:nvSpPr>
        <p:spPr>
          <a:xfrm xmlns:a="http://schemas.openxmlformats.org/drawingml/2006/main">
            <a:off x="8058150" y="3695700"/>
            <a:ext cx="28003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0B5CAD"/>
                </a:solidFill>
                <a:latin typeface="Aptos Display"/>
                <a:ea typeface="Aptos Display"/>
                <a:cs typeface="Aptos Display"/>
              </a:defRPr>
            </a:pPr>
            <a:r>
              <a:rPr sz="2850" b="1">
                <a:solidFill>
                  <a:srgbClr val="0B5CAD"/>
                </a:solidFill>
                <a:latin typeface="Aptos Display"/>
                <a:ea typeface="Aptos Display"/>
                <a:cs typeface="Aptos Display"/>
              </a:rPr>
              <a:t>0.9457</a:t>
            </a:r>
          </a:p>
        </p:txBody>
      </p:sp>
      <p:sp>
        <p:nvSpPr>
          <p:cNvPr id="37" name="">
            <a:extLst xmlns:a="http://schemas.openxmlformats.org/drawingml/2006/main">
              <a:ext uri="{FF2B5EF4-FFF2-40B4-BE49-F238E27FC236}">
                <a16:creationId xmlns:a16="http://schemas.microsoft.com/office/drawing/2014/main" id="{5C329B9F-0CC6-403B-A82C-CA1A483F7B23}"/>
              </a:ext>
            </a:extLst>
          </p:cNvPr>
          <p:cNvSpPr>
            <a:spLocks xmlns:a="http://schemas.openxmlformats.org/drawingml/2006/main" noGrp="1"/>
          </p:cNvSpPr>
          <p:nvPr/>
        </p:nvSpPr>
        <p:spPr>
          <a:xfrm xmlns:a="http://schemas.openxmlformats.org/drawingml/2006/main">
            <a:off x="8058150" y="4171950"/>
            <a:ext cx="28003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0">
                <a:solidFill>
                  <a:srgbClr val="11243D"/>
                </a:solidFill>
                <a:latin typeface="Aptos"/>
                <a:ea typeface="Aptos"/>
                <a:cs typeface="Aptos"/>
              </a:defRPr>
            </a:pPr>
            <a:r>
              <a:rPr sz="1650" b="0">
                <a:solidFill>
                  <a:srgbClr val="11243D"/>
                </a:solidFill>
                <a:latin typeface="Aptos"/>
                <a:ea typeface="Aptos"/>
                <a:cs typeface="Aptos"/>
              </a:rPr>
              <a:t>Nazario split class-1 recall</a:t>
            </a:r>
          </a:p>
        </p:txBody>
      </p:sp>
      <p:sp>
        <p:nvSpPr>
          <p:cNvPr id="38" name="">
            <a:extLst xmlns:a="http://schemas.openxmlformats.org/drawingml/2006/main">
              <a:ext uri="{FF2B5EF4-FFF2-40B4-BE49-F238E27FC236}">
                <a16:creationId xmlns:a16="http://schemas.microsoft.com/office/drawing/2014/main" id="{B5A99C42-9F0A-4F7C-B726-05B53DE5D2B8}"/>
              </a:ext>
            </a:extLst>
          </p:cNvPr>
          <p:cNvSpPr>
            <a:spLocks xmlns:a="http://schemas.openxmlformats.org/drawingml/2006/main" noGrp="1"/>
          </p:cNvSpPr>
          <p:nvPr/>
        </p:nvSpPr>
        <p:spPr>
          <a:xfrm xmlns:a="http://schemas.openxmlformats.org/drawingml/2006/main">
            <a:off x="8058150" y="4591050"/>
            <a:ext cx="28003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2C3A4D"/>
                </a:solidFill>
                <a:latin typeface="Aptos"/>
                <a:ea typeface="Aptos"/>
                <a:cs typeface="Aptos"/>
              </a:defRPr>
            </a:pPr>
            <a:r>
              <a:rPr sz="1200" b="0">
                <a:solidFill>
                  <a:srgbClr val="2C3A4D"/>
                </a:solidFill>
                <a:latin typeface="Aptos"/>
                <a:ea typeface="Aptos"/>
                <a:cs typeface="Aptos"/>
              </a:rPr>
              <a:t>FN 17, TP 296.</a:t>
            </a:r>
          </a:p>
        </p:txBody>
      </p:sp>
      <p:sp>
        <p:nvSpPr>
          <p:cNvPr id="39" name="">
            <a:extLst xmlns:a="http://schemas.openxmlformats.org/drawingml/2006/main">
              <a:ext uri="{FF2B5EF4-FFF2-40B4-BE49-F238E27FC236}">
                <a16:creationId xmlns:a16="http://schemas.microsoft.com/office/drawing/2014/main" id="{C37D4C41-83AE-4910-B49C-378B3F3C1299}"/>
              </a:ext>
            </a:extLst>
          </p:cNvPr>
          <p:cNvSpPr>
            <a:spLocks xmlns:a="http://schemas.openxmlformats.org/drawingml/2006/main" noGrp="1"/>
          </p:cNvSpPr>
          <p:nvPr/>
        </p:nvSpPr>
        <p:spPr>
          <a:xfrm xmlns:a="http://schemas.openxmlformats.org/drawingml/2006/main">
            <a:off x="7867650" y="5029200"/>
            <a:ext cx="3238500" cy="742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11243D"/>
                </a:solidFill>
                <a:latin typeface="Aptos"/>
                <a:ea typeface="Aptos"/>
                <a:cs typeface="Aptos"/>
              </a:defRPr>
            </a:pPr>
            <a:r>
              <a:rPr sz="1800" b="1">
                <a:solidFill>
                  <a:srgbClr val="11243D"/>
                </a:solidFill>
                <a:latin typeface="Aptos"/>
                <a:ea typeface="Aptos"/>
                <a:cs typeface="Aptos"/>
              </a:rPr>
              <a:t>Takeaway: SGD is the best model among the four plotted classifiers, with accuracy, precision, recall, and F1 near 0.983.</a:t>
            </a:r>
          </a:p>
        </p:txBody>
      </p:sp>
      <p:sp>
        <p:nvSpPr>
          <p:cNvPr id="40" name="">
            <a:extLst xmlns:a="http://schemas.openxmlformats.org/drawingml/2006/main">
              <a:ext uri="{FF2B5EF4-FFF2-40B4-BE49-F238E27FC236}">
                <a16:creationId xmlns:a16="http://schemas.microsoft.com/office/drawing/2014/main" id="{254D6114-E4DE-4E2E-BF4C-BF353B17A306}"/>
              </a:ext>
            </a:extLst>
          </p:cNvPr>
          <p:cNvSpPr>
            <a:spLocks xmlns:a="http://schemas.openxmlformats.org/drawingml/2006/main" noGrp="1"/>
          </p:cNvSpPr>
          <p:nvPr/>
        </p:nvSpPr>
        <p:spPr>
          <a:xfrm xmlns:a="http://schemas.openxmlformats.org/drawingml/2006/main">
            <a:off x="838200" y="5829300"/>
            <a:ext cx="62865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350" b="0">
                <a:solidFill>
                  <a:srgbClr val="2C3A4D"/>
                </a:solidFill>
                <a:latin typeface="Aptos"/>
                <a:ea typeface="Aptos"/>
                <a:cs typeface="Aptos"/>
              </a:defRPr>
            </a:pPr>
            <a:r>
              <a:rPr sz="1350" b="0">
                <a:solidFill>
                  <a:srgbClr val="2C3A4D"/>
                </a:solidFill>
                <a:latin typeface="Aptos"/>
                <a:ea typeface="Aptos"/>
                <a:cs typeface="Aptos"/>
              </a:rPr>
              <a:t>Evidence scope: training-bundle artifacts, not live organizational traffic.</a:t>
            </a:r>
          </a:p>
        </p:txBody>
      </p:sp>
    </p:spTree>
    <p:extLst>
      <p:ext uri="{BB962C8B-B14F-4D97-AF65-F5344CB8AC3E}">
        <p14:creationId xmlns:p14="http://schemas.microsoft.com/office/powerpoint/2010/main" val="25157850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F43DF75-2243-4098-9378-09585468820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4EE"/>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596AAE3E-BBCE-4CE1-A663-F55E115CFA32}"/>
              </a:ext>
            </a:extLst>
          </p:cNvPr>
          <p:cNvSpPr>
            <a:spLocks xmlns:a="http://schemas.openxmlformats.org/drawingml/2006/main" noGrp="1"/>
          </p:cNvSpPr>
          <p:nvPr/>
        </p:nvSpPr>
        <p:spPr>
          <a:xfrm xmlns:a="http://schemas.openxmlformats.org/drawingml/2006/main">
            <a:off x="609600" y="514350"/>
            <a:ext cx="85725" cy="85725"/>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55632D76-9AC0-4B00-848D-4804699D57E6}"/>
              </a:ext>
            </a:extLst>
          </p:cNvPr>
          <p:cNvSpPr>
            <a:spLocks xmlns:a="http://schemas.openxmlformats.org/drawingml/2006/main" noGrp="1"/>
          </p:cNvSpPr>
          <p:nvPr/>
        </p:nvSpPr>
        <p:spPr>
          <a:xfrm xmlns:a="http://schemas.openxmlformats.org/drawingml/2006/main">
            <a:off x="781050" y="400050"/>
            <a:ext cx="49530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200" b="1">
                <a:solidFill>
                  <a:srgbClr val="0B5CAD"/>
                </a:solidFill>
                <a:latin typeface="Aptos"/>
                <a:ea typeface="Aptos"/>
                <a:cs typeface="Aptos"/>
              </a:defRPr>
            </a:pPr>
            <a:r>
              <a:rPr sz="1200" b="1">
                <a:solidFill>
                  <a:srgbClr val="0B5CAD"/>
                </a:solidFill>
                <a:latin typeface="Aptos"/>
                <a:ea typeface="Aptos"/>
                <a:cs typeface="Aptos"/>
              </a:rPr>
              <a:t>DEMO</a:t>
            </a:r>
          </a:p>
        </p:txBody>
      </p:sp>
      <p:sp>
        <p:nvSpPr>
          <p:cNvPr id="4" name="">
            <a:extLst xmlns:a="http://schemas.openxmlformats.org/drawingml/2006/main">
              <a:ext uri="{FF2B5EF4-FFF2-40B4-BE49-F238E27FC236}">
                <a16:creationId xmlns:a16="http://schemas.microsoft.com/office/drawing/2014/main" id="{C7558D09-CFA4-4751-BCCD-990512A0C2F2}"/>
              </a:ext>
            </a:extLst>
          </p:cNvPr>
          <p:cNvSpPr>
            <a:spLocks xmlns:a="http://schemas.openxmlformats.org/drawingml/2006/main" noGrp="1"/>
          </p:cNvSpPr>
          <p:nvPr/>
        </p:nvSpPr>
        <p:spPr>
          <a:xfrm xmlns:a="http://schemas.openxmlformats.org/drawingml/2006/main">
            <a:off x="609600" y="781050"/>
            <a:ext cx="10001250" cy="1009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600" b="1">
                <a:solidFill>
                  <a:srgbClr val="11243D"/>
                </a:solidFill>
                <a:latin typeface="Aptos Display"/>
                <a:ea typeface="Aptos Display"/>
                <a:cs typeface="Aptos Display"/>
              </a:defRPr>
            </a:pPr>
            <a:r>
              <a:rPr sz="3600" b="1">
                <a:solidFill>
                  <a:srgbClr val="11243D"/>
                </a:solidFill>
                <a:latin typeface="Aptos Display"/>
                <a:ea typeface="Aptos Display"/>
                <a:cs typeface="Aptos Display"/>
              </a:rPr>
              <a:t>Three minutes: from inbound message to reviewable verdict.</a:t>
            </a:r>
          </a:p>
        </p:txBody>
      </p:sp>
      <p:sp>
        <p:nvSpPr>
          <p:cNvPr id="5" name="">
            <a:extLst xmlns:a="http://schemas.openxmlformats.org/drawingml/2006/main">
              <a:ext uri="{FF2B5EF4-FFF2-40B4-BE49-F238E27FC236}">
                <a16:creationId xmlns:a16="http://schemas.microsoft.com/office/drawing/2014/main" id="{DE162FCF-F6F6-4F44-BC9E-BF08935411CE}"/>
              </a:ext>
            </a:extLst>
          </p:cNvPr>
          <p:cNvSpPr>
            <a:spLocks xmlns:a="http://schemas.openxmlformats.org/drawingml/2006/main" noGrp="1"/>
          </p:cNvSpPr>
          <p:nvPr/>
        </p:nvSpPr>
        <p:spPr>
          <a:xfrm xmlns:a="http://schemas.openxmlformats.org/drawingml/2006/main">
            <a:off x="609600" y="6400800"/>
            <a:ext cx="9810750" cy="9525"/>
          </a:xfrm>
          <a:prstGeom xmlns:a="http://schemas.openxmlformats.org/drawingml/2006/main" prst="rect">
            <a:avLst/>
          </a:prstGeom>
          <a:solidFill xmlns:a="http://schemas.openxmlformats.org/drawingml/2006/main">
            <a:srgbClr val="C7D2E1"/>
          </a:solidFill>
          <a:ln xmlns:a="http://schemas.openxmlformats.org/drawingml/2006/main" w="0">
            <a:solidFill>
              <a:srgbClr val="000000">
                <a:alpha val="0"/>
              </a:srgbClr>
            </a:solidFill>
            <a:prstDash val="solid"/>
          </a:ln>
        </p:spPr>
      </p:sp>
      <p:sp>
        <p:nvSpPr>
          <p:cNvPr id="6" name="">
            <a:extLst xmlns:a="http://schemas.openxmlformats.org/drawingml/2006/main">
              <a:ext uri="{FF2B5EF4-FFF2-40B4-BE49-F238E27FC236}">
                <a16:creationId xmlns:a16="http://schemas.microsoft.com/office/drawing/2014/main" id="{A81FBB2D-1A8F-4A16-9506-C1B050B1F252}"/>
              </a:ext>
            </a:extLst>
          </p:cNvPr>
          <p:cNvSpPr>
            <a:spLocks xmlns:a="http://schemas.openxmlformats.org/drawingml/2006/main" noGrp="1"/>
          </p:cNvSpPr>
          <p:nvPr/>
        </p:nvSpPr>
        <p:spPr>
          <a:xfrm xmlns:a="http://schemas.openxmlformats.org/drawingml/2006/main">
            <a:off x="609600" y="6457950"/>
            <a:ext cx="3429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2C3A4D"/>
                </a:solidFill>
                <a:latin typeface="Aptos"/>
                <a:ea typeface="Aptos"/>
                <a:cs typeface="Aptos"/>
              </a:defRPr>
            </a:pPr>
            <a:r>
              <a:rPr sz="1050" b="0">
                <a:solidFill>
                  <a:srgbClr val="2C3A4D"/>
                </a:solidFill>
                <a:latin typeface="Aptos"/>
                <a:ea typeface="Aptos"/>
                <a:cs typeface="Aptos"/>
              </a:rPr>
              <a:t>Cloud Email Analyzer</a:t>
            </a:r>
          </a:p>
        </p:txBody>
      </p:sp>
      <p:sp>
        <p:nvSpPr>
          <p:cNvPr id="7" name="">
            <a:extLst xmlns:a="http://schemas.openxmlformats.org/drawingml/2006/main">
              <a:ext uri="{FF2B5EF4-FFF2-40B4-BE49-F238E27FC236}">
                <a16:creationId xmlns:a16="http://schemas.microsoft.com/office/drawing/2014/main" id="{674945AF-0E38-4DA8-80C5-824140DB4308}"/>
              </a:ext>
            </a:extLst>
          </p:cNvPr>
          <p:cNvSpPr>
            <a:spLocks xmlns:a="http://schemas.openxmlformats.org/drawingml/2006/main" noGrp="1"/>
          </p:cNvSpPr>
          <p:nvPr/>
        </p:nvSpPr>
        <p:spPr>
          <a:xfrm xmlns:a="http://schemas.openxmlformats.org/drawingml/2006/main">
            <a:off x="11001375" y="6438900"/>
            <a:ext cx="571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1050" b="0">
                <a:solidFill>
                  <a:srgbClr val="2C3A4D"/>
                </a:solidFill>
                <a:latin typeface="Aptos"/>
                <a:ea typeface="Aptos"/>
                <a:cs typeface="Aptos"/>
              </a:defRPr>
            </a:pPr>
            <a:r>
              <a:rPr sz="1050" b="0">
                <a:solidFill>
                  <a:srgbClr val="2C3A4D"/>
                </a:solidFill>
                <a:latin typeface="Aptos"/>
                <a:ea typeface="Aptos"/>
                <a:cs typeface="Aptos"/>
              </a:rPr>
              <a:t>09</a:t>
            </a:r>
          </a:p>
        </p:txBody>
      </p:sp>
      <p:sp>
        <p:nvSpPr>
          <p:cNvPr id="8" name="">
            <a:extLst xmlns:a="http://schemas.openxmlformats.org/drawingml/2006/main">
              <a:ext uri="{FF2B5EF4-FFF2-40B4-BE49-F238E27FC236}">
                <a16:creationId xmlns:a16="http://schemas.microsoft.com/office/drawing/2014/main" id="{327D526D-D83C-4492-90C5-CDE8295C4D19}"/>
              </a:ext>
            </a:extLst>
          </p:cNvPr>
          <p:cNvSpPr>
            <a:spLocks xmlns:a="http://schemas.openxmlformats.org/drawingml/2006/main" noGrp="1"/>
          </p:cNvSpPr>
          <p:nvPr/>
        </p:nvSpPr>
        <p:spPr>
          <a:xfrm xmlns:a="http://schemas.openxmlformats.org/drawingml/2006/main">
            <a:off x="704850" y="2362200"/>
            <a:ext cx="2209800" cy="194310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9" name="">
            <a:extLst xmlns:a="http://schemas.openxmlformats.org/drawingml/2006/main">
              <a:ext uri="{FF2B5EF4-FFF2-40B4-BE49-F238E27FC236}">
                <a16:creationId xmlns:a16="http://schemas.microsoft.com/office/drawing/2014/main" id="{6D589FF4-721D-49E3-95B2-BEA6CEF4CAC9}"/>
              </a:ext>
            </a:extLst>
          </p:cNvPr>
          <p:cNvSpPr>
            <a:spLocks xmlns:a="http://schemas.openxmlformats.org/drawingml/2006/main" noGrp="1"/>
          </p:cNvSpPr>
          <p:nvPr/>
        </p:nvSpPr>
        <p:spPr>
          <a:xfrm xmlns:a="http://schemas.openxmlformats.org/drawingml/2006/main">
            <a:off x="933450" y="2686050"/>
            <a:ext cx="17526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2325" b="1">
                <a:solidFill>
                  <a:srgbClr val="11243D"/>
                </a:solidFill>
                <a:latin typeface="Aptos"/>
                <a:ea typeface="Aptos"/>
                <a:cs typeface="Aptos"/>
              </a:defRPr>
            </a:pPr>
            <a:r>
              <a:rPr sz="2325" b="1">
                <a:solidFill>
                  <a:srgbClr val="11243D"/>
                </a:solidFill>
                <a:latin typeface="Aptos"/>
                <a:ea typeface="Aptos"/>
                <a:cs typeface="Aptos"/>
              </a:rPr>
              <a:t>Input</a:t>
            </a:r>
          </a:p>
        </p:txBody>
      </p:sp>
      <p:sp>
        <p:nvSpPr>
          <p:cNvPr id="10" name="">
            <a:extLst xmlns:a="http://schemas.openxmlformats.org/drawingml/2006/main">
              <a:ext uri="{FF2B5EF4-FFF2-40B4-BE49-F238E27FC236}">
                <a16:creationId xmlns:a16="http://schemas.microsoft.com/office/drawing/2014/main" id="{56054654-D312-49A2-ADB5-5605CF3445AC}"/>
              </a:ext>
            </a:extLst>
          </p:cNvPr>
          <p:cNvSpPr>
            <a:spLocks xmlns:a="http://schemas.openxmlformats.org/drawingml/2006/main" noGrp="1"/>
          </p:cNvSpPr>
          <p:nvPr/>
        </p:nvSpPr>
        <p:spPr>
          <a:xfrm xmlns:a="http://schemas.openxmlformats.org/drawingml/2006/main">
            <a:off x="933450" y="3352800"/>
            <a:ext cx="17526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0">
                <a:solidFill>
                  <a:srgbClr val="2C3A4D"/>
                </a:solidFill>
                <a:latin typeface="Aptos"/>
                <a:ea typeface="Aptos"/>
                <a:cs typeface="Aptos"/>
              </a:defRPr>
            </a:pPr>
            <a:r>
              <a:rPr sz="1500" b="0">
                <a:solidFill>
                  <a:srgbClr val="2C3A4D"/>
                </a:solidFill>
                <a:latin typeface="Aptos"/>
                <a:ea typeface="Aptos"/>
                <a:cs typeface="Aptos"/>
              </a:rPr>
              <a:t>Prepared inbound email message</a:t>
            </a:r>
          </a:p>
        </p:txBody>
      </p:sp>
      <p:sp>
        <p:nvSpPr>
          <p:cNvPr id="11" name="">
            <a:extLst xmlns:a="http://schemas.openxmlformats.org/drawingml/2006/main">
              <a:ext uri="{FF2B5EF4-FFF2-40B4-BE49-F238E27FC236}">
                <a16:creationId xmlns:a16="http://schemas.microsoft.com/office/drawing/2014/main" id="{ECA65C55-29A1-43FC-BA40-2C4EA70BE7F5}"/>
              </a:ext>
            </a:extLst>
          </p:cNvPr>
          <p:cNvSpPr>
            <a:spLocks xmlns:a="http://schemas.openxmlformats.org/drawingml/2006/main" noGrp="1"/>
          </p:cNvSpPr>
          <p:nvPr/>
        </p:nvSpPr>
        <p:spPr>
          <a:xfrm xmlns:a="http://schemas.openxmlformats.org/drawingml/2006/main">
            <a:off x="3086100" y="3181350"/>
            <a:ext cx="361950" cy="266700"/>
          </a:xfrm>
          <a:prstGeom xmlns:a="http://schemas.openxmlformats.org/drawingml/2006/main" prst="rightArrow">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AF5DA66C-B0C8-47F2-B7CD-695F8EA26EE5}"/>
              </a:ext>
            </a:extLst>
          </p:cNvPr>
          <p:cNvSpPr>
            <a:spLocks xmlns:a="http://schemas.openxmlformats.org/drawingml/2006/main" noGrp="1"/>
          </p:cNvSpPr>
          <p:nvPr/>
        </p:nvSpPr>
        <p:spPr>
          <a:xfrm xmlns:a="http://schemas.openxmlformats.org/drawingml/2006/main">
            <a:off x="3505200" y="2362200"/>
            <a:ext cx="2209800" cy="194310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13" name="">
            <a:extLst xmlns:a="http://schemas.openxmlformats.org/drawingml/2006/main">
              <a:ext uri="{FF2B5EF4-FFF2-40B4-BE49-F238E27FC236}">
                <a16:creationId xmlns:a16="http://schemas.microsoft.com/office/drawing/2014/main" id="{35421A3A-E4F0-4B2E-89CD-E1978569F62B}"/>
              </a:ext>
            </a:extLst>
          </p:cNvPr>
          <p:cNvSpPr>
            <a:spLocks xmlns:a="http://schemas.openxmlformats.org/drawingml/2006/main" noGrp="1"/>
          </p:cNvSpPr>
          <p:nvPr/>
        </p:nvSpPr>
        <p:spPr>
          <a:xfrm xmlns:a="http://schemas.openxmlformats.org/drawingml/2006/main">
            <a:off x="3733800" y="2686050"/>
            <a:ext cx="17526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2325" b="1">
                <a:solidFill>
                  <a:srgbClr val="11243D"/>
                </a:solidFill>
                <a:latin typeface="Aptos"/>
                <a:ea typeface="Aptos"/>
                <a:cs typeface="Aptos"/>
              </a:defRPr>
            </a:pPr>
            <a:r>
              <a:rPr sz="2325" b="1">
                <a:solidFill>
                  <a:srgbClr val="11243D"/>
                </a:solidFill>
                <a:latin typeface="Aptos"/>
                <a:ea typeface="Aptos"/>
                <a:cs typeface="Aptos"/>
              </a:rPr>
              <a:t>Processing</a:t>
            </a:r>
          </a:p>
        </p:txBody>
      </p:sp>
      <p:sp>
        <p:nvSpPr>
          <p:cNvPr id="14" name="">
            <a:extLst xmlns:a="http://schemas.openxmlformats.org/drawingml/2006/main">
              <a:ext uri="{FF2B5EF4-FFF2-40B4-BE49-F238E27FC236}">
                <a16:creationId xmlns:a16="http://schemas.microsoft.com/office/drawing/2014/main" id="{C8EF8A22-B8B9-41A6-978C-2F704AC65466}"/>
              </a:ext>
            </a:extLst>
          </p:cNvPr>
          <p:cNvSpPr>
            <a:spLocks xmlns:a="http://schemas.openxmlformats.org/drawingml/2006/main" noGrp="1"/>
          </p:cNvSpPr>
          <p:nvPr/>
        </p:nvSpPr>
        <p:spPr>
          <a:xfrm xmlns:a="http://schemas.openxmlformats.org/drawingml/2006/main">
            <a:off x="3733800" y="3352800"/>
            <a:ext cx="17526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0">
                <a:solidFill>
                  <a:srgbClr val="2C3A4D"/>
                </a:solidFill>
                <a:latin typeface="Aptos"/>
                <a:ea typeface="Aptos"/>
                <a:cs typeface="Aptos"/>
              </a:defRPr>
            </a:pPr>
            <a:r>
              <a:rPr sz="1500" b="0">
                <a:solidFill>
                  <a:srgbClr val="2C3A4D"/>
                </a:solidFill>
                <a:latin typeface="Aptos"/>
                <a:ea typeface="Aptos"/>
                <a:cs typeface="Aptos"/>
              </a:rPr>
              <a:t>Workflow updates ledger and artifacts</a:t>
            </a:r>
          </a:p>
        </p:txBody>
      </p:sp>
      <p:sp>
        <p:nvSpPr>
          <p:cNvPr id="15" name="">
            <a:extLst xmlns:a="http://schemas.openxmlformats.org/drawingml/2006/main">
              <a:ext uri="{FF2B5EF4-FFF2-40B4-BE49-F238E27FC236}">
                <a16:creationId xmlns:a16="http://schemas.microsoft.com/office/drawing/2014/main" id="{71C8318A-9095-4CAB-AF65-A9BD902A4FCE}"/>
              </a:ext>
            </a:extLst>
          </p:cNvPr>
          <p:cNvSpPr>
            <a:spLocks xmlns:a="http://schemas.openxmlformats.org/drawingml/2006/main" noGrp="1"/>
          </p:cNvSpPr>
          <p:nvPr/>
        </p:nvSpPr>
        <p:spPr>
          <a:xfrm xmlns:a="http://schemas.openxmlformats.org/drawingml/2006/main">
            <a:off x="5886450" y="3181350"/>
            <a:ext cx="361950" cy="266700"/>
          </a:xfrm>
          <a:prstGeom xmlns:a="http://schemas.openxmlformats.org/drawingml/2006/main" prst="rightArrow">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A0683F02-D092-4311-AD60-4B1DF4C79467}"/>
              </a:ext>
            </a:extLst>
          </p:cNvPr>
          <p:cNvSpPr>
            <a:spLocks xmlns:a="http://schemas.openxmlformats.org/drawingml/2006/main" noGrp="1"/>
          </p:cNvSpPr>
          <p:nvPr/>
        </p:nvSpPr>
        <p:spPr>
          <a:xfrm xmlns:a="http://schemas.openxmlformats.org/drawingml/2006/main">
            <a:off x="6305550" y="2362200"/>
            <a:ext cx="2209800" cy="1943100"/>
          </a:xfrm>
          <a:prstGeom xmlns:a="http://schemas.openxmlformats.org/drawingml/2006/main" prst="rect">
            <a:avLst/>
          </a:prstGeom>
          <a:solidFill xmlns:a="http://schemas.openxmlformats.org/drawingml/2006/main">
            <a:srgbClr val="EAF2FB"/>
          </a:solidFill>
          <a:ln xmlns:a="http://schemas.openxmlformats.org/drawingml/2006/main" w="9525">
            <a:solidFill>
              <a:srgbClr val="C7D2E1"/>
            </a:solidFill>
            <a:prstDash val="solid"/>
          </a:ln>
        </p:spPr>
      </p:sp>
      <p:sp>
        <p:nvSpPr>
          <p:cNvPr id="17" name="">
            <a:extLst xmlns:a="http://schemas.openxmlformats.org/drawingml/2006/main">
              <a:ext uri="{FF2B5EF4-FFF2-40B4-BE49-F238E27FC236}">
                <a16:creationId xmlns:a16="http://schemas.microsoft.com/office/drawing/2014/main" id="{6412E1BB-FDAC-4256-BCE8-24513E136179}"/>
              </a:ext>
            </a:extLst>
          </p:cNvPr>
          <p:cNvSpPr>
            <a:spLocks xmlns:a="http://schemas.openxmlformats.org/drawingml/2006/main" noGrp="1"/>
          </p:cNvSpPr>
          <p:nvPr/>
        </p:nvSpPr>
        <p:spPr>
          <a:xfrm xmlns:a="http://schemas.openxmlformats.org/drawingml/2006/main">
            <a:off x="6534150" y="2686050"/>
            <a:ext cx="17526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2325" b="1">
                <a:solidFill>
                  <a:srgbClr val="11243D"/>
                </a:solidFill>
                <a:latin typeface="Aptos"/>
                <a:ea typeface="Aptos"/>
                <a:cs typeface="Aptos"/>
              </a:defRPr>
            </a:pPr>
            <a:r>
              <a:rPr sz="2325" b="1">
                <a:solidFill>
                  <a:srgbClr val="11243D"/>
                </a:solidFill>
                <a:latin typeface="Aptos"/>
                <a:ea typeface="Aptos"/>
                <a:cs typeface="Aptos"/>
              </a:rPr>
              <a:t>Output</a:t>
            </a:r>
          </a:p>
        </p:txBody>
      </p:sp>
      <p:sp>
        <p:nvSpPr>
          <p:cNvPr id="18" name="">
            <a:extLst xmlns:a="http://schemas.openxmlformats.org/drawingml/2006/main">
              <a:ext uri="{FF2B5EF4-FFF2-40B4-BE49-F238E27FC236}">
                <a16:creationId xmlns:a16="http://schemas.microsoft.com/office/drawing/2014/main" id="{316FDD26-66F4-47CC-ADC4-14EA790064E5}"/>
              </a:ext>
            </a:extLst>
          </p:cNvPr>
          <p:cNvSpPr>
            <a:spLocks xmlns:a="http://schemas.openxmlformats.org/drawingml/2006/main" noGrp="1"/>
          </p:cNvSpPr>
          <p:nvPr/>
        </p:nvSpPr>
        <p:spPr>
          <a:xfrm xmlns:a="http://schemas.openxmlformats.org/drawingml/2006/main">
            <a:off x="6534150" y="3352800"/>
            <a:ext cx="17526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0">
                <a:solidFill>
                  <a:srgbClr val="2C3A4D"/>
                </a:solidFill>
                <a:latin typeface="Aptos"/>
                <a:ea typeface="Aptos"/>
                <a:cs typeface="Aptos"/>
              </a:defRPr>
            </a:pPr>
            <a:r>
              <a:rPr sz="1500" b="0">
                <a:solidFill>
                  <a:srgbClr val="2C3A4D"/>
                </a:solidFill>
                <a:latin typeface="Aptos"/>
                <a:ea typeface="Aptos"/>
                <a:cs typeface="Aptos"/>
              </a:rPr>
              <a:t>Dashboard shows verdict evidence</a:t>
            </a:r>
          </a:p>
        </p:txBody>
      </p:sp>
      <p:sp>
        <p:nvSpPr>
          <p:cNvPr id="19" name="">
            <a:extLst xmlns:a="http://schemas.openxmlformats.org/drawingml/2006/main">
              <a:ext uri="{FF2B5EF4-FFF2-40B4-BE49-F238E27FC236}">
                <a16:creationId xmlns:a16="http://schemas.microsoft.com/office/drawing/2014/main" id="{289D5F20-BA6F-4653-8521-64CC081E2DCD}"/>
              </a:ext>
            </a:extLst>
          </p:cNvPr>
          <p:cNvSpPr>
            <a:spLocks xmlns:a="http://schemas.openxmlformats.org/drawingml/2006/main" noGrp="1"/>
          </p:cNvSpPr>
          <p:nvPr/>
        </p:nvSpPr>
        <p:spPr>
          <a:xfrm xmlns:a="http://schemas.openxmlformats.org/drawingml/2006/main">
            <a:off x="8686800" y="3181350"/>
            <a:ext cx="361950" cy="266700"/>
          </a:xfrm>
          <a:prstGeom xmlns:a="http://schemas.openxmlformats.org/drawingml/2006/main" prst="rightArrow">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020077A9-428A-47CA-B9A3-DFC12ED11510}"/>
              </a:ext>
            </a:extLst>
          </p:cNvPr>
          <p:cNvSpPr>
            <a:spLocks xmlns:a="http://schemas.openxmlformats.org/drawingml/2006/main" noGrp="1"/>
          </p:cNvSpPr>
          <p:nvPr/>
        </p:nvSpPr>
        <p:spPr>
          <a:xfrm xmlns:a="http://schemas.openxmlformats.org/drawingml/2006/main">
            <a:off x="9105900" y="2362200"/>
            <a:ext cx="2209800" cy="194310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21" name="">
            <a:extLst xmlns:a="http://schemas.openxmlformats.org/drawingml/2006/main">
              <a:ext uri="{FF2B5EF4-FFF2-40B4-BE49-F238E27FC236}">
                <a16:creationId xmlns:a16="http://schemas.microsoft.com/office/drawing/2014/main" id="{90D0EFA1-AE22-4871-BB34-E4DA1E5DA404}"/>
              </a:ext>
            </a:extLst>
          </p:cNvPr>
          <p:cNvSpPr>
            <a:spLocks xmlns:a="http://schemas.openxmlformats.org/drawingml/2006/main" noGrp="1"/>
          </p:cNvSpPr>
          <p:nvPr/>
        </p:nvSpPr>
        <p:spPr>
          <a:xfrm xmlns:a="http://schemas.openxmlformats.org/drawingml/2006/main">
            <a:off x="9334500" y="2686050"/>
            <a:ext cx="17526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2325" b="1">
                <a:solidFill>
                  <a:srgbClr val="11243D"/>
                </a:solidFill>
                <a:latin typeface="Aptos"/>
                <a:ea typeface="Aptos"/>
                <a:cs typeface="Aptos"/>
              </a:defRPr>
            </a:pPr>
            <a:r>
              <a:rPr sz="2325" b="1">
                <a:solidFill>
                  <a:srgbClr val="11243D"/>
                </a:solidFill>
                <a:latin typeface="Aptos"/>
                <a:ea typeface="Aptos"/>
                <a:cs typeface="Aptos"/>
              </a:rPr>
              <a:t>Review</a:t>
            </a:r>
          </a:p>
        </p:txBody>
      </p:sp>
      <p:sp>
        <p:nvSpPr>
          <p:cNvPr id="22" name="">
            <a:extLst xmlns:a="http://schemas.openxmlformats.org/drawingml/2006/main">
              <a:ext uri="{FF2B5EF4-FFF2-40B4-BE49-F238E27FC236}">
                <a16:creationId xmlns:a16="http://schemas.microsoft.com/office/drawing/2014/main" id="{7E034829-69A7-4276-9950-91D31F6213D9}"/>
              </a:ext>
            </a:extLst>
          </p:cNvPr>
          <p:cNvSpPr>
            <a:spLocks xmlns:a="http://schemas.openxmlformats.org/drawingml/2006/main" noGrp="1"/>
          </p:cNvSpPr>
          <p:nvPr/>
        </p:nvSpPr>
        <p:spPr>
          <a:xfrm xmlns:a="http://schemas.openxmlformats.org/drawingml/2006/main">
            <a:off x="9334500" y="3352800"/>
            <a:ext cx="17526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0">
                <a:solidFill>
                  <a:srgbClr val="2C3A4D"/>
                </a:solidFill>
                <a:latin typeface="Aptos"/>
                <a:ea typeface="Aptos"/>
                <a:cs typeface="Aptos"/>
              </a:defRPr>
            </a:pPr>
            <a:r>
              <a:rPr sz="1500" b="0">
                <a:solidFill>
                  <a:srgbClr val="2C3A4D"/>
                </a:solidFill>
                <a:latin typeface="Aptos"/>
                <a:ea typeface="Aptos"/>
                <a:cs typeface="Aptos"/>
              </a:rPr>
              <a:t>Admin checks audit and attachments</a:t>
            </a:r>
          </a:p>
        </p:txBody>
      </p:sp>
      <p:sp>
        <p:nvSpPr>
          <p:cNvPr id="23" name="">
            <a:extLst xmlns:a="http://schemas.openxmlformats.org/drawingml/2006/main">
              <a:ext uri="{FF2B5EF4-FFF2-40B4-BE49-F238E27FC236}">
                <a16:creationId xmlns:a16="http://schemas.microsoft.com/office/drawing/2014/main" id="{53D172AD-589A-4599-915E-3CA18BA8257E}"/>
              </a:ext>
            </a:extLst>
          </p:cNvPr>
          <p:cNvSpPr>
            <a:spLocks xmlns:a="http://schemas.openxmlformats.org/drawingml/2006/main" noGrp="1"/>
          </p:cNvSpPr>
          <p:nvPr/>
        </p:nvSpPr>
        <p:spPr>
          <a:xfrm xmlns:a="http://schemas.openxmlformats.org/drawingml/2006/main">
            <a:off x="1828800" y="4857750"/>
            <a:ext cx="853440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24" name="">
            <a:extLst xmlns:a="http://schemas.openxmlformats.org/drawingml/2006/main">
              <a:ext uri="{FF2B5EF4-FFF2-40B4-BE49-F238E27FC236}">
                <a16:creationId xmlns:a16="http://schemas.microsoft.com/office/drawing/2014/main" id="{1115188C-1AE0-43BC-B036-16B2619210C1}"/>
              </a:ext>
            </a:extLst>
          </p:cNvPr>
          <p:cNvSpPr>
            <a:spLocks xmlns:a="http://schemas.openxmlformats.org/drawingml/2006/main" noGrp="1"/>
          </p:cNvSpPr>
          <p:nvPr/>
        </p:nvSpPr>
        <p:spPr>
          <a:xfrm xmlns:a="http://schemas.openxmlformats.org/drawingml/2006/main">
            <a:off x="2209800" y="5010150"/>
            <a:ext cx="77724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875" b="1">
                <a:solidFill>
                  <a:srgbClr val="11243D"/>
                </a:solidFill>
                <a:latin typeface="Aptos"/>
                <a:ea typeface="Aptos"/>
                <a:cs typeface="Aptos"/>
              </a:defRPr>
            </a:pPr>
            <a:r>
              <a:rPr sz="1875" b="1">
                <a:solidFill>
                  <a:srgbClr val="11243D"/>
                </a:solidFill>
                <a:latin typeface="Aptos"/>
                <a:ea typeface="Aptos"/>
                <a:cs typeface="Aptos"/>
              </a:rPr>
              <a:t>Expected result: one message page with ML verdict, attachment state, hashes, timeline, and audit events.</a:t>
            </a:r>
          </a:p>
        </p:txBody>
      </p:sp>
    </p:spTree>
    <p:extLst>
      <p:ext uri="{BB962C8B-B14F-4D97-AF65-F5344CB8AC3E}">
        <p14:creationId xmlns:p14="http://schemas.microsoft.com/office/powerpoint/2010/main" val="2112226460"/>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B7EB1E4-2C24-47C8-B66F-6CE6454F235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4EE"/>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4E4EA568-CA23-4435-85C3-EBC8041FC628}"/>
              </a:ext>
            </a:extLst>
          </p:cNvPr>
          <p:cNvSpPr>
            <a:spLocks xmlns:a="http://schemas.openxmlformats.org/drawingml/2006/main" noGrp="1"/>
          </p:cNvSpPr>
          <p:nvPr/>
        </p:nvSpPr>
        <p:spPr>
          <a:xfrm xmlns:a="http://schemas.openxmlformats.org/drawingml/2006/main">
            <a:off x="609600" y="514350"/>
            <a:ext cx="85725" cy="85725"/>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F06DFF1B-D339-40D0-8251-8D7659104FBB}"/>
              </a:ext>
            </a:extLst>
          </p:cNvPr>
          <p:cNvSpPr>
            <a:spLocks xmlns:a="http://schemas.openxmlformats.org/drawingml/2006/main" noGrp="1"/>
          </p:cNvSpPr>
          <p:nvPr/>
        </p:nvSpPr>
        <p:spPr>
          <a:xfrm xmlns:a="http://schemas.openxmlformats.org/drawingml/2006/main">
            <a:off x="781050" y="400050"/>
            <a:ext cx="49530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200" b="1">
                <a:solidFill>
                  <a:srgbClr val="0B5CAD"/>
                </a:solidFill>
                <a:latin typeface="Aptos"/>
                <a:ea typeface="Aptos"/>
                <a:cs typeface="Aptos"/>
              </a:defRPr>
            </a:pPr>
            <a:r>
              <a:rPr sz="1200" b="1">
                <a:solidFill>
                  <a:srgbClr val="0B5CAD"/>
                </a:solidFill>
                <a:latin typeface="Aptos"/>
                <a:ea typeface="Aptos"/>
                <a:cs typeface="Aptos"/>
              </a:rPr>
              <a:t>NEXT WORK</a:t>
            </a:r>
          </a:p>
        </p:txBody>
      </p:sp>
      <p:sp>
        <p:nvSpPr>
          <p:cNvPr id="4" name="">
            <a:extLst xmlns:a="http://schemas.openxmlformats.org/drawingml/2006/main">
              <a:ext uri="{FF2B5EF4-FFF2-40B4-BE49-F238E27FC236}">
                <a16:creationId xmlns:a16="http://schemas.microsoft.com/office/drawing/2014/main" id="{8A8BC267-CE5C-4F35-8206-ABE32E0A2B21}"/>
              </a:ext>
            </a:extLst>
          </p:cNvPr>
          <p:cNvSpPr>
            <a:spLocks xmlns:a="http://schemas.openxmlformats.org/drawingml/2006/main" noGrp="1"/>
          </p:cNvSpPr>
          <p:nvPr/>
        </p:nvSpPr>
        <p:spPr>
          <a:xfrm xmlns:a="http://schemas.openxmlformats.org/drawingml/2006/main">
            <a:off x="609600" y="781050"/>
            <a:ext cx="10001250" cy="1009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600" b="1">
                <a:solidFill>
                  <a:srgbClr val="11243D"/>
                </a:solidFill>
                <a:latin typeface="Aptos Display"/>
                <a:ea typeface="Aptos Display"/>
                <a:cs typeface="Aptos Display"/>
              </a:defRPr>
            </a:pPr>
            <a:r>
              <a:rPr sz="3600" b="1">
                <a:solidFill>
                  <a:srgbClr val="11243D"/>
                </a:solidFill>
                <a:latin typeface="Aptos Display"/>
                <a:ea typeface="Aptos Display"/>
                <a:cs typeface="Aptos Display"/>
              </a:rPr>
              <a:t>The architecture leaves room for stronger evidence sources.</a:t>
            </a:r>
          </a:p>
        </p:txBody>
      </p:sp>
      <p:sp>
        <p:nvSpPr>
          <p:cNvPr id="5" name="">
            <a:extLst xmlns:a="http://schemas.openxmlformats.org/drawingml/2006/main">
              <a:ext uri="{FF2B5EF4-FFF2-40B4-BE49-F238E27FC236}">
                <a16:creationId xmlns:a16="http://schemas.microsoft.com/office/drawing/2014/main" id="{61DACD2D-34E4-42D7-8C4F-277B9F857707}"/>
              </a:ext>
            </a:extLst>
          </p:cNvPr>
          <p:cNvSpPr>
            <a:spLocks xmlns:a="http://schemas.openxmlformats.org/drawingml/2006/main" noGrp="1"/>
          </p:cNvSpPr>
          <p:nvPr/>
        </p:nvSpPr>
        <p:spPr>
          <a:xfrm xmlns:a="http://schemas.openxmlformats.org/drawingml/2006/main">
            <a:off x="609600" y="6400800"/>
            <a:ext cx="9810750" cy="9525"/>
          </a:xfrm>
          <a:prstGeom xmlns:a="http://schemas.openxmlformats.org/drawingml/2006/main" prst="rect">
            <a:avLst/>
          </a:prstGeom>
          <a:solidFill xmlns:a="http://schemas.openxmlformats.org/drawingml/2006/main">
            <a:srgbClr val="C7D2E1"/>
          </a:solidFill>
          <a:ln xmlns:a="http://schemas.openxmlformats.org/drawingml/2006/main" w="0">
            <a:solidFill>
              <a:srgbClr val="000000">
                <a:alpha val="0"/>
              </a:srgbClr>
            </a:solidFill>
            <a:prstDash val="solid"/>
          </a:ln>
        </p:spPr>
      </p:sp>
      <p:sp>
        <p:nvSpPr>
          <p:cNvPr id="6" name="">
            <a:extLst xmlns:a="http://schemas.openxmlformats.org/drawingml/2006/main">
              <a:ext uri="{FF2B5EF4-FFF2-40B4-BE49-F238E27FC236}">
                <a16:creationId xmlns:a16="http://schemas.microsoft.com/office/drawing/2014/main" id="{48EFACC4-0723-4B83-9562-CB4056BFFE67}"/>
              </a:ext>
            </a:extLst>
          </p:cNvPr>
          <p:cNvSpPr>
            <a:spLocks xmlns:a="http://schemas.openxmlformats.org/drawingml/2006/main" noGrp="1"/>
          </p:cNvSpPr>
          <p:nvPr/>
        </p:nvSpPr>
        <p:spPr>
          <a:xfrm xmlns:a="http://schemas.openxmlformats.org/drawingml/2006/main">
            <a:off x="609600" y="6457950"/>
            <a:ext cx="3429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2C3A4D"/>
                </a:solidFill>
                <a:latin typeface="Aptos"/>
                <a:ea typeface="Aptos"/>
                <a:cs typeface="Aptos"/>
              </a:defRPr>
            </a:pPr>
            <a:r>
              <a:rPr sz="1050" b="0">
                <a:solidFill>
                  <a:srgbClr val="2C3A4D"/>
                </a:solidFill>
                <a:latin typeface="Aptos"/>
                <a:ea typeface="Aptos"/>
                <a:cs typeface="Aptos"/>
              </a:rPr>
              <a:t>Cloud Email Analyzer</a:t>
            </a:r>
          </a:p>
        </p:txBody>
      </p:sp>
      <p:sp>
        <p:nvSpPr>
          <p:cNvPr id="7" name="">
            <a:extLst xmlns:a="http://schemas.openxmlformats.org/drawingml/2006/main">
              <a:ext uri="{FF2B5EF4-FFF2-40B4-BE49-F238E27FC236}">
                <a16:creationId xmlns:a16="http://schemas.microsoft.com/office/drawing/2014/main" id="{362940B8-504D-4DA7-8301-47C7FB02D491}"/>
              </a:ext>
            </a:extLst>
          </p:cNvPr>
          <p:cNvSpPr>
            <a:spLocks xmlns:a="http://schemas.openxmlformats.org/drawingml/2006/main" noGrp="1"/>
          </p:cNvSpPr>
          <p:nvPr/>
        </p:nvSpPr>
        <p:spPr>
          <a:xfrm xmlns:a="http://schemas.openxmlformats.org/drawingml/2006/main">
            <a:off x="11001375" y="6438900"/>
            <a:ext cx="571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1050" b="0">
                <a:solidFill>
                  <a:srgbClr val="2C3A4D"/>
                </a:solidFill>
                <a:latin typeface="Aptos"/>
                <a:ea typeface="Aptos"/>
                <a:cs typeface="Aptos"/>
              </a:defRPr>
            </a:pPr>
            <a:r>
              <a:rPr sz="1050" b="0">
                <a:solidFill>
                  <a:srgbClr val="2C3A4D"/>
                </a:solidFill>
                <a:latin typeface="Aptos"/>
                <a:ea typeface="Aptos"/>
                <a:cs typeface="Aptos"/>
              </a:rPr>
              <a:t>10</a:t>
            </a:r>
          </a:p>
        </p:txBody>
      </p:sp>
      <p:sp>
        <p:nvSpPr>
          <p:cNvPr id="8" name="">
            <a:extLst xmlns:a="http://schemas.openxmlformats.org/drawingml/2006/main">
              <a:ext uri="{FF2B5EF4-FFF2-40B4-BE49-F238E27FC236}">
                <a16:creationId xmlns:a16="http://schemas.microsoft.com/office/drawing/2014/main" id="{92ACC575-2A93-4B92-A655-92B0895F1107}"/>
              </a:ext>
            </a:extLst>
          </p:cNvPr>
          <p:cNvSpPr>
            <a:spLocks xmlns:a="http://schemas.openxmlformats.org/drawingml/2006/main" noGrp="1"/>
          </p:cNvSpPr>
          <p:nvPr/>
        </p:nvSpPr>
        <p:spPr>
          <a:xfrm xmlns:a="http://schemas.openxmlformats.org/drawingml/2006/main">
            <a:off x="990600" y="2190750"/>
            <a:ext cx="4572000" cy="333375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9" name="">
            <a:extLst xmlns:a="http://schemas.openxmlformats.org/drawingml/2006/main">
              <a:ext uri="{FF2B5EF4-FFF2-40B4-BE49-F238E27FC236}">
                <a16:creationId xmlns:a16="http://schemas.microsoft.com/office/drawing/2014/main" id="{093177C6-5318-4C12-A828-C2C05F33F462}"/>
              </a:ext>
            </a:extLst>
          </p:cNvPr>
          <p:cNvSpPr>
            <a:spLocks xmlns:a="http://schemas.openxmlformats.org/drawingml/2006/main" noGrp="1"/>
          </p:cNvSpPr>
          <p:nvPr/>
        </p:nvSpPr>
        <p:spPr>
          <a:xfrm xmlns:a="http://schemas.openxmlformats.org/drawingml/2006/main">
            <a:off x="6629400" y="2190750"/>
            <a:ext cx="4572000" cy="3333750"/>
          </a:xfrm>
          <a:prstGeom xmlns:a="http://schemas.openxmlformats.org/drawingml/2006/main" prst="rect">
            <a:avLst/>
          </a:prstGeom>
          <a:solidFill xmlns:a="http://schemas.openxmlformats.org/drawingml/2006/main">
            <a:srgbClr val="FFFFFF"/>
          </a:solidFill>
          <a:ln xmlns:a="http://schemas.openxmlformats.org/drawingml/2006/main" w="9525">
            <a:solidFill>
              <a:srgbClr val="C7D2E1"/>
            </a:solidFill>
            <a:prstDash val="solid"/>
          </a:ln>
        </p:spPr>
      </p:sp>
      <p:sp>
        <p:nvSpPr>
          <p:cNvPr id="10" name="">
            <a:extLst xmlns:a="http://schemas.openxmlformats.org/drawingml/2006/main">
              <a:ext uri="{FF2B5EF4-FFF2-40B4-BE49-F238E27FC236}">
                <a16:creationId xmlns:a16="http://schemas.microsoft.com/office/drawing/2014/main" id="{E07802C1-94E7-4315-9DC2-5FD23D85595A}"/>
              </a:ext>
            </a:extLst>
          </p:cNvPr>
          <p:cNvSpPr>
            <a:spLocks xmlns:a="http://schemas.openxmlformats.org/drawingml/2006/main" noGrp="1"/>
          </p:cNvSpPr>
          <p:nvPr/>
        </p:nvSpPr>
        <p:spPr>
          <a:xfrm xmlns:a="http://schemas.openxmlformats.org/drawingml/2006/main">
            <a:off x="1238250" y="2457450"/>
            <a:ext cx="2857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2475" b="1">
                <a:solidFill>
                  <a:srgbClr val="11243D"/>
                </a:solidFill>
                <a:latin typeface="Aptos"/>
                <a:ea typeface="Aptos"/>
                <a:cs typeface="Aptos"/>
              </a:defRPr>
            </a:pPr>
            <a:r>
              <a:rPr sz="2475" b="1">
                <a:solidFill>
                  <a:srgbClr val="11243D"/>
                </a:solidFill>
                <a:latin typeface="Aptos"/>
                <a:ea typeface="Aptos"/>
                <a:cs typeface="Aptos"/>
              </a:rPr>
              <a:t>Current limits</a:t>
            </a:r>
          </a:p>
        </p:txBody>
      </p:sp>
      <p:sp>
        <p:nvSpPr>
          <p:cNvPr id="11" name="">
            <a:extLst xmlns:a="http://schemas.openxmlformats.org/drawingml/2006/main">
              <a:ext uri="{FF2B5EF4-FFF2-40B4-BE49-F238E27FC236}">
                <a16:creationId xmlns:a16="http://schemas.microsoft.com/office/drawing/2014/main" id="{E9B30ECE-B365-4C48-9C87-C31CAEA72B92}"/>
              </a:ext>
            </a:extLst>
          </p:cNvPr>
          <p:cNvSpPr>
            <a:spLocks xmlns:a="http://schemas.openxmlformats.org/drawingml/2006/main" noGrp="1"/>
          </p:cNvSpPr>
          <p:nvPr/>
        </p:nvSpPr>
        <p:spPr>
          <a:xfrm xmlns:a="http://schemas.openxmlformats.org/drawingml/2006/main">
            <a:off x="6877050" y="2457450"/>
            <a:ext cx="2857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2475" b="1">
                <a:solidFill>
                  <a:srgbClr val="11243D"/>
                </a:solidFill>
                <a:latin typeface="Aptos"/>
                <a:ea typeface="Aptos"/>
                <a:cs typeface="Aptos"/>
              </a:defRPr>
            </a:pPr>
            <a:r>
              <a:rPr sz="2475" b="1">
                <a:solidFill>
                  <a:srgbClr val="11243D"/>
                </a:solidFill>
                <a:latin typeface="Aptos"/>
                <a:ea typeface="Aptos"/>
                <a:cs typeface="Aptos"/>
              </a:rPr>
              <a:t>Future work</a:t>
            </a:r>
          </a:p>
        </p:txBody>
      </p:sp>
      <p:sp>
        <p:nvSpPr>
          <p:cNvPr id="12" name="">
            <a:extLst xmlns:a="http://schemas.openxmlformats.org/drawingml/2006/main">
              <a:ext uri="{FF2B5EF4-FFF2-40B4-BE49-F238E27FC236}">
                <a16:creationId xmlns:a16="http://schemas.microsoft.com/office/drawing/2014/main" id="{9C15E533-EE17-4DBB-BE3F-4D5251BC0525}"/>
              </a:ext>
            </a:extLst>
          </p:cNvPr>
          <p:cNvSpPr>
            <a:spLocks xmlns:a="http://schemas.openxmlformats.org/drawingml/2006/main" noGrp="1"/>
          </p:cNvSpPr>
          <p:nvPr/>
        </p:nvSpPr>
        <p:spPr>
          <a:xfrm xmlns:a="http://schemas.openxmlformats.org/drawingml/2006/main">
            <a:off x="1257300" y="3181350"/>
            <a:ext cx="76200" cy="76200"/>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FD61E154-0766-4160-95A7-8235A75B979E}"/>
              </a:ext>
            </a:extLst>
          </p:cNvPr>
          <p:cNvSpPr>
            <a:spLocks xmlns:a="http://schemas.openxmlformats.org/drawingml/2006/main" noGrp="1"/>
          </p:cNvSpPr>
          <p:nvPr/>
        </p:nvSpPr>
        <p:spPr>
          <a:xfrm xmlns:a="http://schemas.openxmlformats.org/drawingml/2006/main">
            <a:off x="1447800" y="3105150"/>
            <a:ext cx="35242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0">
                <a:solidFill>
                  <a:srgbClr val="2C3A4D"/>
                </a:solidFill>
                <a:latin typeface="Aptos"/>
                <a:ea typeface="Aptos"/>
                <a:cs typeface="Aptos"/>
              </a:defRPr>
            </a:pPr>
            <a:r>
              <a:rPr sz="1650" b="0">
                <a:solidFill>
                  <a:srgbClr val="2C3A4D"/>
                </a:solidFill>
                <a:latin typeface="Aptos"/>
                <a:ea typeface="Aptos"/>
                <a:cs typeface="Aptos"/>
              </a:rPr>
              <a:t>Detector scope: text classifier and ClamAV file scan.</a:t>
            </a:r>
          </a:p>
        </p:txBody>
      </p:sp>
      <p:sp>
        <p:nvSpPr>
          <p:cNvPr id="14" name="">
            <a:extLst xmlns:a="http://schemas.openxmlformats.org/drawingml/2006/main">
              <a:ext uri="{FF2B5EF4-FFF2-40B4-BE49-F238E27FC236}">
                <a16:creationId xmlns:a16="http://schemas.microsoft.com/office/drawing/2014/main" id="{50CC87E6-2111-4DC9-B484-3A89195B20DB}"/>
              </a:ext>
            </a:extLst>
          </p:cNvPr>
          <p:cNvSpPr>
            <a:spLocks xmlns:a="http://schemas.openxmlformats.org/drawingml/2006/main" noGrp="1"/>
          </p:cNvSpPr>
          <p:nvPr/>
        </p:nvSpPr>
        <p:spPr>
          <a:xfrm xmlns:a="http://schemas.openxmlformats.org/drawingml/2006/main">
            <a:off x="1257300" y="3886200"/>
            <a:ext cx="76200" cy="76200"/>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1FAE2032-7A21-42E0-8D89-4369E98BF42F}"/>
              </a:ext>
            </a:extLst>
          </p:cNvPr>
          <p:cNvSpPr>
            <a:spLocks xmlns:a="http://schemas.openxmlformats.org/drawingml/2006/main" noGrp="1"/>
          </p:cNvSpPr>
          <p:nvPr/>
        </p:nvSpPr>
        <p:spPr>
          <a:xfrm xmlns:a="http://schemas.openxmlformats.org/drawingml/2006/main">
            <a:off x="1447800" y="3810000"/>
            <a:ext cx="35242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0">
                <a:solidFill>
                  <a:srgbClr val="2C3A4D"/>
                </a:solidFill>
                <a:latin typeface="Aptos"/>
                <a:ea typeface="Aptos"/>
                <a:cs typeface="Aptos"/>
              </a:defRPr>
            </a:pPr>
            <a:r>
              <a:rPr sz="1650" b="0">
                <a:solidFill>
                  <a:srgbClr val="2C3A4D"/>
                </a:solidFill>
                <a:latin typeface="Aptos"/>
                <a:ea typeface="Aptos"/>
                <a:cs typeface="Aptos"/>
              </a:rPr>
              <a:t>Policy choices: retention, quarantine, escalation, risky HTML handling.</a:t>
            </a:r>
          </a:p>
        </p:txBody>
      </p:sp>
      <p:sp>
        <p:nvSpPr>
          <p:cNvPr id="16" name="">
            <a:extLst xmlns:a="http://schemas.openxmlformats.org/drawingml/2006/main">
              <a:ext uri="{FF2B5EF4-FFF2-40B4-BE49-F238E27FC236}">
                <a16:creationId xmlns:a16="http://schemas.microsoft.com/office/drawing/2014/main" id="{73D85634-928C-49B5-8CF5-0FF7F9BEE01F}"/>
              </a:ext>
            </a:extLst>
          </p:cNvPr>
          <p:cNvSpPr>
            <a:spLocks xmlns:a="http://schemas.openxmlformats.org/drawingml/2006/main" noGrp="1"/>
          </p:cNvSpPr>
          <p:nvPr/>
        </p:nvSpPr>
        <p:spPr>
          <a:xfrm xmlns:a="http://schemas.openxmlformats.org/drawingml/2006/main">
            <a:off x="1257300" y="4591050"/>
            <a:ext cx="76200" cy="76200"/>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36C913D7-9048-4BE7-B1D0-D456A1D24FAB}"/>
              </a:ext>
            </a:extLst>
          </p:cNvPr>
          <p:cNvSpPr>
            <a:spLocks xmlns:a="http://schemas.openxmlformats.org/drawingml/2006/main" noGrp="1"/>
          </p:cNvSpPr>
          <p:nvPr/>
        </p:nvSpPr>
        <p:spPr>
          <a:xfrm xmlns:a="http://schemas.openxmlformats.org/drawingml/2006/main">
            <a:off x="1447800" y="4514850"/>
            <a:ext cx="35242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0">
                <a:solidFill>
                  <a:srgbClr val="2C3A4D"/>
                </a:solidFill>
                <a:latin typeface="Aptos"/>
                <a:ea typeface="Aptos"/>
                <a:cs typeface="Aptos"/>
              </a:defRPr>
            </a:pPr>
            <a:r>
              <a:rPr sz="1650" b="0">
                <a:solidFill>
                  <a:srgbClr val="2C3A4D"/>
                </a:solidFill>
                <a:latin typeface="Aptos"/>
                <a:ea typeface="Aptos"/>
                <a:cs typeface="Aptos"/>
              </a:rPr>
              <a:t>Lifecycle: managed identity and scanner updates.</a:t>
            </a:r>
          </a:p>
        </p:txBody>
      </p:sp>
      <p:sp>
        <p:nvSpPr>
          <p:cNvPr id="18" name="">
            <a:extLst xmlns:a="http://schemas.openxmlformats.org/drawingml/2006/main">
              <a:ext uri="{FF2B5EF4-FFF2-40B4-BE49-F238E27FC236}">
                <a16:creationId xmlns:a16="http://schemas.microsoft.com/office/drawing/2014/main" id="{4AE2A44F-BA52-4ACE-B0AD-BA2505CC435E}"/>
              </a:ext>
            </a:extLst>
          </p:cNvPr>
          <p:cNvSpPr>
            <a:spLocks xmlns:a="http://schemas.openxmlformats.org/drawingml/2006/main" noGrp="1"/>
          </p:cNvSpPr>
          <p:nvPr/>
        </p:nvSpPr>
        <p:spPr>
          <a:xfrm xmlns:a="http://schemas.openxmlformats.org/drawingml/2006/main">
            <a:off x="6896100" y="3105150"/>
            <a:ext cx="76200" cy="76200"/>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3234D999-18A6-4735-97AA-831C21B5892C}"/>
              </a:ext>
            </a:extLst>
          </p:cNvPr>
          <p:cNvSpPr>
            <a:spLocks xmlns:a="http://schemas.openxmlformats.org/drawingml/2006/main" noGrp="1"/>
          </p:cNvSpPr>
          <p:nvPr/>
        </p:nvSpPr>
        <p:spPr>
          <a:xfrm xmlns:a="http://schemas.openxmlformats.org/drawingml/2006/main">
            <a:off x="7086600" y="3028950"/>
            <a:ext cx="35242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75" b="0">
                <a:solidFill>
                  <a:srgbClr val="2C3A4D"/>
                </a:solidFill>
                <a:latin typeface="Aptos"/>
                <a:ea typeface="Aptos"/>
                <a:cs typeface="Aptos"/>
              </a:defRPr>
            </a:pPr>
            <a:r>
              <a:rPr sz="1575" b="0">
                <a:solidFill>
                  <a:srgbClr val="2C3A4D"/>
                </a:solidFill>
                <a:latin typeface="Aptos"/>
                <a:ea typeface="Aptos"/>
                <a:cs typeface="Aptos"/>
              </a:rPr>
              <a:t>Add URL/domain reputation and header-auth scoring.</a:t>
            </a:r>
          </a:p>
        </p:txBody>
      </p:sp>
      <p:sp>
        <p:nvSpPr>
          <p:cNvPr id="20" name="">
            <a:extLst xmlns:a="http://schemas.openxmlformats.org/drawingml/2006/main">
              <a:ext uri="{FF2B5EF4-FFF2-40B4-BE49-F238E27FC236}">
                <a16:creationId xmlns:a16="http://schemas.microsoft.com/office/drawing/2014/main" id="{D5CC30CD-10A5-4095-ACB1-DF16F74A466D}"/>
              </a:ext>
            </a:extLst>
          </p:cNvPr>
          <p:cNvSpPr>
            <a:spLocks xmlns:a="http://schemas.openxmlformats.org/drawingml/2006/main" noGrp="1"/>
          </p:cNvSpPr>
          <p:nvPr/>
        </p:nvSpPr>
        <p:spPr>
          <a:xfrm xmlns:a="http://schemas.openxmlformats.org/drawingml/2006/main">
            <a:off x="6896100" y="3657600"/>
            <a:ext cx="76200" cy="76200"/>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2F3172A3-7402-4463-9FAF-092697126385}"/>
              </a:ext>
            </a:extLst>
          </p:cNvPr>
          <p:cNvSpPr>
            <a:spLocks xmlns:a="http://schemas.openxmlformats.org/drawingml/2006/main" noGrp="1"/>
          </p:cNvSpPr>
          <p:nvPr/>
        </p:nvSpPr>
        <p:spPr>
          <a:xfrm xmlns:a="http://schemas.openxmlformats.org/drawingml/2006/main">
            <a:off x="7086600" y="3581400"/>
            <a:ext cx="35242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75" b="0">
                <a:solidFill>
                  <a:srgbClr val="2C3A4D"/>
                </a:solidFill>
                <a:latin typeface="Aptos"/>
                <a:ea typeface="Aptos"/>
                <a:cs typeface="Aptos"/>
              </a:defRPr>
            </a:pPr>
            <a:r>
              <a:rPr sz="1575" b="0">
                <a:solidFill>
                  <a:srgbClr val="2C3A4D"/>
                </a:solidFill>
                <a:latin typeface="Aptos"/>
                <a:ea typeface="Aptos"/>
                <a:cs typeface="Aptos"/>
              </a:rPr>
              <a:t>Move identity management to Cognito.</a:t>
            </a:r>
          </a:p>
        </p:txBody>
      </p:sp>
      <p:sp>
        <p:nvSpPr>
          <p:cNvPr id="22" name="">
            <a:extLst xmlns:a="http://schemas.openxmlformats.org/drawingml/2006/main">
              <a:ext uri="{FF2B5EF4-FFF2-40B4-BE49-F238E27FC236}">
                <a16:creationId xmlns:a16="http://schemas.microsoft.com/office/drawing/2014/main" id="{90549FC1-6CDD-49D8-B4CE-8026D9059286}"/>
              </a:ext>
            </a:extLst>
          </p:cNvPr>
          <p:cNvSpPr>
            <a:spLocks xmlns:a="http://schemas.openxmlformats.org/drawingml/2006/main" noGrp="1"/>
          </p:cNvSpPr>
          <p:nvPr/>
        </p:nvSpPr>
        <p:spPr>
          <a:xfrm xmlns:a="http://schemas.openxmlformats.org/drawingml/2006/main">
            <a:off x="6896100" y="4210050"/>
            <a:ext cx="76200" cy="76200"/>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C146BA1A-2FAD-4394-8BB2-171919227024}"/>
              </a:ext>
            </a:extLst>
          </p:cNvPr>
          <p:cNvSpPr>
            <a:spLocks xmlns:a="http://schemas.openxmlformats.org/drawingml/2006/main" noGrp="1"/>
          </p:cNvSpPr>
          <p:nvPr/>
        </p:nvSpPr>
        <p:spPr>
          <a:xfrm xmlns:a="http://schemas.openxmlformats.org/drawingml/2006/main">
            <a:off x="7086600" y="4133850"/>
            <a:ext cx="35242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75" b="0">
                <a:solidFill>
                  <a:srgbClr val="2C3A4D"/>
                </a:solidFill>
                <a:latin typeface="Aptos"/>
                <a:ea typeface="Aptos"/>
                <a:cs typeface="Aptos"/>
              </a:defRPr>
            </a:pPr>
            <a:r>
              <a:rPr sz="1575" b="0">
                <a:solidFill>
                  <a:srgbClr val="2C3A4D"/>
                </a:solidFill>
                <a:latin typeface="Aptos"/>
                <a:ea typeface="Aptos"/>
                <a:cs typeface="Aptos"/>
              </a:rPr>
              <a:t>Manage ClamAV signature updates.</a:t>
            </a:r>
          </a:p>
        </p:txBody>
      </p:sp>
      <p:sp>
        <p:nvSpPr>
          <p:cNvPr id="24" name="">
            <a:extLst xmlns:a="http://schemas.openxmlformats.org/drawingml/2006/main">
              <a:ext uri="{FF2B5EF4-FFF2-40B4-BE49-F238E27FC236}">
                <a16:creationId xmlns:a16="http://schemas.microsoft.com/office/drawing/2014/main" id="{F3D70703-B3F2-443F-A773-46E0863A0ED1}"/>
              </a:ext>
            </a:extLst>
          </p:cNvPr>
          <p:cNvSpPr>
            <a:spLocks xmlns:a="http://schemas.openxmlformats.org/drawingml/2006/main" noGrp="1"/>
          </p:cNvSpPr>
          <p:nvPr/>
        </p:nvSpPr>
        <p:spPr>
          <a:xfrm xmlns:a="http://schemas.openxmlformats.org/drawingml/2006/main">
            <a:off x="6896100" y="4762500"/>
            <a:ext cx="76200" cy="76200"/>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2D044E7D-138D-45E8-8C75-0F31DEC13279}"/>
              </a:ext>
            </a:extLst>
          </p:cNvPr>
          <p:cNvSpPr>
            <a:spLocks xmlns:a="http://schemas.openxmlformats.org/drawingml/2006/main" noGrp="1"/>
          </p:cNvSpPr>
          <p:nvPr/>
        </p:nvSpPr>
        <p:spPr>
          <a:xfrm xmlns:a="http://schemas.openxmlformats.org/drawingml/2006/main">
            <a:off x="7086600" y="4686300"/>
            <a:ext cx="35242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75" b="0">
                <a:solidFill>
                  <a:srgbClr val="2C3A4D"/>
                </a:solidFill>
                <a:latin typeface="Aptos"/>
                <a:ea typeface="Aptos"/>
                <a:cs typeface="Aptos"/>
              </a:defRPr>
            </a:pPr>
            <a:r>
              <a:rPr sz="1575" b="0">
                <a:solidFill>
                  <a:srgbClr val="2C3A4D"/>
                </a:solidFill>
                <a:latin typeface="Aptos"/>
                <a:ea typeface="Aptos"/>
                <a:cs typeface="Aptos"/>
              </a:rPr>
              <a:t>Add notes, case assignment, and exportable reports.</a:t>
            </a:r>
          </a:p>
        </p:txBody>
      </p:sp>
    </p:spTree>
    <p:extLst>
      <p:ext uri="{BB962C8B-B14F-4D97-AF65-F5344CB8AC3E}">
        <p14:creationId xmlns:p14="http://schemas.microsoft.com/office/powerpoint/2010/main" val="181279084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7597396-0D65-4820-948B-74AAFB20F21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4EE"/>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204EFEB4-84F2-4A9B-8F22-9E3A249C2B1E}"/>
              </a:ext>
            </a:extLst>
          </p:cNvPr>
          <p:cNvSpPr>
            <a:spLocks xmlns:a="http://schemas.openxmlformats.org/drawingml/2006/main" noGrp="1"/>
          </p:cNvSpPr>
          <p:nvPr/>
        </p:nvSpPr>
        <p:spPr>
          <a:xfrm xmlns:a="http://schemas.openxmlformats.org/drawingml/2006/main">
            <a:off x="876300" y="971550"/>
            <a:ext cx="7239000" cy="723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4800" b="1">
                <a:solidFill>
                  <a:srgbClr val="11243D"/>
                </a:solidFill>
                <a:latin typeface="Aptos Display"/>
                <a:ea typeface="Aptos Display"/>
                <a:cs typeface="Aptos Display"/>
              </a:defRPr>
            </a:pPr>
            <a:r>
              <a:rPr sz="4800" b="1">
                <a:solidFill>
                  <a:srgbClr val="11243D"/>
                </a:solidFill>
                <a:latin typeface="Aptos Display"/>
                <a:ea typeface="Aptos Display"/>
                <a:cs typeface="Aptos Display"/>
              </a:rPr>
              <a:t>Questions</a:t>
            </a:r>
          </a:p>
        </p:txBody>
      </p:sp>
      <p:sp>
        <p:nvSpPr>
          <p:cNvPr id="3" name="">
            <a:extLst xmlns:a="http://schemas.openxmlformats.org/drawingml/2006/main">
              <a:ext uri="{FF2B5EF4-FFF2-40B4-BE49-F238E27FC236}">
                <a16:creationId xmlns:a16="http://schemas.microsoft.com/office/drawing/2014/main" id="{D3A5CDEC-2388-48BF-88DC-92CA12D51D41}"/>
              </a:ext>
            </a:extLst>
          </p:cNvPr>
          <p:cNvSpPr>
            <a:spLocks xmlns:a="http://schemas.openxmlformats.org/drawingml/2006/main" noGrp="1"/>
          </p:cNvSpPr>
          <p:nvPr/>
        </p:nvSpPr>
        <p:spPr>
          <a:xfrm xmlns:a="http://schemas.openxmlformats.org/drawingml/2006/main">
            <a:off x="914400" y="2038350"/>
            <a:ext cx="8953500" cy="819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700" b="1">
                <a:solidFill>
                  <a:srgbClr val="11243D"/>
                </a:solidFill>
                <a:latin typeface="Aptos"/>
                <a:ea typeface="Aptos"/>
                <a:cs typeface="Aptos"/>
              </a:defRPr>
            </a:pPr>
            <a:r>
              <a:rPr sz="2700" b="1">
                <a:solidFill>
                  <a:srgbClr val="11243D"/>
                </a:solidFill>
                <a:latin typeface="Aptos"/>
                <a:ea typeface="Aptos"/>
                <a:cs typeface="Aptos"/>
              </a:rPr>
              <a:t>Cloud Email Analyzer turns inbound mail into traceable security evidence.</a:t>
            </a:r>
          </a:p>
        </p:txBody>
      </p:sp>
      <p:sp>
        <p:nvSpPr>
          <p:cNvPr id="4" name="">
            <a:extLst xmlns:a="http://schemas.openxmlformats.org/drawingml/2006/main">
              <a:ext uri="{FF2B5EF4-FFF2-40B4-BE49-F238E27FC236}">
                <a16:creationId xmlns:a16="http://schemas.microsoft.com/office/drawing/2014/main" id="{4E35A8FB-0302-4689-856A-8114D4D48A2F}"/>
              </a:ext>
            </a:extLst>
          </p:cNvPr>
          <p:cNvSpPr>
            <a:spLocks xmlns:a="http://schemas.openxmlformats.org/drawingml/2006/main" noGrp="1"/>
          </p:cNvSpPr>
          <p:nvPr/>
        </p:nvSpPr>
        <p:spPr>
          <a:xfrm xmlns:a="http://schemas.openxmlformats.org/drawingml/2006/main">
            <a:off x="1009650" y="3524250"/>
            <a:ext cx="95250" cy="95250"/>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44F047A0-74BF-4A4B-ABEF-A49E4744292D}"/>
              </a:ext>
            </a:extLst>
          </p:cNvPr>
          <p:cNvSpPr>
            <a:spLocks xmlns:a="http://schemas.openxmlformats.org/drawingml/2006/main" noGrp="1"/>
          </p:cNvSpPr>
          <p:nvPr/>
        </p:nvSpPr>
        <p:spPr>
          <a:xfrm xmlns:a="http://schemas.openxmlformats.org/drawingml/2006/main">
            <a:off x="1276350" y="3429000"/>
            <a:ext cx="72390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2025" b="0">
                <a:solidFill>
                  <a:srgbClr val="11243D"/>
                </a:solidFill>
                <a:latin typeface="Aptos"/>
                <a:ea typeface="Aptos"/>
                <a:cs typeface="Aptos"/>
              </a:defRPr>
            </a:pPr>
            <a:r>
              <a:rPr sz="2025" b="0">
                <a:solidFill>
                  <a:srgbClr val="11243D"/>
                </a:solidFill>
                <a:latin typeface="Aptos"/>
                <a:ea typeface="Aptos"/>
                <a:cs typeface="Aptos"/>
              </a:rPr>
              <a:t>AWS-oriented event boundary</a:t>
            </a:r>
          </a:p>
        </p:txBody>
      </p:sp>
      <p:sp>
        <p:nvSpPr>
          <p:cNvPr id="6" name="">
            <a:extLst xmlns:a="http://schemas.openxmlformats.org/drawingml/2006/main">
              <a:ext uri="{FF2B5EF4-FFF2-40B4-BE49-F238E27FC236}">
                <a16:creationId xmlns:a16="http://schemas.microsoft.com/office/drawing/2014/main" id="{0C3B2A8C-0765-41A7-B443-C095F68C0C96}"/>
              </a:ext>
            </a:extLst>
          </p:cNvPr>
          <p:cNvSpPr>
            <a:spLocks xmlns:a="http://schemas.openxmlformats.org/drawingml/2006/main" noGrp="1"/>
          </p:cNvSpPr>
          <p:nvPr/>
        </p:nvSpPr>
        <p:spPr>
          <a:xfrm xmlns:a="http://schemas.openxmlformats.org/drawingml/2006/main">
            <a:off x="1009650" y="4038600"/>
            <a:ext cx="95250" cy="95250"/>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7" name="">
            <a:extLst xmlns:a="http://schemas.openxmlformats.org/drawingml/2006/main">
              <a:ext uri="{FF2B5EF4-FFF2-40B4-BE49-F238E27FC236}">
                <a16:creationId xmlns:a16="http://schemas.microsoft.com/office/drawing/2014/main" id="{BC41E7BE-E732-4D08-8E85-157B9549F716}"/>
              </a:ext>
            </a:extLst>
          </p:cNvPr>
          <p:cNvSpPr>
            <a:spLocks xmlns:a="http://schemas.openxmlformats.org/drawingml/2006/main" noGrp="1"/>
          </p:cNvSpPr>
          <p:nvPr/>
        </p:nvSpPr>
        <p:spPr>
          <a:xfrm xmlns:a="http://schemas.openxmlformats.org/drawingml/2006/main">
            <a:off x="1276350" y="3943350"/>
            <a:ext cx="72390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2025" b="0">
                <a:solidFill>
                  <a:srgbClr val="11243D"/>
                </a:solidFill>
                <a:latin typeface="Aptos"/>
                <a:ea typeface="Aptos"/>
                <a:cs typeface="Aptos"/>
              </a:defRPr>
            </a:pPr>
            <a:r>
              <a:rPr sz="2025" b="0">
                <a:solidFill>
                  <a:srgbClr val="11243D"/>
                </a:solidFill>
                <a:latin typeface="Aptos"/>
                <a:ea typeface="Aptos"/>
                <a:cs typeface="Aptos"/>
              </a:rPr>
              <a:t>ML classification plus attachment scanning</a:t>
            </a:r>
          </a:p>
        </p:txBody>
      </p:sp>
      <p:sp>
        <p:nvSpPr>
          <p:cNvPr id="8" name="">
            <a:extLst xmlns:a="http://schemas.openxmlformats.org/drawingml/2006/main">
              <a:ext uri="{FF2B5EF4-FFF2-40B4-BE49-F238E27FC236}">
                <a16:creationId xmlns:a16="http://schemas.microsoft.com/office/drawing/2014/main" id="{6D453484-0ED7-40C0-ABA8-0D3A31D158FA}"/>
              </a:ext>
            </a:extLst>
          </p:cNvPr>
          <p:cNvSpPr>
            <a:spLocks xmlns:a="http://schemas.openxmlformats.org/drawingml/2006/main" noGrp="1"/>
          </p:cNvSpPr>
          <p:nvPr/>
        </p:nvSpPr>
        <p:spPr>
          <a:xfrm xmlns:a="http://schemas.openxmlformats.org/drawingml/2006/main">
            <a:off x="1009650" y="4552950"/>
            <a:ext cx="95250" cy="95250"/>
          </a:xfrm>
          <a:prstGeom xmlns:a="http://schemas.openxmlformats.org/drawingml/2006/main" prst="rect">
            <a:avLst/>
          </a:prstGeom>
          <a:solidFill xmlns:a="http://schemas.openxmlformats.org/drawingml/2006/main">
            <a:srgbClr val="0B5CAD"/>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C3FFD246-E99F-46DF-9F67-70ED3264391F}"/>
              </a:ext>
            </a:extLst>
          </p:cNvPr>
          <p:cNvSpPr>
            <a:spLocks xmlns:a="http://schemas.openxmlformats.org/drawingml/2006/main" noGrp="1"/>
          </p:cNvSpPr>
          <p:nvPr/>
        </p:nvSpPr>
        <p:spPr>
          <a:xfrm xmlns:a="http://schemas.openxmlformats.org/drawingml/2006/main">
            <a:off x="1276350" y="4457700"/>
            <a:ext cx="72390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2025" b="0">
                <a:solidFill>
                  <a:srgbClr val="11243D"/>
                </a:solidFill>
                <a:latin typeface="Aptos"/>
                <a:ea typeface="Aptos"/>
                <a:cs typeface="Aptos"/>
              </a:defRPr>
            </a:pPr>
            <a:r>
              <a:rPr sz="2025" b="0">
                <a:solidFill>
                  <a:srgbClr val="11243D"/>
                </a:solidFill>
                <a:latin typeface="Aptos"/>
                <a:ea typeface="Aptos"/>
                <a:cs typeface="Aptos"/>
              </a:rPr>
              <a:t>Authenticated user/admin review with audit records</a:t>
            </a:r>
          </a:p>
        </p:txBody>
      </p:sp>
      <p:sp>
        <p:nvSpPr>
          <p:cNvPr id="10" name="">
            <a:extLst xmlns:a="http://schemas.openxmlformats.org/drawingml/2006/main">
              <a:ext uri="{FF2B5EF4-FFF2-40B4-BE49-F238E27FC236}">
                <a16:creationId xmlns:a16="http://schemas.microsoft.com/office/drawing/2014/main" id="{522ACEB4-718B-438A-B1AF-E1508960F4D5}"/>
              </a:ext>
            </a:extLst>
          </p:cNvPr>
          <p:cNvSpPr>
            <a:spLocks xmlns:a="http://schemas.openxmlformats.org/drawingml/2006/main" noGrp="1"/>
          </p:cNvSpPr>
          <p:nvPr/>
        </p:nvSpPr>
        <p:spPr>
          <a:xfrm xmlns:a="http://schemas.openxmlformats.org/drawingml/2006/main">
            <a:off x="914400" y="5257800"/>
            <a:ext cx="60960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800" b="0">
                <a:solidFill>
                  <a:srgbClr val="2C3A4D"/>
                </a:solidFill>
                <a:latin typeface="Aptos"/>
                <a:ea typeface="Aptos"/>
                <a:cs typeface="Aptos"/>
              </a:defRPr>
            </a:pPr>
            <a:r>
              <a:rPr sz="1800" b="0">
                <a:solidFill>
                  <a:srgbClr val="2C3A4D"/>
                </a:solidFill>
                <a:latin typeface="Aptos"/>
                <a:ea typeface="Aptos"/>
                <a:cs typeface="Aptos"/>
              </a:rPr>
              <a:t>TODO: contact / repository link</a:t>
            </a:r>
          </a:p>
        </p:txBody>
      </p:sp>
      <p:sp>
        <p:nvSpPr>
          <p:cNvPr id="11" name="">
            <a:extLst xmlns:a="http://schemas.openxmlformats.org/drawingml/2006/main">
              <a:ext uri="{FF2B5EF4-FFF2-40B4-BE49-F238E27FC236}">
                <a16:creationId xmlns:a16="http://schemas.microsoft.com/office/drawing/2014/main" id="{B434EDA5-E19B-4D4A-AB91-4A39C96B0460}"/>
              </a:ext>
            </a:extLst>
          </p:cNvPr>
          <p:cNvSpPr>
            <a:spLocks xmlns:a="http://schemas.openxmlformats.org/drawingml/2006/main" noGrp="1"/>
          </p:cNvSpPr>
          <p:nvPr/>
        </p:nvSpPr>
        <p:spPr>
          <a:xfrm xmlns:a="http://schemas.openxmlformats.org/drawingml/2006/main">
            <a:off x="609600" y="6400800"/>
            <a:ext cx="9810750" cy="9525"/>
          </a:xfrm>
          <a:prstGeom xmlns:a="http://schemas.openxmlformats.org/drawingml/2006/main" prst="rect">
            <a:avLst/>
          </a:prstGeom>
          <a:solidFill xmlns:a="http://schemas.openxmlformats.org/drawingml/2006/main">
            <a:srgbClr val="C7D2E1"/>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E4489514-6979-4281-9133-ECD02C85A31C}"/>
              </a:ext>
            </a:extLst>
          </p:cNvPr>
          <p:cNvSpPr>
            <a:spLocks xmlns:a="http://schemas.openxmlformats.org/drawingml/2006/main" noGrp="1"/>
          </p:cNvSpPr>
          <p:nvPr/>
        </p:nvSpPr>
        <p:spPr>
          <a:xfrm xmlns:a="http://schemas.openxmlformats.org/drawingml/2006/main">
            <a:off x="609600" y="6457950"/>
            <a:ext cx="3429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2C3A4D"/>
                </a:solidFill>
                <a:latin typeface="Aptos"/>
                <a:ea typeface="Aptos"/>
                <a:cs typeface="Aptos"/>
              </a:defRPr>
            </a:pPr>
            <a:r>
              <a:rPr sz="1050" b="0">
                <a:solidFill>
                  <a:srgbClr val="2C3A4D"/>
                </a:solidFill>
                <a:latin typeface="Aptos"/>
                <a:ea typeface="Aptos"/>
                <a:cs typeface="Aptos"/>
              </a:rPr>
              <a:t>Cloud Email Analyzer</a:t>
            </a:r>
          </a:p>
        </p:txBody>
      </p:sp>
      <p:sp>
        <p:nvSpPr>
          <p:cNvPr id="13" name="">
            <a:extLst xmlns:a="http://schemas.openxmlformats.org/drawingml/2006/main">
              <a:ext uri="{FF2B5EF4-FFF2-40B4-BE49-F238E27FC236}">
                <a16:creationId xmlns:a16="http://schemas.microsoft.com/office/drawing/2014/main" id="{FF017C95-5491-4B03-BA39-2A9CA282C3A8}"/>
              </a:ext>
            </a:extLst>
          </p:cNvPr>
          <p:cNvSpPr>
            <a:spLocks xmlns:a="http://schemas.openxmlformats.org/drawingml/2006/main" noGrp="1"/>
          </p:cNvSpPr>
          <p:nvPr/>
        </p:nvSpPr>
        <p:spPr>
          <a:xfrm xmlns:a="http://schemas.openxmlformats.org/drawingml/2006/main">
            <a:off x="11001375" y="6438900"/>
            <a:ext cx="571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1050" b="0">
                <a:solidFill>
                  <a:srgbClr val="2C3A4D"/>
                </a:solidFill>
                <a:latin typeface="Aptos"/>
                <a:ea typeface="Aptos"/>
                <a:cs typeface="Aptos"/>
              </a:defRPr>
            </a:pPr>
            <a:r>
              <a:rPr sz="1050" b="0">
                <a:solidFill>
                  <a:srgbClr val="2C3A4D"/>
                </a:solidFill>
                <a:latin typeface="Aptos"/>
                <a:ea typeface="Aptos"/>
                <a:cs typeface="Aptos"/>
              </a:rPr>
              <a:t>11</a:t>
            </a:r>
          </a:p>
        </p:txBody>
      </p:sp>
    </p:spTree>
    <p:extLst>
      <p:ext uri="{BB962C8B-B14F-4D97-AF65-F5344CB8AC3E}">
        <p14:creationId xmlns:p14="http://schemas.microsoft.com/office/powerpoint/2010/main" val="44493954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2026-05-09T19:36:49.0940000Z</dcterms:created>
  <dcterms:modified xsi:type="dcterms:W3CDTF">2026-05-09T19:36:49.0940000Z</dcterms:modified>
</coreProperties>
</file>